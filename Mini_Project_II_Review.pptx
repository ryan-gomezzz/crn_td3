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8" roundtripDataSignature="AMtx7mjTR4fdBo9DZxXVzKAqAJFQPsaM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customschemas.google.com/relationships/presentationmetadata" Target="metadata"/><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2"/>
          <p:cNvSpPr/>
          <p:nvPr>
            <p:ph idx="2" type="pic"/>
          </p:nvPr>
        </p:nvSpPr>
        <p:spPr>
          <a:xfrm>
            <a:off x="1792288" y="612775"/>
            <a:ext cx="5486400" cy="4114800"/>
          </a:xfrm>
          <a:prstGeom prst="rect">
            <a:avLst/>
          </a:prstGeom>
          <a:noFill/>
          <a:ln>
            <a:noFill/>
          </a:ln>
        </p:spPr>
      </p:sp>
      <p:sp>
        <p:nvSpPr>
          <p:cNvPr id="64" name="Google Shape;64;p1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 result for ramaiah logo" id="85" name="Google Shape;85;p1"/>
          <p:cNvPicPr preferRelativeResize="0"/>
          <p:nvPr/>
        </p:nvPicPr>
        <p:blipFill rotWithShape="1">
          <a:blip r:embed="rId3">
            <a:alphaModFix/>
          </a:blip>
          <a:srcRect b="0" l="0" r="0" t="0"/>
          <a:stretch/>
        </p:blipFill>
        <p:spPr>
          <a:xfrm>
            <a:off x="304800" y="304800"/>
            <a:ext cx="3651063" cy="1338926"/>
          </a:xfrm>
          <a:prstGeom prst="rect">
            <a:avLst/>
          </a:prstGeom>
          <a:noFill/>
          <a:ln>
            <a:noFill/>
          </a:ln>
        </p:spPr>
      </p:pic>
      <p:sp>
        <p:nvSpPr>
          <p:cNvPr id="86" name="Google Shape;86;p1"/>
          <p:cNvSpPr/>
          <p:nvPr/>
        </p:nvSpPr>
        <p:spPr>
          <a:xfrm>
            <a:off x="762000" y="1600200"/>
            <a:ext cx="8077200"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RAMAIAH INSTITUTE OF TECHNOLOGY, Bangalore </a:t>
            </a:r>
            <a:br>
              <a:rPr b="1" i="0" lang="en-US" sz="1800" u="none" cap="none" strike="noStrike">
                <a:solidFill>
                  <a:schemeClr val="dk1"/>
                </a:solidFill>
                <a:latin typeface="Times New Roman"/>
                <a:ea typeface="Times New Roman"/>
                <a:cs typeface="Times New Roman"/>
                <a:sym typeface="Times New Roman"/>
              </a:rPr>
            </a:br>
            <a:r>
              <a:rPr b="1" i="0" lang="en-US" sz="1800" u="none" cap="none" strike="noStrike">
                <a:solidFill>
                  <a:schemeClr val="dk1"/>
                </a:solidFill>
                <a:latin typeface="Times New Roman"/>
                <a:ea typeface="Times New Roman"/>
                <a:cs typeface="Times New Roman"/>
                <a:sym typeface="Times New Roman"/>
              </a:rPr>
              <a:t> (Autonomous Institute Affiliated To VTU) </a:t>
            </a:r>
            <a:endParaRPr/>
          </a:p>
          <a:p>
            <a:pPr indent="0" lvl="0" marL="0" marR="0" rtl="0" algn="ctr">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Dept. of Electronics and Communication Engineering </a:t>
            </a:r>
            <a:endParaRPr b="1" i="0" sz="1800" u="none" cap="none" strike="noStrike">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b="1" lang="en-US" sz="1800">
                <a:solidFill>
                  <a:schemeClr val="dk1"/>
                </a:solidFill>
                <a:latin typeface="Times New Roman"/>
                <a:ea typeface="Times New Roman"/>
                <a:cs typeface="Times New Roman"/>
                <a:sym typeface="Times New Roman"/>
              </a:rPr>
              <a:t>Course code - Mini Project</a:t>
            </a:r>
            <a:endParaRPr b="1" sz="1800">
              <a:solidFill>
                <a:schemeClr val="dk1"/>
              </a:solidFill>
              <a:latin typeface="Times New Roman"/>
              <a:ea typeface="Times New Roman"/>
              <a:cs typeface="Times New Roman"/>
              <a:sym typeface="Times New Roman"/>
            </a:endParaRPr>
          </a:p>
        </p:txBody>
      </p:sp>
      <p:sp>
        <p:nvSpPr>
          <p:cNvPr id="87" name="TextBox 86"/>
          <p:cNvSpPr txBox="1"/>
          <p:nvPr/>
        </p:nvSpPr>
        <p:spPr>
          <a:xfrm>
            <a:off x="457200" y="2697480"/>
            <a:ext cx="8229600" cy="914400"/>
          </a:xfrm>
          <a:prstGeom prst="rect">
            <a:avLst/>
          </a:prstGeom>
          <a:noFill/>
        </p:spPr>
        <p:txBody>
          <a:bodyPr wrap="square" lIns="0" rIns="0" tIns="0" bIns="0">
            <a:spAutoFit/>
          </a:bodyPr>
          <a:lstStyle/>
          <a:p>
            <a:pPr algn="ctr"/>
            <a:r>
              <a:rPr sz="2200" b="1">
                <a:solidFill>
                  <a:srgbClr val="1A365D"/>
                </a:solidFill>
                <a:latin typeface="Times New Roman"/>
              </a:rPr>
              <a:t>Power Allocation in Cognitive Radio Networks
using Deep Reinforcement Learning</a:t>
            </a:r>
          </a:p>
        </p:txBody>
      </p:sp>
      <p:sp>
        <p:nvSpPr>
          <p:cNvPr id="88" name="TextBox 87"/>
          <p:cNvSpPr txBox="1"/>
          <p:nvPr/>
        </p:nvSpPr>
        <p:spPr>
          <a:xfrm>
            <a:off x="457200" y="3611880"/>
            <a:ext cx="8229600" cy="365760"/>
          </a:xfrm>
          <a:prstGeom prst="rect">
            <a:avLst/>
          </a:prstGeom>
          <a:noFill/>
        </p:spPr>
        <p:txBody>
          <a:bodyPr wrap="none" tIns="0" bIns="0">
            <a:spAutoFit/>
          </a:bodyPr>
          <a:lstStyle/>
          <a:p>
            <a:pPr algn="ctr"/>
            <a:r>
              <a:rPr sz="1500" i="1">
                <a:solidFill>
                  <a:srgbClr val="2C5F8D"/>
                </a:solidFill>
                <a:latin typeface="Times New Roman"/>
              </a:rPr>
              <a:t>A Learning-Based Approach to Adaptive Decision-Making</a:t>
            </a:r>
          </a:p>
        </p:txBody>
      </p:sp>
      <p:sp>
        <p:nvSpPr>
          <p:cNvPr id="89" name="TextBox 88"/>
          <p:cNvSpPr txBox="1"/>
          <p:nvPr/>
        </p:nvSpPr>
        <p:spPr>
          <a:xfrm>
            <a:off x="457200" y="4160520"/>
            <a:ext cx="3657600" cy="1371600"/>
          </a:xfrm>
          <a:prstGeom prst="rect">
            <a:avLst/>
          </a:prstGeom>
          <a:noFill/>
        </p:spPr>
        <p:txBody>
          <a:bodyPr wrap="none" lIns="0" rIns="0" tIns="0" bIns="0">
            <a:spAutoFit/>
          </a:bodyPr>
          <a:lstStyle/>
          <a:p>
            <a:pPr algn="l"/>
            <a:r>
              <a:rPr sz="1600" b="1">
                <a:solidFill>
                  <a:srgbClr val="1A365D"/>
                </a:solidFill>
                <a:latin typeface="Times New Roman"/>
              </a:rPr>
              <a:t>Guide</a:t>
            </a:r>
          </a:p>
          <a:p>
            <a:pPr algn="l"/>
            <a:r>
              <a:rPr sz="1500" b="1">
                <a:solidFill>
                  <a:srgbClr val="333333"/>
                </a:solidFill>
                <a:latin typeface="Times New Roman"/>
              </a:rPr>
              <a:t>Dr. CHITRA M</a:t>
            </a:r>
          </a:p>
          <a:p>
            <a:pPr algn="l"/>
            <a:r>
              <a:rPr sz="1400">
                <a:solidFill>
                  <a:srgbClr val="333333"/>
                </a:solidFill>
                <a:latin typeface="Times New Roman"/>
              </a:rPr>
              <a:t>Assistant Professor</a:t>
            </a:r>
          </a:p>
        </p:txBody>
      </p:sp>
      <p:sp>
        <p:nvSpPr>
          <p:cNvPr id="90" name="TextBox 89"/>
          <p:cNvSpPr txBox="1"/>
          <p:nvPr/>
        </p:nvSpPr>
        <p:spPr>
          <a:xfrm>
            <a:off x="4297680" y="4160520"/>
            <a:ext cx="4572000" cy="1828800"/>
          </a:xfrm>
          <a:prstGeom prst="rect">
            <a:avLst/>
          </a:prstGeom>
          <a:noFill/>
        </p:spPr>
        <p:txBody>
          <a:bodyPr wrap="none" lIns="0" rIns="0" tIns="0" bIns="0">
            <a:spAutoFit/>
          </a:bodyPr>
          <a:lstStyle/>
          <a:p>
            <a:pPr algn="l"/>
            <a:r>
              <a:rPr sz="1600" b="1">
                <a:solidFill>
                  <a:srgbClr val="1A365D"/>
                </a:solidFill>
                <a:latin typeface="Times New Roman"/>
              </a:rPr>
              <a:t>Team Members</a:t>
            </a:r>
          </a:p>
          <a:p>
            <a:pPr algn="l"/>
            <a:r>
              <a:rPr sz="1400">
                <a:solidFill>
                  <a:srgbClr val="333333"/>
                </a:solidFill>
                <a:latin typeface="Times New Roman"/>
              </a:rPr>
              <a:t>ADITYA GANGWANI       </a:t>
            </a:r>
            <a:r>
              <a:rPr sz="1400" b="1">
                <a:solidFill>
                  <a:srgbClr val="1A365D"/>
                </a:solidFill>
                <a:latin typeface="Times New Roman"/>
              </a:rPr>
              <a:t>1MS23EC007</a:t>
            </a:r>
          </a:p>
          <a:p>
            <a:pPr algn="l"/>
            <a:r>
              <a:rPr sz="1400">
                <a:solidFill>
                  <a:srgbClr val="333333"/>
                </a:solidFill>
                <a:latin typeface="Times New Roman"/>
              </a:rPr>
              <a:t>RYAN GOMEZ            </a:t>
            </a:r>
            <a:r>
              <a:rPr sz="1400" b="1">
                <a:solidFill>
                  <a:srgbClr val="1A365D"/>
                </a:solidFill>
                <a:latin typeface="Times New Roman"/>
              </a:rPr>
              <a:t>1MS23EC109</a:t>
            </a:r>
          </a:p>
          <a:p>
            <a:pPr algn="l"/>
            <a:r>
              <a:rPr sz="1400">
                <a:solidFill>
                  <a:srgbClr val="333333"/>
                </a:solidFill>
                <a:latin typeface="Times New Roman"/>
              </a:rPr>
              <a:t>SHREYA REVANAKAR      </a:t>
            </a:r>
            <a:r>
              <a:rPr sz="1400" b="1">
                <a:solidFill>
                  <a:srgbClr val="1A365D"/>
                </a:solidFill>
                <a:latin typeface="Times New Roman"/>
              </a:rPr>
              <a:t>1MS23EC123</a:t>
            </a:r>
          </a:p>
          <a:p>
            <a:pPr algn="l"/>
            <a:r>
              <a:rPr sz="1400">
                <a:solidFill>
                  <a:srgbClr val="333333"/>
                </a:solidFill>
                <a:latin typeface="Times New Roman"/>
              </a:rPr>
              <a:t>SNEHA TAPADAR         </a:t>
            </a:r>
            <a:r>
              <a:rPr sz="1400" b="1">
                <a:solidFill>
                  <a:srgbClr val="1A365D"/>
                </a:solidFill>
                <a:latin typeface="Times New Roman"/>
              </a:rPr>
              <a:t>1MS23EC155</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body"/>
          </p:nvPr>
        </p:nvSpPr>
        <p:spPr>
          <a:xfrm>
            <a:off x="685800" y="762000"/>
            <a:ext cx="7718380" cy="495953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400"/>
              <a:buNone/>
            </a:pPr>
            <a:r>
              <a:rPr b="1" lang="en-US" sz="4400">
                <a:solidFill>
                  <a:schemeClr val="dk1"/>
                </a:solidFill>
                <a:latin typeface="Times New Roman"/>
                <a:ea typeface="Times New Roman"/>
                <a:cs typeface="Times New Roman"/>
                <a:sym typeface="Times New Roman"/>
              </a:rPr>
              <a:t>Table of Contents</a:t>
            </a:r>
            <a:endParaRPr/>
          </a:p>
          <a:p>
            <a:pPr indent="-190500" lvl="0" marL="342900" rtl="0" algn="l">
              <a:spcBef>
                <a:spcPts val="480"/>
              </a:spcBef>
              <a:spcAft>
                <a:spcPts val="0"/>
              </a:spcAft>
              <a:buClr>
                <a:schemeClr val="dk1"/>
              </a:buClr>
              <a:buSzPts val="2400"/>
              <a:buFont typeface="Calibri"/>
              <a:buNone/>
            </a:pPr>
            <a:r>
              <a:t/>
            </a:r>
            <a:endParaRPr sz="2400">
              <a:solidFill>
                <a:schemeClr val="dk1"/>
              </a:solidFill>
              <a:latin typeface="Times New Roman"/>
              <a:ea typeface="Times New Roman"/>
              <a:cs typeface="Times New Roman"/>
              <a:sym typeface="Times New Roman"/>
            </a:endParaRPr>
          </a:p>
          <a:p>
            <a:pPr indent="-342900" lvl="0" marL="342900" rtl="0" algn="l">
              <a:spcBef>
                <a:spcPts val="480"/>
              </a:spcBef>
              <a:spcAft>
                <a:spcPts val="0"/>
              </a:spcAft>
              <a:buClr>
                <a:schemeClr val="dk1"/>
              </a:buClr>
              <a:buSzPts val="2400"/>
              <a:buFont typeface="Calibri"/>
              <a:buAutoNum type="arabicPeriod"/>
            </a:pPr>
            <a:r>
              <a:rPr lang="en-US" sz="2400">
                <a:solidFill>
                  <a:schemeClr val="dk1"/>
                </a:solidFill>
                <a:latin typeface="Times New Roman"/>
                <a:ea typeface="Times New Roman"/>
                <a:cs typeface="Times New Roman"/>
                <a:sym typeface="Times New Roman"/>
              </a:rPr>
              <a:t>Introduction</a:t>
            </a:r>
            <a:endParaRPr/>
          </a:p>
          <a:p>
            <a:pPr indent="-342900" lvl="0" marL="342900" rtl="0" algn="l">
              <a:spcBef>
                <a:spcPts val="480"/>
              </a:spcBef>
              <a:spcAft>
                <a:spcPts val="0"/>
              </a:spcAft>
              <a:buClr>
                <a:schemeClr val="dk1"/>
              </a:buClr>
              <a:buSzPts val="2400"/>
              <a:buFont typeface="Calibri"/>
              <a:buAutoNum type="arabicPeriod"/>
            </a:pPr>
            <a:r>
              <a:rPr lang="en-US" sz="2400">
                <a:solidFill>
                  <a:schemeClr val="dk1"/>
                </a:solidFill>
                <a:latin typeface="Times New Roman"/>
                <a:ea typeface="Times New Roman"/>
                <a:cs typeface="Times New Roman"/>
                <a:sym typeface="Times New Roman"/>
              </a:rPr>
              <a:t>Problem Statement</a:t>
            </a:r>
            <a:endParaRPr/>
          </a:p>
          <a:p>
            <a:pPr indent="-342900" lvl="0" marL="342900" rtl="0" algn="l">
              <a:spcBef>
                <a:spcPts val="480"/>
              </a:spcBef>
              <a:spcAft>
                <a:spcPts val="0"/>
              </a:spcAft>
              <a:buClr>
                <a:schemeClr val="dk1"/>
              </a:buClr>
              <a:buSzPts val="2400"/>
              <a:buFont typeface="Calibri"/>
              <a:buAutoNum type="arabicPeriod"/>
            </a:pPr>
            <a:r>
              <a:rPr lang="en-US" sz="2400">
                <a:solidFill>
                  <a:schemeClr val="dk1"/>
                </a:solidFill>
                <a:latin typeface="Times New Roman"/>
                <a:ea typeface="Times New Roman"/>
                <a:cs typeface="Times New Roman"/>
                <a:sym typeface="Times New Roman"/>
              </a:rPr>
              <a:t>Proposed design/Circuit/Algorithm</a:t>
            </a:r>
            <a:endParaRPr/>
          </a:p>
          <a:p>
            <a:pPr indent="-342900" lvl="0" marL="342900" rtl="0" algn="l">
              <a:spcBef>
                <a:spcPts val="480"/>
              </a:spcBef>
              <a:spcAft>
                <a:spcPts val="0"/>
              </a:spcAft>
              <a:buClr>
                <a:schemeClr val="dk1"/>
              </a:buClr>
              <a:buSzPts val="2400"/>
              <a:buFont typeface="Calibri"/>
              <a:buAutoNum type="arabicPeriod"/>
            </a:pPr>
            <a:r>
              <a:rPr lang="en-US" sz="2400">
                <a:solidFill>
                  <a:schemeClr val="dk1"/>
                </a:solidFill>
                <a:latin typeface="Times New Roman"/>
                <a:ea typeface="Times New Roman"/>
                <a:cs typeface="Times New Roman"/>
                <a:sym typeface="Times New Roman"/>
              </a:rPr>
              <a:t>Implementation/Methodology</a:t>
            </a:r>
            <a:endParaRPr/>
          </a:p>
          <a:p>
            <a:pPr indent="-342900" lvl="0" marL="342900" rtl="0" algn="l">
              <a:spcBef>
                <a:spcPts val="480"/>
              </a:spcBef>
              <a:spcAft>
                <a:spcPts val="0"/>
              </a:spcAft>
              <a:buClr>
                <a:schemeClr val="dk1"/>
              </a:buClr>
              <a:buSzPts val="2400"/>
              <a:buFont typeface="Calibri"/>
              <a:buAutoNum type="arabicPeriod"/>
            </a:pPr>
            <a:r>
              <a:rPr lang="en-US" sz="2400">
                <a:solidFill>
                  <a:schemeClr val="dk1"/>
                </a:solidFill>
                <a:latin typeface="Times New Roman"/>
                <a:ea typeface="Times New Roman"/>
                <a:cs typeface="Times New Roman"/>
                <a:sym typeface="Times New Roman"/>
              </a:rPr>
              <a:t>Results and Discussion</a:t>
            </a:r>
            <a:endParaRPr/>
          </a:p>
          <a:p>
            <a:pPr indent="-342900" lvl="0" marL="342900" rtl="0" algn="l">
              <a:spcBef>
                <a:spcPts val="480"/>
              </a:spcBef>
              <a:spcAft>
                <a:spcPts val="0"/>
              </a:spcAft>
              <a:buClr>
                <a:schemeClr val="dk1"/>
              </a:buClr>
              <a:buSzPts val="2400"/>
              <a:buFont typeface="Calibri"/>
              <a:buAutoNum type="arabicPeriod"/>
            </a:pPr>
            <a:r>
              <a:rPr lang="en-US" sz="2400">
                <a:latin typeface="Times New Roman"/>
                <a:ea typeface="Times New Roman"/>
                <a:cs typeface="Times New Roman"/>
                <a:sym typeface="Times New Roman"/>
              </a:rPr>
              <a:t>Conclusion and Future Work</a:t>
            </a:r>
            <a:endParaRPr sz="2400">
              <a:solidFill>
                <a:schemeClr val="dk1"/>
              </a:solidFill>
              <a:latin typeface="Times New Roman"/>
              <a:ea typeface="Times New Roman"/>
              <a:cs typeface="Times New Roman"/>
              <a:sym typeface="Times New Roman"/>
            </a:endParaRPr>
          </a:p>
          <a:p>
            <a:pPr indent="-342900" lvl="0" marL="342900" rtl="0" algn="l">
              <a:spcBef>
                <a:spcPts val="480"/>
              </a:spcBef>
              <a:spcAft>
                <a:spcPts val="0"/>
              </a:spcAft>
              <a:buClr>
                <a:schemeClr val="dk1"/>
              </a:buClr>
              <a:buSzPts val="2400"/>
              <a:buFont typeface="Calibri"/>
              <a:buAutoNum type="arabicPeriod"/>
            </a:pPr>
            <a:r>
              <a:rPr lang="en-US" sz="2400">
                <a:solidFill>
                  <a:schemeClr val="dk1"/>
                </a:solidFill>
                <a:latin typeface="Times New Roman"/>
                <a:ea typeface="Times New Roman"/>
                <a:cs typeface="Times New Roman"/>
                <a:sym typeface="Times New Roman"/>
              </a:rPr>
              <a:t>References</a:t>
            </a:r>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Introduction — Cognitive Radio Networks</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15544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What is a Cognitive Radio Network?</a:t>
            </a:r>
          </a:p>
          <a:p>
            <a:pPr>
              <a:lnSpc>
                <a:spcPct val="115000"/>
              </a:lnSpc>
              <a:spcAft>
                <a:spcPts val="200"/>
              </a:spcAft>
            </a:pPr>
            <a:r>
              <a:rPr sz="1300">
                <a:solidFill>
                  <a:srgbClr val="333333"/>
                </a:solidFill>
                <a:latin typeface="Calibri"/>
              </a:rPr>
              <a:t>A Cognitive Radio Network (CRN) is an intelligent wireless system in which unlicensed Secondary Users (SU) opportunistically access licensed spectrum bands originally allocated to licensed Primary Users (PU), without causing harmful interference. CRNs address the spectrum-scarcity problem caused by static allocation, where licensed bands sit under-utilised 15–85 % of the time (FCC 2002).</a:t>
            </a:r>
          </a:p>
        </p:txBody>
      </p:sp>
      <p:sp>
        <p:nvSpPr>
          <p:cNvPr id="5" name="Rounded Rectangle 4"/>
          <p:cNvSpPr/>
          <p:nvPr/>
        </p:nvSpPr>
        <p:spPr>
          <a:xfrm>
            <a:off x="457200" y="2834640"/>
            <a:ext cx="2697480" cy="3200400"/>
          </a:xfrm>
          <a:prstGeom prst="roundRect">
            <a:avLst/>
          </a:prstGeom>
          <a:solidFill>
            <a:srgbClr val="F5F7FA"/>
          </a:solidFill>
          <a:ln w="19050">
            <a:solidFill>
              <a:srgbClr val="1A365D"/>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wrap="square"/>
          <a:lstStyle/>
          <a:p>
            <a:pPr algn="ctr"/>
            <a:r>
              <a:rPr sz="1600" b="1">
                <a:solidFill>
                  <a:srgbClr val="1A365D"/>
                </a:solidFill>
                <a:latin typeface="Calibri"/>
              </a:rPr>
              <a:t>UNDERLAY</a:t>
            </a:r>
          </a:p>
          <a:p>
            <a:pPr>
              <a:lnSpc>
                <a:spcPct val="115000"/>
              </a:lnSpc>
              <a:spcAft>
                <a:spcPts val="300"/>
              </a:spcAft>
            </a:pPr>
            <a:r>
              <a:rPr sz="1100">
                <a:solidFill>
                  <a:srgbClr val="333333"/>
                </a:solidFill>
                <a:latin typeface="Calibri"/>
              </a:rPr>
              <a:t>• SU transmits with PU simultaneously; keeps interference below a threshold.</a:t>
            </a:r>
          </a:p>
          <a:p>
            <a:pPr>
              <a:lnSpc>
                <a:spcPct val="115000"/>
              </a:lnSpc>
              <a:spcAft>
                <a:spcPts val="300"/>
              </a:spcAft>
            </a:pPr>
            <a:r>
              <a:rPr sz="1100">
                <a:solidFill>
                  <a:srgbClr val="333333"/>
                </a:solidFill>
                <a:latin typeface="Calibri"/>
              </a:rPr>
              <a:t>• Needs accurate CSI and continuous power control.</a:t>
            </a:r>
          </a:p>
          <a:p>
            <a:pPr>
              <a:lnSpc>
                <a:spcPct val="115000"/>
              </a:lnSpc>
              <a:spcAft>
                <a:spcPts val="300"/>
              </a:spcAft>
            </a:pPr>
            <a:r>
              <a:rPr sz="1100">
                <a:solidFill>
                  <a:srgbClr val="333333"/>
                </a:solidFill>
                <a:latin typeface="Calibri"/>
              </a:rPr>
              <a:t>• Used in this project — SU adapts P_s to keep SINR_p ≥ γ_th.</a:t>
            </a:r>
          </a:p>
        </p:txBody>
      </p:sp>
      <p:sp>
        <p:nvSpPr>
          <p:cNvPr id="6" name="Rounded Rectangle 5"/>
          <p:cNvSpPr/>
          <p:nvPr/>
        </p:nvSpPr>
        <p:spPr>
          <a:xfrm>
            <a:off x="3337560" y="2834640"/>
            <a:ext cx="2697480" cy="3200400"/>
          </a:xfrm>
          <a:prstGeom prst="roundRect">
            <a:avLst/>
          </a:prstGeom>
          <a:solidFill>
            <a:srgbClr val="F5F7FA"/>
          </a:solidFill>
          <a:ln w="19050">
            <a:solidFill>
              <a:srgbClr val="2C5F8D"/>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wrap="square"/>
          <a:lstStyle/>
          <a:p>
            <a:pPr algn="ctr"/>
            <a:r>
              <a:rPr sz="1600" b="1">
                <a:solidFill>
                  <a:srgbClr val="2C5F8D"/>
                </a:solidFill>
                <a:latin typeface="Calibri"/>
              </a:rPr>
              <a:t>OVERLAY</a:t>
            </a:r>
          </a:p>
          <a:p>
            <a:pPr>
              <a:lnSpc>
                <a:spcPct val="115000"/>
              </a:lnSpc>
              <a:spcAft>
                <a:spcPts val="300"/>
              </a:spcAft>
            </a:pPr>
            <a:r>
              <a:rPr sz="1100">
                <a:solidFill>
                  <a:srgbClr val="333333"/>
                </a:solidFill>
                <a:latin typeface="Calibri"/>
              </a:rPr>
              <a:t>• SU has prior knowledge of PU codebook; splits power between own data and relaying.</a:t>
            </a:r>
          </a:p>
          <a:p>
            <a:pPr>
              <a:lnSpc>
                <a:spcPct val="115000"/>
              </a:lnSpc>
              <a:spcAft>
                <a:spcPts val="300"/>
              </a:spcAft>
            </a:pPr>
            <a:r>
              <a:rPr sz="1100">
                <a:solidFill>
                  <a:srgbClr val="333333"/>
                </a:solidFill>
                <a:latin typeface="Calibri"/>
              </a:rPr>
              <a:t>• Maintains or improves PU performance while gaining SU rate.</a:t>
            </a:r>
          </a:p>
          <a:p>
            <a:pPr>
              <a:lnSpc>
                <a:spcPct val="115000"/>
              </a:lnSpc>
              <a:spcAft>
                <a:spcPts val="300"/>
              </a:spcAft>
            </a:pPr>
            <a:r>
              <a:rPr sz="1100">
                <a:solidFill>
                  <a:srgbClr val="333333"/>
                </a:solidFill>
                <a:latin typeface="Calibri"/>
              </a:rPr>
              <a:t>• Strong cooperation assumption — mostly a theoretical bound.</a:t>
            </a:r>
          </a:p>
        </p:txBody>
      </p:sp>
      <p:sp>
        <p:nvSpPr>
          <p:cNvPr id="7" name="Rounded Rectangle 6"/>
          <p:cNvSpPr/>
          <p:nvPr/>
        </p:nvSpPr>
        <p:spPr>
          <a:xfrm>
            <a:off x="6217920" y="2834640"/>
            <a:ext cx="2697480" cy="3200400"/>
          </a:xfrm>
          <a:prstGeom prst="roundRect">
            <a:avLst/>
          </a:prstGeom>
          <a:solidFill>
            <a:srgbClr val="F5F7FA"/>
          </a:solidFill>
          <a:ln w="19050">
            <a:solidFill>
              <a:srgbClr val="0B7A75"/>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wrap="square"/>
          <a:lstStyle/>
          <a:p>
            <a:pPr algn="ctr"/>
            <a:r>
              <a:rPr sz="1600" b="1">
                <a:solidFill>
                  <a:srgbClr val="0B7A75"/>
                </a:solidFill>
                <a:latin typeface="Calibri"/>
              </a:rPr>
              <a:t>INTERWEAVE</a:t>
            </a:r>
          </a:p>
          <a:p>
            <a:pPr>
              <a:lnSpc>
                <a:spcPct val="115000"/>
              </a:lnSpc>
              <a:spcAft>
                <a:spcPts val="300"/>
              </a:spcAft>
            </a:pPr>
            <a:r>
              <a:rPr sz="1100">
                <a:solidFill>
                  <a:srgbClr val="333333"/>
                </a:solidFill>
                <a:latin typeface="Calibri"/>
              </a:rPr>
              <a:t>• SU transmits only in spectrum holes (when PU absent).</a:t>
            </a:r>
          </a:p>
          <a:p>
            <a:pPr>
              <a:lnSpc>
                <a:spcPct val="115000"/>
              </a:lnSpc>
              <a:spcAft>
                <a:spcPts val="300"/>
              </a:spcAft>
            </a:pPr>
            <a:r>
              <a:rPr sz="1100">
                <a:solidFill>
                  <a:srgbClr val="333333"/>
                </a:solidFill>
                <a:latin typeface="Calibri"/>
              </a:rPr>
              <a:t>• Relies on accurate sensing; vulnerable to mis-detection.</a:t>
            </a:r>
          </a:p>
          <a:p>
            <a:pPr>
              <a:lnSpc>
                <a:spcPct val="115000"/>
              </a:lnSpc>
              <a:spcAft>
                <a:spcPts val="300"/>
              </a:spcAft>
            </a:pPr>
            <a:r>
              <a:rPr sz="1100">
                <a:solidFill>
                  <a:srgbClr val="333333"/>
                </a:solidFill>
                <a:latin typeface="Calibri"/>
              </a:rPr>
              <a:t>• Discontinuous access — SU rate drops at high PU activity.</a:t>
            </a:r>
          </a:p>
        </p:txBody>
      </p:sp>
      <p:sp>
        <p:nvSpPr>
          <p:cNvPr id="8" name="TextBox 7"/>
          <p:cNvSpPr txBox="1"/>
          <p:nvPr/>
        </p:nvSpPr>
        <p:spPr>
          <a:xfrm>
            <a:off x="457200" y="6080760"/>
            <a:ext cx="8229600" cy="36576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This work focuses on the UNDERLAY paradigm with continuous power control via Deep Reinforcement Learning.</a:t>
            </a:r>
          </a:p>
        </p:txBody>
      </p:sp>
      <p:sp>
        <p:nvSpPr>
          <p:cNvPr id="9" name="TextBox 8"/>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Introduction — Reinforcement Learning</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5394960" cy="512064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What is Reinforcement Learning?</a:t>
            </a:r>
          </a:p>
          <a:p>
            <a:pPr>
              <a:lnSpc>
                <a:spcPct val="115000"/>
              </a:lnSpc>
              <a:spcAft>
                <a:spcPts val="200"/>
              </a:spcAft>
            </a:pPr>
            <a:r>
              <a:rPr sz="1300">
                <a:solidFill>
                  <a:srgbClr val="333333"/>
                </a:solidFill>
                <a:latin typeface="Calibri"/>
              </a:rPr>
              <a:t>Reinforcement Learning (RL) is a branch of machine learning in which an agent learns to take actions in an environment to maximise cumulative reward — purely through trial-and-error interaction.</a:t>
            </a:r>
          </a:p>
          <a:p>
            <a:pPr>
              <a:lnSpc>
                <a:spcPct val="115000"/>
              </a:lnSpc>
              <a:spcBef>
                <a:spcPts val="400"/>
              </a:spcBef>
              <a:spcAft>
                <a:spcPts val="200"/>
              </a:spcAft>
            </a:pPr>
            <a:r>
              <a:rPr sz="1400" b="1">
                <a:solidFill>
                  <a:srgbClr val="2C5F8D"/>
                </a:solidFill>
                <a:latin typeface="Calibri"/>
              </a:rPr>
              <a:t>Markov Decision Process (S, A, P, R, γ)</a:t>
            </a:r>
          </a:p>
          <a:p>
            <a:pPr>
              <a:lnSpc>
                <a:spcPct val="115000"/>
              </a:lnSpc>
              <a:spcAft>
                <a:spcPts val="200"/>
              </a:spcAft>
            </a:pPr>
            <a:r>
              <a:rPr sz="1300">
                <a:solidFill>
                  <a:srgbClr val="333333"/>
                </a:solidFill>
                <a:latin typeface="Calibri"/>
              </a:rPr>
              <a:t>• S — state space   ·   A — action space</a:t>
            </a:r>
          </a:p>
          <a:p>
            <a:pPr>
              <a:lnSpc>
                <a:spcPct val="115000"/>
              </a:lnSpc>
              <a:spcAft>
                <a:spcPts val="200"/>
              </a:spcAft>
            </a:pPr>
            <a:r>
              <a:rPr sz="1300">
                <a:solidFill>
                  <a:srgbClr val="333333"/>
                </a:solidFill>
                <a:latin typeface="Calibri"/>
              </a:rPr>
              <a:t>• P(s′|s, a) — transition dynamics</a:t>
            </a:r>
          </a:p>
          <a:p>
            <a:pPr>
              <a:lnSpc>
                <a:spcPct val="115000"/>
              </a:lnSpc>
              <a:spcAft>
                <a:spcPts val="200"/>
              </a:spcAft>
            </a:pPr>
            <a:r>
              <a:rPr sz="1300">
                <a:solidFill>
                  <a:srgbClr val="333333"/>
                </a:solidFill>
                <a:latin typeface="Calibri"/>
              </a:rPr>
              <a:t>• R(s, a) — reward function</a:t>
            </a:r>
          </a:p>
          <a:p>
            <a:pPr>
              <a:lnSpc>
                <a:spcPct val="115000"/>
              </a:lnSpc>
              <a:spcAft>
                <a:spcPts val="200"/>
              </a:spcAft>
            </a:pPr>
            <a:r>
              <a:rPr sz="1300">
                <a:solidFill>
                  <a:srgbClr val="333333"/>
                </a:solidFill>
                <a:latin typeface="Calibri"/>
              </a:rPr>
              <a:t>• γ ∈ [0, 1] — discount factor</a:t>
            </a:r>
          </a:p>
          <a:p>
            <a:pPr algn="l">
              <a:lnSpc>
                <a:spcPct val="115000"/>
              </a:lnSpc>
              <a:spcBef>
                <a:spcPts val="200"/>
              </a:spcBef>
              <a:spcAft>
                <a:spcPts val="400"/>
              </a:spcAft>
            </a:pPr>
            <a:r>
              <a:rPr sz="1300">
                <a:solidFill>
                  <a:srgbClr val="1A365D"/>
                </a:solidFill>
                <a:latin typeface="Cambria Math"/>
              </a:rPr>
              <a:t>max_π  E_τ~π [ Σ_t γ^t · r(s_t, a_t) ]</a:t>
            </a:r>
          </a:p>
          <a:p>
            <a:pPr>
              <a:lnSpc>
                <a:spcPct val="115000"/>
              </a:lnSpc>
              <a:spcBef>
                <a:spcPts val="400"/>
              </a:spcBef>
              <a:spcAft>
                <a:spcPts val="200"/>
              </a:spcAft>
            </a:pPr>
            <a:r>
              <a:rPr sz="1400" b="1">
                <a:solidFill>
                  <a:srgbClr val="2C5F8D"/>
                </a:solidFill>
                <a:latin typeface="Calibri"/>
              </a:rPr>
              <a:t>Families of RL Algorithms</a:t>
            </a:r>
          </a:p>
          <a:p>
            <a:pPr>
              <a:lnSpc>
                <a:spcPct val="115000"/>
              </a:lnSpc>
              <a:spcAft>
                <a:spcPts val="200"/>
              </a:spcAft>
            </a:pPr>
            <a:r>
              <a:rPr sz="1300">
                <a:solidFill>
                  <a:srgbClr val="333333"/>
                </a:solidFill>
                <a:latin typeface="Calibri"/>
              </a:rPr>
              <a:t>• Value-based — Q-Learning, DQN</a:t>
            </a:r>
          </a:p>
          <a:p>
            <a:pPr>
              <a:lnSpc>
                <a:spcPct val="115000"/>
              </a:lnSpc>
              <a:spcAft>
                <a:spcPts val="200"/>
              </a:spcAft>
            </a:pPr>
            <a:r>
              <a:rPr sz="1300">
                <a:solidFill>
                  <a:srgbClr val="333333"/>
                </a:solidFill>
                <a:latin typeface="Calibri"/>
              </a:rPr>
              <a:t>• Policy-based — REINFORCE, Policy Gradient</a:t>
            </a:r>
          </a:p>
          <a:p>
            <a:pPr>
              <a:lnSpc>
                <a:spcPct val="115000"/>
              </a:lnSpc>
              <a:spcAft>
                <a:spcPts val="200"/>
              </a:spcAft>
            </a:pPr>
            <a:r>
              <a:rPr sz="1300">
                <a:solidFill>
                  <a:srgbClr val="333333"/>
                </a:solidFill>
                <a:latin typeface="Calibri"/>
              </a:rPr>
              <a:t>• Actor–Critic — DDPG, TD3, SAC, PPO</a:t>
            </a:r>
          </a:p>
        </p:txBody>
      </p:sp>
      <p:sp>
        <p:nvSpPr>
          <p:cNvPr id="5" name="Rectangle 4"/>
          <p:cNvSpPr/>
          <p:nvPr/>
        </p:nvSpPr>
        <p:spPr>
          <a:xfrm>
            <a:off x="6126480" y="1097280"/>
            <a:ext cx="2743200" cy="2377440"/>
          </a:xfrm>
          <a:prstGeom prst="rect">
            <a:avLst/>
          </a:prstGeom>
          <a:solidFill>
            <a:srgbClr val="F5F7FA"/>
          </a:solidFill>
          <a:ln w="12700">
            <a:solidFill>
              <a:srgbClr val="2C5F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C5F8D"/>
                </a:solidFill>
                <a:latin typeface="Calibri"/>
              </a:rPr>
              <a:t>[Diagram placeholder]</a:t>
            </a:r>
          </a:p>
          <a:p>
            <a:pPr algn="ctr"/>
            <a:r>
              <a:rPr sz="1200" i="1">
                <a:solidFill>
                  <a:srgbClr val="2C5F8D"/>
                </a:solidFill>
                <a:latin typeface="Calibri"/>
              </a:rPr>
              <a:t>Agent ⇄ Environment</a:t>
            </a:r>
          </a:p>
          <a:p>
            <a:pPr algn="ctr"/>
            <a:r>
              <a:rPr sz="1200" i="1">
                <a:solidFill>
                  <a:srgbClr val="2C5F8D"/>
                </a:solidFill>
                <a:latin typeface="Calibri"/>
              </a:rPr>
              <a:t>(state → action → reward)</a:t>
            </a:r>
          </a:p>
        </p:txBody>
      </p:sp>
      <p:sp>
        <p:nvSpPr>
          <p:cNvPr id="6" name="TextBox 5"/>
          <p:cNvSpPr txBox="1"/>
          <p:nvPr/>
        </p:nvSpPr>
        <p:spPr>
          <a:xfrm>
            <a:off x="6126480" y="3611880"/>
            <a:ext cx="2743200" cy="274320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Why Deep RL for CRN?</a:t>
            </a:r>
          </a:p>
          <a:p>
            <a:pPr>
              <a:lnSpc>
                <a:spcPct val="115000"/>
              </a:lnSpc>
              <a:spcAft>
                <a:spcPts val="200"/>
              </a:spcAft>
            </a:pPr>
            <a:r>
              <a:rPr sz="1300">
                <a:solidFill>
                  <a:srgbClr val="333333"/>
                </a:solidFill>
                <a:latin typeface="Calibri"/>
              </a:rPr>
              <a:t>• Continuous-action capable — DDPG / TD3 output a real-valued P_s directly.</a:t>
            </a:r>
          </a:p>
          <a:p>
            <a:pPr>
              <a:lnSpc>
                <a:spcPct val="115000"/>
              </a:lnSpc>
              <a:spcAft>
                <a:spcPts val="200"/>
              </a:spcAft>
            </a:pPr>
            <a:r>
              <a:rPr sz="1300">
                <a:solidFill>
                  <a:srgbClr val="333333"/>
                </a:solidFill>
                <a:latin typeface="Calibri"/>
              </a:rPr>
              <a:t>• Model-free — no need for an analytical channel model.</a:t>
            </a:r>
          </a:p>
          <a:p>
            <a:pPr>
              <a:lnSpc>
                <a:spcPct val="115000"/>
              </a:lnSpc>
              <a:spcAft>
                <a:spcPts val="200"/>
              </a:spcAft>
            </a:pPr>
            <a:r>
              <a:rPr sz="1300">
                <a:solidFill>
                  <a:srgbClr val="333333"/>
                </a:solidFill>
                <a:latin typeface="Calibri"/>
              </a:rPr>
              <a:t>• Closed-loop adaptive — keeps refining the policy online.</a:t>
            </a:r>
          </a:p>
          <a:p>
            <a:pPr>
              <a:lnSpc>
                <a:spcPct val="115000"/>
              </a:lnSpc>
              <a:spcAft>
                <a:spcPts val="200"/>
              </a:spcAft>
            </a:pPr>
            <a:r>
              <a:rPr sz="1300">
                <a:solidFill>
                  <a:srgbClr val="333333"/>
                </a:solidFill>
                <a:latin typeface="Calibri"/>
              </a:rPr>
              <a:t>• Multi-objective rewards trade off throughput, interference, energy.</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Problem Statement</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188720"/>
            <a:ext cx="8229600" cy="521208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Cognitive Radio Networks (CRNs) enable efficient spectrum utilization by allowing secondary users to opportunistically access licensed bands while maintaining acceptable interference levels to primary users. Dynamic power allocation plays a crucial role in maximizing secondary network performance under time-varying channel and interference conditions.</a:t>
            </a:r>
          </a:p>
          <a:p>
            <a:pPr>
              <a:lnSpc>
                <a:spcPct val="115000"/>
              </a:lnSpc>
              <a:spcAft>
                <a:spcPts val="200"/>
              </a:spcAft>
            </a:pPr>
            <a:r>
              <a:rPr sz="1300">
                <a:solidFill>
                  <a:srgbClr val="333333"/>
                </a:solidFill>
                <a:latin typeface="Calibri"/>
              </a:rPr>
              <a:t/>
            </a:r>
          </a:p>
          <a:p>
            <a:pPr>
              <a:lnSpc>
                <a:spcPct val="115000"/>
              </a:lnSpc>
              <a:spcAft>
                <a:spcPts val="200"/>
              </a:spcAft>
            </a:pPr>
            <a:r>
              <a:rPr sz="1300">
                <a:solidFill>
                  <a:srgbClr val="333333"/>
                </a:solidFill>
                <a:latin typeface="Calibri"/>
              </a:rPr>
              <a:t>However, existing DQN-based power allocation methods rely on discrete action spaces, resulting in coarse power control and performance loss in continuous settings. They also inadequately capture heterogeneous interference and QoS constraints in CRNs, motivating the need for more effective learning frameworks for dynamic power adaptation.</a:t>
            </a:r>
          </a:p>
          <a:p>
            <a:pPr>
              <a:lnSpc>
                <a:spcPct val="115000"/>
              </a:lnSpc>
              <a:spcAft>
                <a:spcPts val="200"/>
              </a:spcAft>
            </a:pPr>
            <a:r>
              <a:rPr sz="1300">
                <a:solidFill>
                  <a:srgbClr val="333333"/>
                </a:solidFill>
                <a:latin typeface="Calibri"/>
              </a:rPr>
              <a:t/>
            </a:r>
          </a:p>
          <a:p>
            <a:pPr>
              <a:lnSpc>
                <a:spcPct val="115000"/>
              </a:lnSpc>
              <a:spcBef>
                <a:spcPts val="400"/>
              </a:spcBef>
              <a:spcAft>
                <a:spcPts val="200"/>
              </a:spcAft>
            </a:pPr>
            <a:r>
              <a:rPr sz="1400" b="1">
                <a:solidFill>
                  <a:srgbClr val="2C5F8D"/>
                </a:solidFill>
                <a:latin typeface="Calibri"/>
              </a:rPr>
              <a:t>Core Challenges Driving This Work</a:t>
            </a:r>
          </a:p>
          <a:p>
            <a:pPr>
              <a:lnSpc>
                <a:spcPct val="115000"/>
              </a:lnSpc>
              <a:spcAft>
                <a:spcPts val="200"/>
              </a:spcAft>
            </a:pPr>
            <a:r>
              <a:rPr sz="1300" b="1">
                <a:solidFill>
                  <a:srgbClr val="1A365D"/>
                </a:solidFill>
                <a:latin typeface="Calibri"/>
              </a:rPr>
              <a:t>• Continuous control:</a:t>
            </a:r>
            <a:r>
              <a:rPr sz="1300">
                <a:solidFill>
                  <a:srgbClr val="333333"/>
                </a:solidFill>
                <a:latin typeface="Calibri"/>
              </a:rPr>
              <a:t> DQN-style discrete bins are too coarse for fine-grained P_s tuning under fading.</a:t>
            </a:r>
          </a:p>
          <a:p>
            <a:pPr>
              <a:lnSpc>
                <a:spcPct val="115000"/>
              </a:lnSpc>
              <a:spcAft>
                <a:spcPts val="200"/>
              </a:spcAft>
            </a:pPr>
            <a:r>
              <a:rPr sz="1300" b="1">
                <a:solidFill>
                  <a:srgbClr val="1A365D"/>
                </a:solidFill>
                <a:latin typeface="Calibri"/>
              </a:rPr>
              <a:t>• Heterogeneous interference:</a:t>
            </a:r>
            <a:r>
              <a:rPr sz="1300">
                <a:solidFill>
                  <a:srgbClr val="333333"/>
                </a:solidFill>
                <a:latin typeface="Calibri"/>
              </a:rPr>
              <a:t> PU and SU experience different channel statistics — single-weight rewards mis-prioritise.</a:t>
            </a:r>
          </a:p>
          <a:p>
            <a:pPr>
              <a:lnSpc>
                <a:spcPct val="115000"/>
              </a:lnSpc>
              <a:spcAft>
                <a:spcPts val="200"/>
              </a:spcAft>
            </a:pPr>
            <a:r>
              <a:rPr sz="1300" b="1">
                <a:solidFill>
                  <a:srgbClr val="1A365D"/>
                </a:solidFill>
                <a:latin typeface="Calibri"/>
              </a:rPr>
              <a:t>• QoS constraints:</a:t>
            </a:r>
            <a:r>
              <a:rPr sz="1300">
                <a:solidFill>
                  <a:srgbClr val="333333"/>
                </a:solidFill>
                <a:latin typeface="Calibri"/>
              </a:rPr>
              <a:t> PU SINR threshold must be respected without manually hand-tuning penalty weights.</a:t>
            </a:r>
          </a:p>
          <a:p>
            <a:pPr>
              <a:lnSpc>
                <a:spcPct val="115000"/>
              </a:lnSpc>
              <a:spcAft>
                <a:spcPts val="200"/>
              </a:spcAft>
            </a:pPr>
            <a:r>
              <a:rPr sz="1300" b="1">
                <a:solidFill>
                  <a:srgbClr val="1A365D"/>
                </a:solidFill>
                <a:latin typeface="Calibri"/>
              </a:rPr>
              <a:t>• Non-stationarity:</a:t>
            </a:r>
            <a:r>
              <a:rPr sz="1300">
                <a:solidFill>
                  <a:srgbClr val="333333"/>
                </a:solidFill>
                <a:latin typeface="Calibri"/>
              </a:rPr>
              <a:t> Channel realisations vary every coherence block — the policy must adapt online.</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Objectives</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822960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Objective 1</a:t>
            </a:r>
          </a:p>
          <a:p>
            <a:pPr>
              <a:lnSpc>
                <a:spcPct val="115000"/>
              </a:lnSpc>
              <a:spcAft>
                <a:spcPts val="200"/>
              </a:spcAft>
            </a:pPr>
            <a:r>
              <a:rPr sz="1300">
                <a:solidFill>
                  <a:srgbClr val="333333"/>
                </a:solidFill>
                <a:latin typeface="Calibri"/>
              </a:rPr>
              <a:t>To develop a learning-based framework for dynamic power allocation in Cognitive Radio Networks that overcomes the limitations of discrete action spaces in conventional DQN methods.</a:t>
            </a:r>
          </a:p>
          <a:p>
            <a:pPr>
              <a:lnSpc>
                <a:spcPct val="115000"/>
              </a:lnSpc>
              <a:spcBef>
                <a:spcPts val="400"/>
              </a:spcBef>
              <a:spcAft>
                <a:spcPts val="200"/>
              </a:spcAft>
            </a:pPr>
            <a:r>
              <a:rPr sz="1400" b="1">
                <a:solidFill>
                  <a:srgbClr val="2C5F8D"/>
                </a:solidFill>
                <a:latin typeface="Calibri"/>
              </a:rPr>
              <a:t>Objective 2</a:t>
            </a:r>
          </a:p>
          <a:p>
            <a:pPr>
              <a:lnSpc>
                <a:spcPct val="115000"/>
              </a:lnSpc>
              <a:spcAft>
                <a:spcPts val="200"/>
              </a:spcAft>
            </a:pPr>
            <a:r>
              <a:rPr sz="1300">
                <a:solidFill>
                  <a:srgbClr val="333333"/>
                </a:solidFill>
                <a:latin typeface="Calibri"/>
              </a:rPr>
              <a:t>To incorporate heterogeneous interference awareness and QoS constraints into the power control strategy for improved secondary user performance and primary user protection.</a:t>
            </a:r>
          </a:p>
          <a:p>
            <a:pPr>
              <a:lnSpc>
                <a:spcPct val="115000"/>
              </a:lnSpc>
              <a:spcBef>
                <a:spcPts val="400"/>
              </a:spcBef>
              <a:spcAft>
                <a:spcPts val="200"/>
              </a:spcAft>
            </a:pPr>
            <a:r>
              <a:rPr sz="1400" b="1">
                <a:solidFill>
                  <a:srgbClr val="2C5F8D"/>
                </a:solidFill>
                <a:latin typeface="Calibri"/>
              </a:rPr>
              <a:t>Objective 3</a:t>
            </a:r>
          </a:p>
          <a:p>
            <a:pPr>
              <a:lnSpc>
                <a:spcPct val="115000"/>
              </a:lnSpc>
              <a:spcAft>
                <a:spcPts val="200"/>
              </a:spcAft>
            </a:pPr>
            <a:r>
              <a:rPr sz="1300">
                <a:solidFill>
                  <a:srgbClr val="333333"/>
                </a:solidFill>
                <a:latin typeface="Calibri"/>
              </a:rPr>
              <a:t>To evaluate the proposed approach in terms of spectrum efficiency, interference management, and learning convergence under dynamic CRN environments.</a:t>
            </a:r>
          </a:p>
          <a:p>
            <a:pPr>
              <a:lnSpc>
                <a:spcPct val="115000"/>
              </a:lnSpc>
              <a:spcBef>
                <a:spcPts val="400"/>
              </a:spcBef>
              <a:spcAft>
                <a:spcPts val="200"/>
              </a:spcAft>
            </a:pPr>
            <a:r>
              <a:rPr sz="1400" b="1">
                <a:solidFill>
                  <a:srgbClr val="2C5F8D"/>
                </a:solidFill>
                <a:latin typeface="Calibri"/>
              </a:rPr>
              <a:t>How We Address Them</a:t>
            </a:r>
          </a:p>
          <a:p>
            <a:pPr>
              <a:lnSpc>
                <a:spcPct val="115000"/>
              </a:lnSpc>
              <a:spcAft>
                <a:spcPts val="200"/>
              </a:spcAft>
            </a:pPr>
            <a:r>
              <a:rPr sz="1300" b="1">
                <a:solidFill>
                  <a:srgbClr val="1A365D"/>
                </a:solidFill>
                <a:latin typeface="Calibri"/>
              </a:rPr>
              <a:t>• Objective 1 →</a:t>
            </a:r>
            <a:r>
              <a:rPr sz="1300">
                <a:solidFill>
                  <a:srgbClr val="333333"/>
                </a:solidFill>
                <a:latin typeface="Calibri"/>
              </a:rPr>
              <a:t> continuous-action actor–critic (DDPG → TD3 → Proposed Algorithm).</a:t>
            </a:r>
          </a:p>
          <a:p>
            <a:pPr>
              <a:lnSpc>
                <a:spcPct val="115000"/>
              </a:lnSpc>
              <a:spcAft>
                <a:spcPts val="200"/>
              </a:spcAft>
            </a:pPr>
            <a:r>
              <a:rPr sz="1300" b="1">
                <a:solidFill>
                  <a:srgbClr val="1A365D"/>
                </a:solidFill>
                <a:latin typeface="Calibri"/>
              </a:rPr>
              <a:t>• Objective 2 →</a:t>
            </a:r>
            <a:r>
              <a:rPr sz="1300">
                <a:solidFill>
                  <a:srgbClr val="333333"/>
                </a:solidFill>
                <a:latin typeface="Calibri"/>
              </a:rPr>
              <a:t> decomposed multi-objective reward + adaptive Lagrangian weights inside the Proposed Algorithm.</a:t>
            </a:r>
          </a:p>
          <a:p>
            <a:pPr>
              <a:lnSpc>
                <a:spcPct val="115000"/>
              </a:lnSpc>
              <a:spcAft>
                <a:spcPts val="200"/>
              </a:spcAft>
            </a:pPr>
            <a:r>
              <a:rPr sz="1300" b="1">
                <a:solidFill>
                  <a:srgbClr val="1A365D"/>
                </a:solidFill>
                <a:latin typeface="Calibri"/>
              </a:rPr>
              <a:t>• Objective 3 →</a:t>
            </a:r>
            <a:r>
              <a:rPr sz="1300">
                <a:solidFill>
                  <a:srgbClr val="333333"/>
                </a:solidFill>
                <a:latin typeface="Calibri"/>
              </a:rPr>
              <a:t> reproducible benchmarking with PDF reports under Nakagami-m = 1 and m = 3, imperfect CSI.</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Recap — From Self-Driving Cars to CRN Power Control</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137160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TD3 (Fujimoto, 2018) was originally designed for continuous-control benchmarks such as autonomous driving (steering / throttle), robotic locomotion (MuJoCo Half-Cheetah, Walker, Ant), and OpenAI CarRacing. The same mathematical structure transfers directly to CRN power control.</a:t>
            </a:r>
          </a:p>
        </p:txBody>
      </p:sp>
      <p:graphicFrame>
        <p:nvGraphicFramePr>
          <p:cNvPr id="5" name="Table 4"/>
          <p:cNvGraphicFramePr>
            <a:graphicFrameLocks noGrp="1"/>
          </p:cNvGraphicFramePr>
          <p:nvPr/>
        </p:nvGraphicFramePr>
        <p:xfrm>
          <a:off x="365760" y="2560320"/>
          <a:ext cx="8412480" cy="3383280"/>
        </p:xfrm>
        <a:graphic>
          <a:graphicData uri="http://schemas.openxmlformats.org/drawingml/2006/table">
            <a:tbl>
              <a:tblPr firstRow="1" bandRow="1">
                <a:tableStyleId>{5C22544A-7EE6-4342-B048-85BDC9FD1C3A}</a:tableStyleId>
              </a:tblPr>
              <a:tblGrid>
                <a:gridCol w="1554480"/>
                <a:gridCol w="3383280"/>
                <a:gridCol w="3474720"/>
              </a:tblGrid>
              <a:tr h="483325">
                <a:tc>
                  <a:txBody>
                    <a:bodyPr/>
                    <a:lstStyle/>
                    <a:p>
                      <a:pPr algn="l"/>
                      <a:r>
                        <a:rPr sz="1100" b="1">
                          <a:solidFill>
                            <a:srgbClr val="FFFFFF"/>
                          </a:solidFill>
                          <a:latin typeface="Calibri"/>
                        </a:rPr>
                        <a:t>Component</a:t>
                      </a:r>
                    </a:p>
                  </a:txBody>
                  <a:tcPr marL="73152" marR="73152" marT="36576" marB="36576">
                    <a:solidFill>
                      <a:srgbClr val="1A365D"/>
                    </a:solidFill>
                  </a:tcPr>
                </a:tc>
                <a:tc>
                  <a:txBody>
                    <a:bodyPr/>
                    <a:lstStyle/>
                    <a:p>
                      <a:pPr algn="l"/>
                      <a:r>
                        <a:rPr sz="1100" b="1">
                          <a:solidFill>
                            <a:srgbClr val="FFFFFF"/>
                          </a:solidFill>
                          <a:latin typeface="Calibri"/>
                        </a:rPr>
                        <a:t>Self-Driving Car (TD3 classic use case)</a:t>
                      </a:r>
                    </a:p>
                  </a:txBody>
                  <a:tcPr marL="73152" marR="73152" marT="36576" marB="36576">
                    <a:solidFill>
                      <a:srgbClr val="1A365D"/>
                    </a:solidFill>
                  </a:tcPr>
                </a:tc>
                <a:tc>
                  <a:txBody>
                    <a:bodyPr/>
                    <a:lstStyle/>
                    <a:p>
                      <a:pPr algn="l"/>
                      <a:r>
                        <a:rPr sz="1100" b="1">
                          <a:solidFill>
                            <a:srgbClr val="FFFFFF"/>
                          </a:solidFill>
                          <a:latin typeface="Calibri"/>
                        </a:rPr>
                        <a:t>Our CRN Power Allocation</a:t>
                      </a:r>
                    </a:p>
                  </a:txBody>
                  <a:tcPr marL="73152" marR="73152" marT="36576" marB="36576">
                    <a:solidFill>
                      <a:srgbClr val="1A365D"/>
                    </a:solidFill>
                  </a:tcPr>
                </a:tc>
              </a:tr>
              <a:tr h="483325">
                <a:tc>
                  <a:txBody>
                    <a:bodyPr/>
                    <a:lstStyle/>
                    <a:p>
                      <a:pPr algn="l"/>
                      <a:r>
                        <a:rPr sz="1100" b="1">
                          <a:solidFill>
                            <a:srgbClr val="1A365D"/>
                          </a:solidFill>
                          <a:latin typeface="Calibri"/>
                        </a:rPr>
                        <a:t>State (s_t)</a:t>
                      </a:r>
                    </a:p>
                  </a:txBody>
                  <a:tcPr marL="73152" marR="73152" marT="36576" marB="36576">
                    <a:solidFill>
                      <a:srgbClr val="FFFFFF"/>
                    </a:solidFill>
                  </a:tcPr>
                </a:tc>
                <a:tc>
                  <a:txBody>
                    <a:bodyPr/>
                    <a:lstStyle/>
                    <a:p>
                      <a:pPr algn="l"/>
                      <a:r>
                        <a:rPr sz="1100">
                          <a:solidFill>
                            <a:srgbClr val="333333"/>
                          </a:solidFill>
                          <a:latin typeface="Calibri"/>
                        </a:rPr>
                        <a:t>Lidar / camera, velocity, steering angle, lane position</a:t>
                      </a:r>
                    </a:p>
                  </a:txBody>
                  <a:tcPr marL="73152" marR="73152" marT="36576" marB="36576">
                    <a:solidFill>
                      <a:srgbClr val="FFFFFF"/>
                    </a:solidFill>
                  </a:tcPr>
                </a:tc>
                <a:tc>
                  <a:txBody>
                    <a:bodyPr/>
                    <a:lstStyle/>
                    <a:p>
                      <a:pPr algn="l"/>
                      <a:r>
                        <a:rPr sz="1100">
                          <a:solidFill>
                            <a:srgbClr val="333333"/>
                          </a:solidFill>
                          <a:latin typeface="Calibri"/>
                        </a:rPr>
                        <a:t>Channel gains |h_pp|², |h_sp|², |h_ss|², |h_ps|², SINR_p, SINR_s, P_s(t−1)</a:t>
                      </a:r>
                    </a:p>
                  </a:txBody>
                  <a:tcPr marL="73152" marR="73152" marT="36576" marB="36576">
                    <a:solidFill>
                      <a:srgbClr val="FFFFFF"/>
                    </a:solidFill>
                  </a:tcPr>
                </a:tc>
              </a:tr>
              <a:tr h="483325">
                <a:tc>
                  <a:txBody>
                    <a:bodyPr/>
                    <a:lstStyle/>
                    <a:p>
                      <a:pPr algn="l"/>
                      <a:r>
                        <a:rPr sz="1100" b="1">
                          <a:solidFill>
                            <a:srgbClr val="1A365D"/>
                          </a:solidFill>
                          <a:latin typeface="Calibri"/>
                        </a:rPr>
                        <a:t>Action (a_t)</a:t>
                      </a:r>
                    </a:p>
                  </a:txBody>
                  <a:tcPr marL="73152" marR="73152" marT="36576" marB="36576">
                    <a:solidFill>
                      <a:srgbClr val="F5F7FA"/>
                    </a:solidFill>
                  </a:tcPr>
                </a:tc>
                <a:tc>
                  <a:txBody>
                    <a:bodyPr/>
                    <a:lstStyle/>
                    <a:p>
                      <a:pPr algn="l"/>
                      <a:r>
                        <a:rPr sz="1100">
                          <a:solidFill>
                            <a:srgbClr val="333333"/>
                          </a:solidFill>
                          <a:latin typeface="Calibri"/>
                        </a:rPr>
                        <a:t>Continuous steering angle and throttle ∈ [−1, +1]</a:t>
                      </a:r>
                    </a:p>
                  </a:txBody>
                  <a:tcPr marL="73152" marR="73152" marT="36576" marB="36576">
                    <a:solidFill>
                      <a:srgbClr val="F5F7FA"/>
                    </a:solidFill>
                  </a:tcPr>
                </a:tc>
                <a:tc>
                  <a:txBody>
                    <a:bodyPr/>
                    <a:lstStyle/>
                    <a:p>
                      <a:pPr algn="l"/>
                      <a:r>
                        <a:rPr sz="1100">
                          <a:solidFill>
                            <a:srgbClr val="333333"/>
                          </a:solidFill>
                          <a:latin typeface="Calibri"/>
                        </a:rPr>
                        <a:t>Continuous transmit power  P_s ∈ [0, P_max]</a:t>
                      </a:r>
                    </a:p>
                  </a:txBody>
                  <a:tcPr marL="73152" marR="73152" marT="36576" marB="36576">
                    <a:solidFill>
                      <a:srgbClr val="F5F7FA"/>
                    </a:solidFill>
                  </a:tcPr>
                </a:tc>
              </a:tr>
              <a:tr h="483325">
                <a:tc>
                  <a:txBody>
                    <a:bodyPr/>
                    <a:lstStyle/>
                    <a:p>
                      <a:pPr algn="l"/>
                      <a:r>
                        <a:rPr sz="1100" b="1">
                          <a:solidFill>
                            <a:srgbClr val="1A365D"/>
                          </a:solidFill>
                          <a:latin typeface="Calibri"/>
                        </a:rPr>
                        <a:t>Reward (r_t)</a:t>
                      </a:r>
                    </a:p>
                  </a:txBody>
                  <a:tcPr marL="73152" marR="73152" marT="36576" marB="36576">
                    <a:solidFill>
                      <a:srgbClr val="FFFFFF"/>
                    </a:solidFill>
                  </a:tcPr>
                </a:tc>
                <a:tc>
                  <a:txBody>
                    <a:bodyPr/>
                    <a:lstStyle/>
                    <a:p>
                      <a:pPr algn="l"/>
                      <a:r>
                        <a:rPr sz="1100">
                          <a:solidFill>
                            <a:srgbClr val="333333"/>
                          </a:solidFill>
                          <a:latin typeface="Calibri"/>
                        </a:rPr>
                        <a:t>Distance travelled − collision penalty − fuel penalty</a:t>
                      </a:r>
                    </a:p>
                  </a:txBody>
                  <a:tcPr marL="73152" marR="73152" marT="36576" marB="36576">
                    <a:solidFill>
                      <a:srgbClr val="FFFFFF"/>
                    </a:solidFill>
                  </a:tcPr>
                </a:tc>
                <a:tc>
                  <a:txBody>
                    <a:bodyPr/>
                    <a:lstStyle/>
                    <a:p>
                      <a:pPr algn="l"/>
                      <a:r>
                        <a:rPr sz="1100">
                          <a:solidFill>
                            <a:srgbClr val="333333"/>
                          </a:solidFill>
                          <a:latin typeface="Calibri"/>
                        </a:rPr>
                        <a:t>SU throughput − PU interference penalty − energy penalty</a:t>
                      </a:r>
                    </a:p>
                  </a:txBody>
                  <a:tcPr marL="73152" marR="73152" marT="36576" marB="36576">
                    <a:solidFill>
                      <a:srgbClr val="FFFFFF"/>
                    </a:solidFill>
                  </a:tcPr>
                </a:tc>
              </a:tr>
              <a:tr h="483325">
                <a:tc>
                  <a:txBody>
                    <a:bodyPr/>
                    <a:lstStyle/>
                    <a:p>
                      <a:pPr algn="l"/>
                      <a:r>
                        <a:rPr sz="1100" b="1">
                          <a:solidFill>
                            <a:srgbClr val="1A365D"/>
                          </a:solidFill>
                          <a:latin typeface="Calibri"/>
                        </a:rPr>
                        <a:t>Constraint</a:t>
                      </a:r>
                    </a:p>
                  </a:txBody>
                  <a:tcPr marL="73152" marR="73152" marT="36576" marB="36576">
                    <a:solidFill>
                      <a:srgbClr val="F5F7FA"/>
                    </a:solidFill>
                  </a:tcPr>
                </a:tc>
                <a:tc>
                  <a:txBody>
                    <a:bodyPr/>
                    <a:lstStyle/>
                    <a:p>
                      <a:pPr algn="l"/>
                      <a:r>
                        <a:rPr sz="1100">
                          <a:solidFill>
                            <a:srgbClr val="333333"/>
                          </a:solidFill>
                          <a:latin typeface="Calibri"/>
                        </a:rPr>
                        <a:t>Stay in lane, avoid collision</a:t>
                      </a:r>
                    </a:p>
                  </a:txBody>
                  <a:tcPr marL="73152" marR="73152" marT="36576" marB="36576">
                    <a:solidFill>
                      <a:srgbClr val="F5F7FA"/>
                    </a:solidFill>
                  </a:tcPr>
                </a:tc>
                <a:tc>
                  <a:txBody>
                    <a:bodyPr/>
                    <a:lstStyle/>
                    <a:p>
                      <a:pPr algn="l"/>
                      <a:r>
                        <a:rPr sz="1100">
                          <a:solidFill>
                            <a:srgbClr val="333333"/>
                          </a:solidFill>
                          <a:latin typeface="Calibri"/>
                        </a:rPr>
                        <a:t>Keep SINR_p ≥ γ_th to protect Primary User</a:t>
                      </a:r>
                    </a:p>
                  </a:txBody>
                  <a:tcPr marL="73152" marR="73152" marT="36576" marB="36576">
                    <a:solidFill>
                      <a:srgbClr val="F5F7FA"/>
                    </a:solidFill>
                  </a:tcPr>
                </a:tc>
              </a:tr>
              <a:tr h="483325">
                <a:tc>
                  <a:txBody>
                    <a:bodyPr/>
                    <a:lstStyle/>
                    <a:p>
                      <a:pPr algn="l"/>
                      <a:r>
                        <a:rPr sz="1100" b="1">
                          <a:solidFill>
                            <a:srgbClr val="1A365D"/>
                          </a:solidFill>
                          <a:latin typeface="Calibri"/>
                        </a:rPr>
                        <a:t>Episode</a:t>
                      </a:r>
                    </a:p>
                  </a:txBody>
                  <a:tcPr marL="73152" marR="73152" marT="36576" marB="36576">
                    <a:solidFill>
                      <a:srgbClr val="FFFFFF"/>
                    </a:solidFill>
                  </a:tcPr>
                </a:tc>
                <a:tc>
                  <a:txBody>
                    <a:bodyPr/>
                    <a:lstStyle/>
                    <a:p>
                      <a:pPr algn="l"/>
                      <a:r>
                        <a:rPr sz="1100">
                          <a:solidFill>
                            <a:srgbClr val="333333"/>
                          </a:solidFill>
                          <a:latin typeface="Calibri"/>
                        </a:rPr>
                        <a:t>Drive one lap / fixed time</a:t>
                      </a:r>
                    </a:p>
                  </a:txBody>
                  <a:tcPr marL="73152" marR="73152" marT="36576" marB="36576">
                    <a:solidFill>
                      <a:srgbClr val="FFFFFF"/>
                    </a:solidFill>
                  </a:tcPr>
                </a:tc>
                <a:tc>
                  <a:txBody>
                    <a:bodyPr/>
                    <a:lstStyle/>
                    <a:p>
                      <a:pPr algn="l"/>
                      <a:r>
                        <a:rPr sz="1100">
                          <a:solidFill>
                            <a:srgbClr val="333333"/>
                          </a:solidFill>
                          <a:latin typeface="Calibri"/>
                        </a:rPr>
                        <a:t>200 channel uses (one fading block)</a:t>
                      </a:r>
                    </a:p>
                  </a:txBody>
                  <a:tcPr marL="73152" marR="73152" marT="36576" marB="36576">
                    <a:solidFill>
                      <a:srgbClr val="FFFFFF"/>
                    </a:solidFill>
                  </a:tcPr>
                </a:tc>
              </a:tr>
              <a:tr h="483330">
                <a:tc>
                  <a:txBody>
                    <a:bodyPr/>
                    <a:lstStyle/>
                    <a:p>
                      <a:pPr algn="l"/>
                      <a:r>
                        <a:rPr sz="1100" b="1">
                          <a:solidFill>
                            <a:srgbClr val="1A365D"/>
                          </a:solidFill>
                          <a:latin typeface="Calibri"/>
                        </a:rPr>
                        <a:t>Why TD3 fits</a:t>
                      </a:r>
                    </a:p>
                  </a:txBody>
                  <a:tcPr marL="73152" marR="73152" marT="36576" marB="36576">
                    <a:solidFill>
                      <a:srgbClr val="F5F7FA"/>
                    </a:solidFill>
                  </a:tcPr>
                </a:tc>
                <a:tc>
                  <a:txBody>
                    <a:bodyPr/>
                    <a:lstStyle/>
                    <a:p>
                      <a:pPr algn="l"/>
                      <a:r>
                        <a:rPr sz="1100">
                          <a:solidFill>
                            <a:srgbClr val="333333"/>
                          </a:solidFill>
                          <a:latin typeface="Calibri"/>
                        </a:rPr>
                        <a:t>Smooth continuous control, avoids overestimation that DDPG suffers from</a:t>
                      </a:r>
                    </a:p>
                  </a:txBody>
                  <a:tcPr marL="73152" marR="73152" marT="36576" marB="36576">
                    <a:solidFill>
                      <a:srgbClr val="F5F7FA"/>
                    </a:solidFill>
                  </a:tcPr>
                </a:tc>
                <a:tc>
                  <a:txBody>
                    <a:bodyPr/>
                    <a:lstStyle/>
                    <a:p>
                      <a:pPr algn="l"/>
                      <a:r>
                        <a:rPr sz="1100">
                          <a:solidFill>
                            <a:srgbClr val="333333"/>
                          </a:solidFill>
                          <a:latin typeface="Calibri"/>
                        </a:rPr>
                        <a:t>Same — TD3 stabilises learning where DDPG oscillates under Nakagami fading</a:t>
                      </a:r>
                    </a:p>
                  </a:txBody>
                  <a:tcPr marL="73152" marR="73152" marT="36576" marB="36576">
                    <a:solidFill>
                      <a:srgbClr val="F5F7FA"/>
                    </a:solidFill>
                  </a:tcPr>
                </a:tc>
              </a:tr>
            </a:tbl>
          </a:graphicData>
        </a:graphic>
      </p:graphicFrame>
      <p:sp>
        <p:nvSpPr>
          <p:cNvPr id="6" name="TextBox 5"/>
          <p:cNvSpPr txBox="1"/>
          <p:nvPr/>
        </p:nvSpPr>
        <p:spPr>
          <a:xfrm>
            <a:off x="457200" y="6080760"/>
            <a:ext cx="8229600" cy="36576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Take-away — both problems are continuous-action MDPs under noisy observations, so the same TD3 machinery transfers from the car domain to CRN power control with minimal redesign.</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System Model — Topology, Channels, Reward</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521208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4-Node Underlay CRN</a:t>
            </a:r>
          </a:p>
          <a:p>
            <a:pPr>
              <a:lnSpc>
                <a:spcPct val="115000"/>
              </a:lnSpc>
              <a:spcAft>
                <a:spcPts val="200"/>
              </a:spcAft>
            </a:pPr>
            <a:r>
              <a:rPr sz="1300" b="1">
                <a:solidFill>
                  <a:srgbClr val="1A365D"/>
                </a:solidFill>
                <a:latin typeface="Calibri"/>
              </a:rPr>
              <a:t>• |h_pp|² :</a:t>
            </a:r>
            <a:r>
              <a:rPr sz="1300">
                <a:solidFill>
                  <a:srgbClr val="333333"/>
                </a:solidFill>
                <a:latin typeface="Calibri"/>
              </a:rPr>
              <a:t> PT → PR  (primary direct link)</a:t>
            </a:r>
          </a:p>
          <a:p>
            <a:pPr>
              <a:lnSpc>
                <a:spcPct val="115000"/>
              </a:lnSpc>
              <a:spcAft>
                <a:spcPts val="200"/>
              </a:spcAft>
            </a:pPr>
            <a:r>
              <a:rPr sz="1300" b="1">
                <a:solidFill>
                  <a:srgbClr val="1A365D"/>
                </a:solidFill>
                <a:latin typeface="Calibri"/>
              </a:rPr>
              <a:t>• |h_sp|² :</a:t>
            </a:r>
            <a:r>
              <a:rPr sz="1300">
                <a:solidFill>
                  <a:srgbClr val="333333"/>
                </a:solidFill>
                <a:latin typeface="Calibri"/>
              </a:rPr>
              <a:t> ST → PR  (SU interference on PU)</a:t>
            </a:r>
          </a:p>
          <a:p>
            <a:pPr>
              <a:lnSpc>
                <a:spcPct val="115000"/>
              </a:lnSpc>
              <a:spcAft>
                <a:spcPts val="200"/>
              </a:spcAft>
            </a:pPr>
            <a:r>
              <a:rPr sz="1300" b="1">
                <a:solidFill>
                  <a:srgbClr val="1A365D"/>
                </a:solidFill>
                <a:latin typeface="Calibri"/>
              </a:rPr>
              <a:t>• |h_ss|² :</a:t>
            </a:r>
            <a:r>
              <a:rPr sz="1300">
                <a:solidFill>
                  <a:srgbClr val="333333"/>
                </a:solidFill>
                <a:latin typeface="Calibri"/>
              </a:rPr>
              <a:t> ST → SR  (secondary direct link)</a:t>
            </a:r>
          </a:p>
          <a:p>
            <a:pPr>
              <a:lnSpc>
                <a:spcPct val="115000"/>
              </a:lnSpc>
              <a:spcAft>
                <a:spcPts val="200"/>
              </a:spcAft>
            </a:pPr>
            <a:r>
              <a:rPr sz="1300" b="1">
                <a:solidFill>
                  <a:srgbClr val="1A365D"/>
                </a:solidFill>
                <a:latin typeface="Calibri"/>
              </a:rPr>
              <a:t>• |h_ps|² :</a:t>
            </a:r>
            <a:r>
              <a:rPr sz="1300">
                <a:solidFill>
                  <a:srgbClr val="333333"/>
                </a:solidFill>
                <a:latin typeface="Calibri"/>
              </a:rPr>
              <a:t> PT → SR  (PU interference on SU)</a:t>
            </a:r>
          </a:p>
          <a:p>
            <a:pPr>
              <a:lnSpc>
                <a:spcPct val="115000"/>
              </a:lnSpc>
              <a:spcBef>
                <a:spcPts val="400"/>
              </a:spcBef>
              <a:spcAft>
                <a:spcPts val="200"/>
              </a:spcAft>
            </a:pPr>
            <a:r>
              <a:rPr sz="1400" b="1">
                <a:solidFill>
                  <a:srgbClr val="2C5F8D"/>
                </a:solidFill>
                <a:latin typeface="Calibri"/>
              </a:rPr>
              <a:t>Nakagami-m Block Fading</a:t>
            </a:r>
          </a:p>
          <a:p>
            <a:pPr algn="l">
              <a:lnSpc>
                <a:spcPct val="115000"/>
              </a:lnSpc>
              <a:spcBef>
                <a:spcPts val="200"/>
              </a:spcBef>
              <a:spcAft>
                <a:spcPts val="400"/>
              </a:spcAft>
            </a:pPr>
            <a:r>
              <a:rPr sz="1300">
                <a:solidFill>
                  <a:srgbClr val="1A365D"/>
                </a:solidFill>
                <a:latin typeface="Cambria Math"/>
              </a:rPr>
              <a:t>|h|² ~ Gamma(shape = m, scale = Ω/m)</a:t>
            </a:r>
          </a:p>
          <a:p>
            <a:pPr>
              <a:lnSpc>
                <a:spcPct val="115000"/>
              </a:lnSpc>
              <a:spcAft>
                <a:spcPts val="200"/>
              </a:spcAft>
            </a:pPr>
            <a:r>
              <a:rPr sz="1300">
                <a:solidFill>
                  <a:srgbClr val="333333"/>
                </a:solidFill>
                <a:latin typeface="Calibri"/>
              </a:rPr>
              <a:t>• m = 1 → Rayleigh (severe)   ·   m = 3 → moderate</a:t>
            </a:r>
          </a:p>
          <a:p>
            <a:pPr>
              <a:lnSpc>
                <a:spcPct val="115000"/>
              </a:lnSpc>
              <a:spcAft>
                <a:spcPts val="200"/>
              </a:spcAft>
            </a:pPr>
            <a:r>
              <a:rPr sz="1300">
                <a:solidFill>
                  <a:srgbClr val="333333"/>
                </a:solidFill>
                <a:latin typeface="Calibri"/>
              </a:rPr>
              <a:t>• σ² = 10⁻³ W (AWGN),   P_p = 1.0 W,   P_max = 3.0 W</a:t>
            </a:r>
          </a:p>
          <a:p>
            <a:pPr>
              <a:lnSpc>
                <a:spcPct val="115000"/>
              </a:lnSpc>
              <a:spcBef>
                <a:spcPts val="400"/>
              </a:spcBef>
              <a:spcAft>
                <a:spcPts val="200"/>
              </a:spcAft>
            </a:pPr>
            <a:r>
              <a:rPr sz="1400" b="1">
                <a:solidFill>
                  <a:srgbClr val="2C5F8D"/>
                </a:solidFill>
                <a:latin typeface="Calibri"/>
              </a:rPr>
              <a:t>SINR &amp; Throughput</a:t>
            </a:r>
          </a:p>
          <a:p>
            <a:pPr algn="l">
              <a:lnSpc>
                <a:spcPct val="115000"/>
              </a:lnSpc>
              <a:spcBef>
                <a:spcPts val="200"/>
              </a:spcBef>
              <a:spcAft>
                <a:spcPts val="400"/>
              </a:spcAft>
            </a:pPr>
            <a:r>
              <a:rPr sz="1300">
                <a:solidFill>
                  <a:srgbClr val="1A365D"/>
                </a:solidFill>
                <a:latin typeface="Cambria Math"/>
              </a:rPr>
              <a:t>SINR_p = (P_p · |h_pp|²) / (P_s · |h_sp|² + σ²)</a:t>
            </a:r>
          </a:p>
          <a:p>
            <a:pPr algn="l">
              <a:lnSpc>
                <a:spcPct val="115000"/>
              </a:lnSpc>
              <a:spcBef>
                <a:spcPts val="200"/>
              </a:spcBef>
              <a:spcAft>
                <a:spcPts val="400"/>
              </a:spcAft>
            </a:pPr>
            <a:r>
              <a:rPr sz="1300">
                <a:solidFill>
                  <a:srgbClr val="1A365D"/>
                </a:solidFill>
                <a:latin typeface="Cambria Math"/>
              </a:rPr>
              <a:t>SINR_s = (P_s · |h_ss|²) / (P_p · |h_ps|² + σ²)</a:t>
            </a:r>
          </a:p>
          <a:p>
            <a:pPr algn="l">
              <a:lnSpc>
                <a:spcPct val="115000"/>
              </a:lnSpc>
              <a:spcBef>
                <a:spcPts val="200"/>
              </a:spcBef>
              <a:spcAft>
                <a:spcPts val="400"/>
              </a:spcAft>
            </a:pPr>
            <a:r>
              <a:rPr sz="1300">
                <a:solidFill>
                  <a:srgbClr val="1A365D"/>
                </a:solidFill>
                <a:latin typeface="Cambria Math"/>
              </a:rPr>
              <a:t>R_s = log₂(1 + SINR_s)         BER = ½·erfc(√SINR)</a:t>
            </a:r>
          </a:p>
        </p:txBody>
      </p:sp>
      <p:sp>
        <p:nvSpPr>
          <p:cNvPr id="5" name="Rectangle 4"/>
          <p:cNvSpPr/>
          <p:nvPr/>
        </p:nvSpPr>
        <p:spPr>
          <a:xfrm>
            <a:off x="5852160" y="1097280"/>
            <a:ext cx="3017520" cy="2743200"/>
          </a:xfrm>
          <a:prstGeom prst="rect">
            <a:avLst/>
          </a:prstGeom>
          <a:solidFill>
            <a:srgbClr val="F5F7FA"/>
          </a:solidFill>
          <a:ln w="12700">
            <a:solidFill>
              <a:srgbClr val="2C5F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C5F8D"/>
                </a:solidFill>
                <a:latin typeface="Calibri"/>
              </a:rPr>
              <a:t>[Diagram placeholder]</a:t>
            </a:r>
          </a:p>
          <a:p>
            <a:pPr algn="ctr"/>
            <a:r>
              <a:rPr sz="1200" i="1">
                <a:solidFill>
                  <a:srgbClr val="2C5F8D"/>
                </a:solidFill>
                <a:latin typeface="Calibri"/>
              </a:rPr>
              <a:t>4-node CRN topology</a:t>
            </a:r>
          </a:p>
          <a:p>
            <a:pPr algn="ctr"/>
            <a:r>
              <a:rPr sz="1200" i="1">
                <a:solidFill>
                  <a:srgbClr val="2C5F8D"/>
                </a:solidFill>
                <a:latin typeface="Calibri"/>
              </a:rPr>
              <a:t>PT ↔ PR,  ST ↔ SR</a:t>
            </a:r>
          </a:p>
          <a:p>
            <a:pPr algn="ctr"/>
            <a:r>
              <a:rPr sz="1200" i="1">
                <a:solidFill>
                  <a:srgbClr val="2C5F8D"/>
                </a:solidFill>
                <a:latin typeface="Calibri"/>
              </a:rPr>
              <a:t>interference links</a:t>
            </a:r>
          </a:p>
        </p:txBody>
      </p:sp>
      <p:sp>
        <p:nvSpPr>
          <p:cNvPr id="6" name="TextBox 5"/>
          <p:cNvSpPr txBox="1"/>
          <p:nvPr/>
        </p:nvSpPr>
        <p:spPr>
          <a:xfrm>
            <a:off x="5852160" y="3977639"/>
            <a:ext cx="3017520" cy="228600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Scalar Reward (DDPG / TD3)</a:t>
            </a:r>
          </a:p>
          <a:p>
            <a:pPr algn="l">
              <a:lnSpc>
                <a:spcPct val="115000"/>
              </a:lnSpc>
              <a:spcBef>
                <a:spcPts val="200"/>
              </a:spcBef>
              <a:spcAft>
                <a:spcPts val="400"/>
              </a:spcAft>
            </a:pPr>
            <a:r>
              <a:rPr sz="1300">
                <a:solidFill>
                  <a:srgbClr val="1A365D"/>
                </a:solidFill>
                <a:latin typeface="Cambria Math"/>
              </a:rPr>
              <a:t>r = α·R_s − β·max(0, γ_th − SINR_p) − γ_e·(P_s/P_max)</a:t>
            </a:r>
          </a:p>
          <a:p>
            <a:pPr>
              <a:lnSpc>
                <a:spcPct val="115000"/>
              </a:lnSpc>
              <a:spcAft>
                <a:spcPts val="200"/>
              </a:spcAft>
            </a:pPr>
            <a:r>
              <a:rPr sz="1300">
                <a:solidFill>
                  <a:srgbClr val="333333"/>
                </a:solidFill>
                <a:latin typeface="Calibri"/>
              </a:rPr>
              <a:t>• α = 1.0 — SU throughput</a:t>
            </a:r>
          </a:p>
          <a:p>
            <a:pPr>
              <a:lnSpc>
                <a:spcPct val="115000"/>
              </a:lnSpc>
              <a:spcAft>
                <a:spcPts val="200"/>
              </a:spcAft>
            </a:pPr>
            <a:r>
              <a:rPr sz="1300">
                <a:solidFill>
                  <a:srgbClr val="333333"/>
                </a:solidFill>
                <a:latin typeface="Calibri"/>
              </a:rPr>
              <a:t>• β = 1.5 — PU constraint penalty</a:t>
            </a:r>
          </a:p>
          <a:p>
            <a:pPr>
              <a:lnSpc>
                <a:spcPct val="115000"/>
              </a:lnSpc>
              <a:spcAft>
                <a:spcPts val="200"/>
              </a:spcAft>
            </a:pPr>
            <a:r>
              <a:rPr sz="1300">
                <a:solidFill>
                  <a:srgbClr val="333333"/>
                </a:solidFill>
                <a:latin typeface="Calibri"/>
              </a:rPr>
              <a:t>• γ_e = 0.005 — energy penalty</a:t>
            </a:r>
          </a:p>
          <a:p>
            <a:pPr>
              <a:lnSpc>
                <a:spcPct val="115000"/>
              </a:lnSpc>
              <a:spcAft>
                <a:spcPts val="200"/>
              </a:spcAft>
            </a:pPr>
            <a:r>
              <a:rPr sz="1300">
                <a:solidFill>
                  <a:srgbClr val="333333"/>
                </a:solidFill>
                <a:latin typeface="Calibri"/>
              </a:rPr>
              <a:t>The Proposed Algorithm decomposes this scalar into 3 separate signals.</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MDP Formulation for Power Control</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State  s_t  (7-dim, continuous)</a:t>
            </a:r>
          </a:p>
          <a:p>
            <a:pPr algn="l">
              <a:lnSpc>
                <a:spcPct val="115000"/>
              </a:lnSpc>
              <a:spcBef>
                <a:spcPts val="200"/>
              </a:spcBef>
              <a:spcAft>
                <a:spcPts val="400"/>
              </a:spcAft>
            </a:pPr>
            <a:r>
              <a:rPr sz="1300">
                <a:solidFill>
                  <a:srgbClr val="1A365D"/>
                </a:solidFill>
                <a:latin typeface="Cambria Math"/>
              </a:rPr>
              <a:t>s_t = [ |h_pp|², |h_sp|², |h_ss|², |h_ps|², SINR_p, SINR_s, P_s(t−1) ]</a:t>
            </a:r>
          </a:p>
          <a:p>
            <a:pPr>
              <a:lnSpc>
                <a:spcPct val="115000"/>
              </a:lnSpc>
              <a:spcAft>
                <a:spcPts val="200"/>
              </a:spcAft>
            </a:pPr>
            <a:r>
              <a:rPr sz="1300">
                <a:solidFill>
                  <a:srgbClr val="333333"/>
                </a:solidFill>
                <a:latin typeface="Calibri"/>
              </a:rPr>
              <a:t>Four channel gains describe the propagation environment; the two SINRs give immediate feedback from the previous action; P_s(t−1) provides action continuity.</a:t>
            </a:r>
          </a:p>
          <a:p>
            <a:pPr>
              <a:lnSpc>
                <a:spcPct val="115000"/>
              </a:lnSpc>
              <a:spcBef>
                <a:spcPts val="400"/>
              </a:spcBef>
              <a:spcAft>
                <a:spcPts val="200"/>
              </a:spcAft>
            </a:pPr>
            <a:r>
              <a:rPr sz="1400" b="1">
                <a:solidFill>
                  <a:srgbClr val="2C5F8D"/>
                </a:solidFill>
                <a:latin typeface="Calibri"/>
              </a:rPr>
              <a:t>Action  a_t  (1-dim, continuous)</a:t>
            </a:r>
          </a:p>
          <a:p>
            <a:pPr algn="l">
              <a:lnSpc>
                <a:spcPct val="115000"/>
              </a:lnSpc>
              <a:spcBef>
                <a:spcPts val="200"/>
              </a:spcBef>
              <a:spcAft>
                <a:spcPts val="400"/>
              </a:spcAft>
            </a:pPr>
            <a:r>
              <a:rPr sz="1300">
                <a:solidFill>
                  <a:srgbClr val="1A365D"/>
                </a:solidFill>
                <a:latin typeface="Cambria Math"/>
              </a:rPr>
              <a:t>a_t = P_s ∈ [0, P_max]   ,   P_max = 3.0 W</a:t>
            </a:r>
          </a:p>
          <a:p>
            <a:pPr>
              <a:lnSpc>
                <a:spcPct val="115000"/>
              </a:lnSpc>
              <a:spcBef>
                <a:spcPts val="400"/>
              </a:spcBef>
              <a:spcAft>
                <a:spcPts val="200"/>
              </a:spcAft>
            </a:pPr>
            <a:r>
              <a:rPr sz="1400" b="1">
                <a:solidFill>
                  <a:srgbClr val="2C5F8D"/>
                </a:solidFill>
                <a:latin typeface="Calibri"/>
              </a:rPr>
              <a:t>Episode Structure</a:t>
            </a:r>
          </a:p>
          <a:p>
            <a:pPr>
              <a:lnSpc>
                <a:spcPct val="115000"/>
              </a:lnSpc>
              <a:spcAft>
                <a:spcPts val="200"/>
              </a:spcAft>
            </a:pPr>
            <a:r>
              <a:rPr sz="1300">
                <a:solidFill>
                  <a:srgbClr val="333333"/>
                </a:solidFill>
                <a:latin typeface="Calibri"/>
              </a:rPr>
              <a:t>• Episode length: 200 time steps  ·  Training: 1 500 – 3 500 ep/algorithm</a:t>
            </a:r>
          </a:p>
          <a:p>
            <a:pPr>
              <a:lnSpc>
                <a:spcPct val="115000"/>
              </a:lnSpc>
              <a:spcAft>
                <a:spcPts val="200"/>
              </a:spcAft>
            </a:pPr>
            <a:r>
              <a:rPr sz="1300">
                <a:solidFill>
                  <a:srgbClr val="333333"/>
                </a:solidFill>
                <a:latin typeface="Calibri"/>
              </a:rPr>
              <a:t>• Channels are drawn i.i.d. per step ⇒ Markov property holds.</a:t>
            </a:r>
          </a:p>
          <a:p>
            <a:pPr>
              <a:lnSpc>
                <a:spcPct val="115000"/>
              </a:lnSpc>
              <a:spcBef>
                <a:spcPts val="400"/>
              </a:spcBef>
              <a:spcAft>
                <a:spcPts val="200"/>
              </a:spcAft>
            </a:pPr>
            <a:r>
              <a:rPr sz="1400" b="1">
                <a:solidFill>
                  <a:srgbClr val="2C5F8D"/>
                </a:solidFill>
                <a:latin typeface="Calibri"/>
              </a:rPr>
              <a:t>CSI Assumption</a:t>
            </a:r>
          </a:p>
          <a:p>
            <a:pPr>
              <a:lnSpc>
                <a:spcPct val="115000"/>
              </a:lnSpc>
              <a:spcAft>
                <a:spcPts val="200"/>
              </a:spcAft>
            </a:pPr>
            <a:r>
              <a:rPr sz="1300">
                <a:solidFill>
                  <a:srgbClr val="333333"/>
                </a:solidFill>
                <a:latin typeface="Calibri"/>
              </a:rPr>
              <a:t>• This work uses IMPERFECT CSI — the agent observes noisy channel estimates rather than perfect gains. This is the realistic deployment scenario for underlay CRNs.</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Algorithm Evolution — DDPG → TD3 → Proposed</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64008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We progressively addressed limitations of each baseline. The Proposed Algorithm is a constrained, adaptive, multi-objective extension of TD3.</a:t>
            </a:r>
          </a:p>
        </p:txBody>
      </p:sp>
      <p:sp>
        <p:nvSpPr>
          <p:cNvPr id="5" name="Rounded Rectangle 4"/>
          <p:cNvSpPr/>
          <p:nvPr/>
        </p:nvSpPr>
        <p:spPr>
          <a:xfrm>
            <a:off x="457200" y="1828800"/>
            <a:ext cx="2743200" cy="4206240"/>
          </a:xfrm>
          <a:prstGeom prst="roundRect">
            <a:avLst/>
          </a:prstGeom>
          <a:solidFill>
            <a:srgbClr val="F5F7FA"/>
          </a:solidFill>
          <a:ln w="25400">
            <a:solidFill>
              <a:srgbClr val="1A365D"/>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wrap="square"/>
          <a:lstStyle/>
          <a:p>
            <a:pPr algn="ctr"/>
            <a:r>
              <a:rPr sz="1600" b="1">
                <a:solidFill>
                  <a:srgbClr val="1A365D"/>
                </a:solidFill>
                <a:latin typeface="Calibri"/>
              </a:rPr>
              <a:t>DDPG</a:t>
            </a:r>
          </a:p>
          <a:p>
            <a:pPr algn="ctr">
              <a:spcAft>
                <a:spcPts val="800"/>
              </a:spcAft>
            </a:pPr>
            <a:r>
              <a:rPr sz="1200" b="1">
                <a:solidFill>
                  <a:srgbClr val="1A365D"/>
                </a:solidFill>
                <a:latin typeface="Calibri"/>
              </a:rPr>
              <a:t>(Baseline 1)</a:t>
            </a:r>
          </a:p>
          <a:p>
            <a:pPr>
              <a:lnSpc>
                <a:spcPct val="115000"/>
              </a:lnSpc>
              <a:spcAft>
                <a:spcPts val="300"/>
              </a:spcAft>
            </a:pPr>
            <a:r>
              <a:rPr sz="1100">
                <a:solidFill>
                  <a:srgbClr val="333333"/>
                </a:solidFill>
                <a:latin typeface="Calibri"/>
              </a:rPr>
              <a:t>• Single critic</a:t>
            </a:r>
          </a:p>
          <a:p>
            <a:pPr>
              <a:lnSpc>
                <a:spcPct val="115000"/>
              </a:lnSpc>
              <a:spcAft>
                <a:spcPts val="300"/>
              </a:spcAft>
            </a:pPr>
            <a:r>
              <a:rPr sz="1100">
                <a:solidFill>
                  <a:srgbClr val="333333"/>
                </a:solidFill>
                <a:latin typeface="Calibri"/>
              </a:rPr>
              <a:t>• Symmetric OU exploration noise</a:t>
            </a:r>
          </a:p>
          <a:p>
            <a:pPr>
              <a:lnSpc>
                <a:spcPct val="115000"/>
              </a:lnSpc>
              <a:spcAft>
                <a:spcPts val="300"/>
              </a:spcAft>
            </a:pPr>
            <a:r>
              <a:rPr sz="1100">
                <a:solidFill>
                  <a:srgbClr val="333333"/>
                </a:solidFill>
                <a:latin typeface="Calibri"/>
              </a:rPr>
              <a:t>• Actor updated every step</a:t>
            </a:r>
          </a:p>
          <a:p>
            <a:pPr>
              <a:lnSpc>
                <a:spcPct val="115000"/>
              </a:lnSpc>
              <a:spcAft>
                <a:spcPts val="300"/>
              </a:spcAft>
            </a:pPr>
            <a:r>
              <a:rPr sz="1100">
                <a:solidFill>
                  <a:srgbClr val="333333"/>
                </a:solidFill>
                <a:latin typeface="Calibri"/>
              </a:rPr>
              <a:t>• Memoryless 7-D state</a:t>
            </a:r>
          </a:p>
          <a:p>
            <a:pPr>
              <a:lnSpc>
                <a:spcPct val="115000"/>
              </a:lnSpc>
              <a:spcAft>
                <a:spcPts val="300"/>
              </a:spcAft>
            </a:pPr>
            <a:r>
              <a:rPr sz="1100">
                <a:solidFill>
                  <a:srgbClr val="333333"/>
                </a:solidFill>
                <a:latin typeface="Calibri"/>
              </a:rPr>
              <a:t>• Suffers Q-value overestimation</a:t>
            </a:r>
          </a:p>
          <a:p>
            <a:pPr>
              <a:lnSpc>
                <a:spcPct val="115000"/>
              </a:lnSpc>
              <a:spcAft>
                <a:spcPts val="300"/>
              </a:spcAft>
            </a:pPr>
            <a:r>
              <a:rPr sz="1100">
                <a:solidFill>
                  <a:srgbClr val="333333"/>
                </a:solidFill>
                <a:latin typeface="Calibri"/>
              </a:rPr>
              <a:t>• → noisy, often unstable on Nakagami-m=3</a:t>
            </a:r>
          </a:p>
        </p:txBody>
      </p:sp>
      <p:sp>
        <p:nvSpPr>
          <p:cNvPr id="6" name="Rounded Rectangle 5"/>
          <p:cNvSpPr/>
          <p:nvPr/>
        </p:nvSpPr>
        <p:spPr>
          <a:xfrm>
            <a:off x="3337560" y="1828800"/>
            <a:ext cx="2743200" cy="4206240"/>
          </a:xfrm>
          <a:prstGeom prst="roundRect">
            <a:avLst/>
          </a:prstGeom>
          <a:solidFill>
            <a:srgbClr val="F5F7FA"/>
          </a:solidFill>
          <a:ln w="25400">
            <a:solidFill>
              <a:srgbClr val="2C5F8D"/>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wrap="square"/>
          <a:lstStyle/>
          <a:p>
            <a:pPr algn="ctr"/>
            <a:r>
              <a:rPr sz="1600" b="1">
                <a:solidFill>
                  <a:srgbClr val="2C5F8D"/>
                </a:solidFill>
                <a:latin typeface="Calibri"/>
              </a:rPr>
              <a:t>TD3</a:t>
            </a:r>
          </a:p>
          <a:p>
            <a:pPr algn="ctr">
              <a:spcAft>
                <a:spcPts val="800"/>
              </a:spcAft>
            </a:pPr>
            <a:r>
              <a:rPr sz="1200" b="1">
                <a:solidFill>
                  <a:srgbClr val="2C5F8D"/>
                </a:solidFill>
                <a:latin typeface="Calibri"/>
              </a:rPr>
              <a:t>(Baseline 2)</a:t>
            </a:r>
          </a:p>
          <a:p>
            <a:pPr>
              <a:lnSpc>
                <a:spcPct val="115000"/>
              </a:lnSpc>
              <a:spcAft>
                <a:spcPts val="300"/>
              </a:spcAft>
            </a:pPr>
            <a:r>
              <a:rPr sz="1100">
                <a:solidFill>
                  <a:srgbClr val="333333"/>
                </a:solidFill>
                <a:latin typeface="Calibri"/>
              </a:rPr>
              <a:t>• Twin critics → take min of Q1, Q2</a:t>
            </a:r>
          </a:p>
          <a:p>
            <a:pPr>
              <a:lnSpc>
                <a:spcPct val="115000"/>
              </a:lnSpc>
              <a:spcAft>
                <a:spcPts val="300"/>
              </a:spcAft>
            </a:pPr>
            <a:r>
              <a:rPr sz="1100">
                <a:solidFill>
                  <a:srgbClr val="333333"/>
                </a:solidFill>
                <a:latin typeface="Calibri"/>
              </a:rPr>
              <a:t>• Delayed policy updates (every 2 critic steps)</a:t>
            </a:r>
          </a:p>
          <a:p>
            <a:pPr>
              <a:lnSpc>
                <a:spcPct val="115000"/>
              </a:lnSpc>
              <a:spcAft>
                <a:spcPts val="300"/>
              </a:spcAft>
            </a:pPr>
            <a:r>
              <a:rPr sz="1100">
                <a:solidFill>
                  <a:srgbClr val="333333"/>
                </a:solidFill>
                <a:latin typeface="Calibri"/>
              </a:rPr>
              <a:t>• Target policy smoothing (clipped Gaussian)</a:t>
            </a:r>
          </a:p>
          <a:p>
            <a:pPr>
              <a:lnSpc>
                <a:spcPct val="115000"/>
              </a:lnSpc>
              <a:spcAft>
                <a:spcPts val="300"/>
              </a:spcAft>
            </a:pPr>
            <a:r>
              <a:rPr sz="1100">
                <a:solidFill>
                  <a:srgbClr val="333333"/>
                </a:solidFill>
                <a:latin typeface="Calibri"/>
              </a:rPr>
              <a:t>• Polyak target updates (τ = 0.005)</a:t>
            </a:r>
          </a:p>
          <a:p>
            <a:pPr>
              <a:lnSpc>
                <a:spcPct val="115000"/>
              </a:lnSpc>
              <a:spcAft>
                <a:spcPts val="300"/>
              </a:spcAft>
            </a:pPr>
            <a:r>
              <a:rPr sz="1100">
                <a:solidFill>
                  <a:srgbClr val="333333"/>
                </a:solidFill>
                <a:latin typeface="Calibri"/>
              </a:rPr>
              <a:t>• Reduces overestimation bias</a:t>
            </a:r>
          </a:p>
          <a:p>
            <a:pPr>
              <a:lnSpc>
                <a:spcPct val="115000"/>
              </a:lnSpc>
              <a:spcAft>
                <a:spcPts val="300"/>
              </a:spcAft>
            </a:pPr>
            <a:r>
              <a:rPr sz="1100">
                <a:solidFill>
                  <a:srgbClr val="333333"/>
                </a:solidFill>
                <a:latin typeface="Calibri"/>
              </a:rPr>
              <a:t>• → stronger and more stable than DDPG, but still scalar reward</a:t>
            </a:r>
          </a:p>
        </p:txBody>
      </p:sp>
      <p:sp>
        <p:nvSpPr>
          <p:cNvPr id="7" name="Rounded Rectangle 6"/>
          <p:cNvSpPr/>
          <p:nvPr/>
        </p:nvSpPr>
        <p:spPr>
          <a:xfrm>
            <a:off x="6217920" y="1828800"/>
            <a:ext cx="2743200" cy="4206240"/>
          </a:xfrm>
          <a:prstGeom prst="roundRect">
            <a:avLst/>
          </a:prstGeom>
          <a:solidFill>
            <a:srgbClr val="F5F7FA"/>
          </a:solidFill>
          <a:ln w="25400">
            <a:solidFill>
              <a:srgbClr val="0B7A75"/>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137160" wrap="square"/>
          <a:lstStyle/>
          <a:p>
            <a:pPr algn="ctr"/>
            <a:r>
              <a:rPr sz="1600" b="1">
                <a:solidFill>
                  <a:srgbClr val="0B7A75"/>
                </a:solidFill>
                <a:latin typeface="Calibri"/>
              </a:rPr>
              <a:t>Proposed Algorithm</a:t>
            </a:r>
          </a:p>
          <a:p>
            <a:pPr>
              <a:lnSpc>
                <a:spcPct val="115000"/>
              </a:lnSpc>
              <a:spcAft>
                <a:spcPts val="300"/>
              </a:spcAft>
            </a:pPr>
            <a:r>
              <a:rPr sz="1100">
                <a:solidFill>
                  <a:srgbClr val="333333"/>
                </a:solidFill>
                <a:latin typeface="Calibri"/>
              </a:rPr>
              <a:t>• GRU belief encoder — 8-step history</a:t>
            </a:r>
          </a:p>
          <a:p>
            <a:pPr>
              <a:lnSpc>
                <a:spcPct val="115000"/>
              </a:lnSpc>
              <a:spcAft>
                <a:spcPts val="300"/>
              </a:spcAft>
            </a:pPr>
            <a:r>
              <a:rPr sz="1100">
                <a:solidFill>
                  <a:srgbClr val="333333"/>
                </a:solidFill>
                <a:latin typeface="Calibri"/>
              </a:rPr>
              <a:t>• Decomposed multi-objective critics (6 critics)</a:t>
            </a:r>
          </a:p>
          <a:p>
            <a:pPr>
              <a:lnSpc>
                <a:spcPct val="115000"/>
              </a:lnSpc>
              <a:spcAft>
                <a:spcPts val="300"/>
              </a:spcAft>
            </a:pPr>
            <a:r>
              <a:rPr sz="1100">
                <a:solidFill>
                  <a:srgbClr val="333333"/>
                </a:solidFill>
                <a:latin typeface="Calibri"/>
              </a:rPr>
              <a:t>• Adaptive Lagrangian weights (λ₁, λ₂, λ₃)</a:t>
            </a:r>
          </a:p>
          <a:p>
            <a:pPr>
              <a:lnSpc>
                <a:spcPct val="115000"/>
              </a:lnSpc>
              <a:spcAft>
                <a:spcPts val="300"/>
              </a:spcAft>
            </a:pPr>
            <a:r>
              <a:rPr sz="1100">
                <a:solidFill>
                  <a:srgbClr val="333333"/>
                </a:solidFill>
                <a:latin typeface="Calibri"/>
              </a:rPr>
              <a:t>• Directional exploration noise (safe bias)</a:t>
            </a:r>
          </a:p>
          <a:p>
            <a:pPr>
              <a:lnSpc>
                <a:spcPct val="115000"/>
              </a:lnSpc>
              <a:spcAft>
                <a:spcPts val="300"/>
              </a:spcAft>
            </a:pPr>
            <a:r>
              <a:rPr sz="1100">
                <a:solidFill>
                  <a:srgbClr val="333333"/>
                </a:solidFill>
                <a:latin typeface="Calibri"/>
              </a:rPr>
              <a:t>• Explicit constrained optimisation framework</a:t>
            </a:r>
          </a:p>
          <a:p>
            <a:pPr>
              <a:lnSpc>
                <a:spcPct val="115000"/>
              </a:lnSpc>
              <a:spcAft>
                <a:spcPts val="300"/>
              </a:spcAft>
            </a:pPr>
            <a:r>
              <a:rPr sz="1100">
                <a:solidFill>
                  <a:srgbClr val="333333"/>
                </a:solidFill>
                <a:latin typeface="Calibri"/>
              </a:rPr>
              <a:t>• → better PU protection without losing SU throughput</a:t>
            </a:r>
          </a:p>
        </p:txBody>
      </p:sp>
      <p:sp>
        <p:nvSpPr>
          <p:cNvPr id="8" name="Right Arrow 7"/>
          <p:cNvSpPr/>
          <p:nvPr/>
        </p:nvSpPr>
        <p:spPr>
          <a:xfrm>
            <a:off x="3200400" y="3657600"/>
            <a:ext cx="164592" cy="457200"/>
          </a:xfrm>
          <a:prstGeom prst="rightArrow">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6080760" y="3657600"/>
            <a:ext cx="164592" cy="457200"/>
          </a:xfrm>
          <a:prstGeom prst="rightArrow">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Background — DDPG (Deep Deterministic Policy Gradient)</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493776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Core Idea</a:t>
            </a:r>
          </a:p>
          <a:p>
            <a:pPr>
              <a:lnSpc>
                <a:spcPct val="115000"/>
              </a:lnSpc>
              <a:spcAft>
                <a:spcPts val="200"/>
              </a:spcAft>
            </a:pPr>
            <a:r>
              <a:rPr sz="1300">
                <a:solidFill>
                  <a:srgbClr val="333333"/>
                </a:solidFill>
                <a:latin typeface="Calibri"/>
              </a:rPr>
              <a:t>DDPG (Lillicrap et al., 2015) is an actor–critic algorithm for continuous-action MDPs. It pairs a deterministic policy π_φ(s) with a Q-function critic Q_θ(s, a).</a:t>
            </a:r>
          </a:p>
          <a:p>
            <a:pPr>
              <a:lnSpc>
                <a:spcPct val="115000"/>
              </a:lnSpc>
              <a:spcBef>
                <a:spcPts val="400"/>
              </a:spcBef>
              <a:spcAft>
                <a:spcPts val="200"/>
              </a:spcAft>
            </a:pPr>
            <a:r>
              <a:rPr sz="1400" b="1">
                <a:solidFill>
                  <a:srgbClr val="2C5F8D"/>
                </a:solidFill>
                <a:latin typeface="Calibri"/>
              </a:rPr>
              <a:t>Update Equations</a:t>
            </a:r>
          </a:p>
          <a:p>
            <a:pPr algn="l">
              <a:lnSpc>
                <a:spcPct val="115000"/>
              </a:lnSpc>
              <a:spcBef>
                <a:spcPts val="200"/>
              </a:spcBef>
              <a:spcAft>
                <a:spcPts val="400"/>
              </a:spcAft>
            </a:pPr>
            <a:r>
              <a:rPr sz="1300">
                <a:solidFill>
                  <a:srgbClr val="1A365D"/>
                </a:solidFill>
                <a:latin typeface="Cambria Math"/>
              </a:rPr>
              <a:t>y = r + γ · Q_θ′(s′, π_φ′(s′))</a:t>
            </a:r>
          </a:p>
          <a:p>
            <a:pPr algn="l">
              <a:lnSpc>
                <a:spcPct val="115000"/>
              </a:lnSpc>
              <a:spcBef>
                <a:spcPts val="200"/>
              </a:spcBef>
              <a:spcAft>
                <a:spcPts val="400"/>
              </a:spcAft>
            </a:pPr>
            <a:r>
              <a:rPr sz="1300">
                <a:solidFill>
                  <a:srgbClr val="1A365D"/>
                </a:solidFill>
                <a:latin typeface="Cambria Math"/>
              </a:rPr>
              <a:t>L(θ) = E[ (Q_θ(s,a) − y)² ]</a:t>
            </a:r>
          </a:p>
          <a:p>
            <a:pPr algn="l">
              <a:lnSpc>
                <a:spcPct val="115000"/>
              </a:lnSpc>
              <a:spcBef>
                <a:spcPts val="200"/>
              </a:spcBef>
              <a:spcAft>
                <a:spcPts val="400"/>
              </a:spcAft>
            </a:pPr>
            <a:r>
              <a:rPr sz="1300">
                <a:solidFill>
                  <a:srgbClr val="1A365D"/>
                </a:solidFill>
                <a:latin typeface="Cambria Math"/>
              </a:rPr>
              <a:t>∇_φ J ≈ E[ ∇_a Q_θ(s,a)|_{a=π_φ(s)} · ∇_φ π_φ(s) ]</a:t>
            </a:r>
          </a:p>
          <a:p>
            <a:pPr algn="l">
              <a:lnSpc>
                <a:spcPct val="115000"/>
              </a:lnSpc>
              <a:spcBef>
                <a:spcPts val="200"/>
              </a:spcBef>
              <a:spcAft>
                <a:spcPts val="400"/>
              </a:spcAft>
            </a:pPr>
            <a:r>
              <a:rPr sz="1300">
                <a:solidFill>
                  <a:srgbClr val="1A365D"/>
                </a:solidFill>
                <a:latin typeface="Cambria Math"/>
              </a:rPr>
              <a:t>θ′ ← τθ + (1−τ)θ′,   φ′ ← τφ + (1−τ)φ′</a:t>
            </a:r>
          </a:p>
          <a:p>
            <a:pPr>
              <a:lnSpc>
                <a:spcPct val="115000"/>
              </a:lnSpc>
              <a:spcBef>
                <a:spcPts val="400"/>
              </a:spcBef>
              <a:spcAft>
                <a:spcPts val="200"/>
              </a:spcAft>
            </a:pPr>
            <a:r>
              <a:rPr sz="1400" b="1">
                <a:solidFill>
                  <a:srgbClr val="2C5F8D"/>
                </a:solidFill>
                <a:latin typeface="Calibri"/>
              </a:rPr>
              <a:t>Exploration — Ornstein–Uhlenbeck Noise</a:t>
            </a:r>
          </a:p>
          <a:p>
            <a:pPr algn="l">
              <a:lnSpc>
                <a:spcPct val="115000"/>
              </a:lnSpc>
              <a:spcBef>
                <a:spcPts val="200"/>
              </a:spcBef>
              <a:spcAft>
                <a:spcPts val="400"/>
              </a:spcAft>
            </a:pPr>
            <a:r>
              <a:rPr sz="1300">
                <a:solidFill>
                  <a:srgbClr val="1A365D"/>
                </a:solidFill>
                <a:latin typeface="Cambria Math"/>
              </a:rPr>
              <a:t>dx_t = θ(μ − x_t) dt + σ dW_t</a:t>
            </a:r>
          </a:p>
        </p:txBody>
      </p:sp>
      <p:sp>
        <p:nvSpPr>
          <p:cNvPr id="5" name="TextBox 4"/>
          <p:cNvSpPr txBox="1"/>
          <p:nvPr/>
        </p:nvSpPr>
        <p:spPr>
          <a:xfrm>
            <a:off x="5577840" y="1097280"/>
            <a:ext cx="329184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Limitations Observed in CRN</a:t>
            </a:r>
          </a:p>
          <a:p>
            <a:pPr>
              <a:lnSpc>
                <a:spcPct val="115000"/>
              </a:lnSpc>
              <a:spcAft>
                <a:spcPts val="200"/>
              </a:spcAft>
            </a:pPr>
            <a:r>
              <a:rPr sz="1300">
                <a:solidFill>
                  <a:srgbClr val="333333"/>
                </a:solidFill>
                <a:latin typeface="Calibri"/>
              </a:rPr>
              <a:t>• Single critic ⇒ Q-value overestimation, unstable.</a:t>
            </a:r>
          </a:p>
          <a:p>
            <a:pPr>
              <a:lnSpc>
                <a:spcPct val="115000"/>
              </a:lnSpc>
              <a:spcAft>
                <a:spcPts val="200"/>
              </a:spcAft>
            </a:pPr>
            <a:r>
              <a:rPr sz="1300">
                <a:solidFill>
                  <a:srgbClr val="333333"/>
                </a:solidFill>
                <a:latin typeface="Calibri"/>
              </a:rPr>
              <a:t>• OU noise sometimes drives P_s to extremes → high outage early on.</a:t>
            </a:r>
          </a:p>
          <a:p>
            <a:pPr>
              <a:lnSpc>
                <a:spcPct val="115000"/>
              </a:lnSpc>
              <a:spcAft>
                <a:spcPts val="200"/>
              </a:spcAft>
            </a:pPr>
            <a:r>
              <a:rPr sz="1300">
                <a:solidFill>
                  <a:srgbClr val="333333"/>
                </a:solidFill>
                <a:latin typeface="Calibri"/>
              </a:rPr>
              <a:t>• No constraint mechanism — relies on penalty term.</a:t>
            </a:r>
          </a:p>
          <a:p>
            <a:pPr>
              <a:lnSpc>
                <a:spcPct val="115000"/>
              </a:lnSpc>
              <a:spcAft>
                <a:spcPts val="200"/>
              </a:spcAft>
            </a:pPr>
            <a:r>
              <a:rPr sz="1300">
                <a:solidFill>
                  <a:srgbClr val="333333"/>
                </a:solidFill>
                <a:latin typeface="Calibri"/>
              </a:rPr>
              <a:t>• Sensitive to learning rate and (α, β, γ) tuning.</a:t>
            </a:r>
          </a:p>
          <a:p>
            <a:pPr>
              <a:lnSpc>
                <a:spcPct val="115000"/>
              </a:lnSpc>
              <a:spcBef>
                <a:spcPts val="400"/>
              </a:spcBef>
              <a:spcAft>
                <a:spcPts val="200"/>
              </a:spcAft>
            </a:pPr>
            <a:r>
              <a:rPr sz="1400" b="1">
                <a:solidFill>
                  <a:srgbClr val="2C5F8D"/>
                </a:solidFill>
                <a:latin typeface="Calibri"/>
              </a:rPr>
              <a:t>Inference</a:t>
            </a:r>
          </a:p>
          <a:p>
            <a:pPr>
              <a:lnSpc>
                <a:spcPct val="115000"/>
              </a:lnSpc>
              <a:spcAft>
                <a:spcPts val="200"/>
              </a:spcAft>
            </a:pPr>
            <a:r>
              <a:rPr sz="1300">
                <a:solidFill>
                  <a:srgbClr val="333333"/>
                </a:solidFill>
                <a:latin typeface="Calibri"/>
              </a:rPr>
              <a:t>DDPG is a valid baseline but its instability under Nakagami-m fading motivated the move to TD3.</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TD3 — Twin Delayed DDPG</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493776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Three Tricks (Fujimoto et al., 2018)</a:t>
            </a:r>
          </a:p>
          <a:p>
            <a:pPr>
              <a:lnSpc>
                <a:spcPct val="115000"/>
              </a:lnSpc>
              <a:spcAft>
                <a:spcPts val="200"/>
              </a:spcAft>
            </a:pPr>
            <a:r>
              <a:rPr sz="1300" b="1">
                <a:solidFill>
                  <a:srgbClr val="1A365D"/>
                </a:solidFill>
                <a:latin typeface="Calibri"/>
              </a:rPr>
              <a:t>• 1. Twin critics —</a:t>
            </a:r>
            <a:r>
              <a:rPr sz="1300">
                <a:solidFill>
                  <a:srgbClr val="333333"/>
                </a:solidFill>
                <a:latin typeface="Calibri"/>
              </a:rPr>
              <a:t> two Q-nets; use min(Q1, Q2) in target.</a:t>
            </a:r>
          </a:p>
          <a:p>
            <a:pPr>
              <a:lnSpc>
                <a:spcPct val="115000"/>
              </a:lnSpc>
              <a:spcAft>
                <a:spcPts val="200"/>
              </a:spcAft>
            </a:pPr>
            <a:r>
              <a:rPr sz="1300" b="1">
                <a:solidFill>
                  <a:srgbClr val="1A365D"/>
                </a:solidFill>
                <a:latin typeface="Calibri"/>
              </a:rPr>
              <a:t>• 2. Delayed policy updates —</a:t>
            </a:r>
            <a:r>
              <a:rPr sz="1300">
                <a:solidFill>
                  <a:srgbClr val="333333"/>
                </a:solidFill>
                <a:latin typeface="Calibri"/>
              </a:rPr>
              <a:t> actor updated every d = 2 critic steps.</a:t>
            </a:r>
          </a:p>
          <a:p>
            <a:pPr>
              <a:lnSpc>
                <a:spcPct val="115000"/>
              </a:lnSpc>
              <a:spcAft>
                <a:spcPts val="200"/>
              </a:spcAft>
            </a:pPr>
            <a:r>
              <a:rPr sz="1300" b="1">
                <a:solidFill>
                  <a:srgbClr val="1A365D"/>
                </a:solidFill>
                <a:latin typeface="Calibri"/>
              </a:rPr>
              <a:t>• 3. Target policy smoothing —</a:t>
            </a:r>
            <a:r>
              <a:rPr sz="1300">
                <a:solidFill>
                  <a:srgbClr val="333333"/>
                </a:solidFill>
                <a:latin typeface="Calibri"/>
              </a:rPr>
              <a:t> add clipped Gaussian noise to target action.</a:t>
            </a:r>
          </a:p>
          <a:p>
            <a:pPr>
              <a:lnSpc>
                <a:spcPct val="115000"/>
              </a:lnSpc>
              <a:spcBef>
                <a:spcPts val="400"/>
              </a:spcBef>
              <a:spcAft>
                <a:spcPts val="200"/>
              </a:spcAft>
            </a:pPr>
            <a:r>
              <a:rPr sz="1400" b="1">
                <a:solidFill>
                  <a:srgbClr val="2C5F8D"/>
                </a:solidFill>
                <a:latin typeface="Calibri"/>
              </a:rPr>
              <a:t>Update Equations</a:t>
            </a:r>
          </a:p>
          <a:p>
            <a:pPr algn="l">
              <a:lnSpc>
                <a:spcPct val="115000"/>
              </a:lnSpc>
              <a:spcBef>
                <a:spcPts val="200"/>
              </a:spcBef>
              <a:spcAft>
                <a:spcPts val="400"/>
              </a:spcAft>
            </a:pPr>
            <a:r>
              <a:rPr sz="1300">
                <a:solidFill>
                  <a:srgbClr val="1A365D"/>
                </a:solidFill>
                <a:latin typeface="Cambria Math"/>
              </a:rPr>
              <a:t>a′ = clip(π_φ′(s′) + ε, 0, P_max),   ε ~ clip(N(0, σ²), −c, +c)</a:t>
            </a:r>
          </a:p>
          <a:p>
            <a:pPr algn="l">
              <a:lnSpc>
                <a:spcPct val="115000"/>
              </a:lnSpc>
              <a:spcBef>
                <a:spcPts val="200"/>
              </a:spcBef>
              <a:spcAft>
                <a:spcPts val="400"/>
              </a:spcAft>
            </a:pPr>
            <a:r>
              <a:rPr sz="1300">
                <a:solidFill>
                  <a:srgbClr val="1A365D"/>
                </a:solidFill>
                <a:latin typeface="Cambria Math"/>
              </a:rPr>
              <a:t>y = r + γ · min_{i=1,2} Q_{θ_i′}(s′, a′)</a:t>
            </a:r>
          </a:p>
          <a:p>
            <a:pPr algn="l">
              <a:lnSpc>
                <a:spcPct val="115000"/>
              </a:lnSpc>
              <a:spcBef>
                <a:spcPts val="200"/>
              </a:spcBef>
              <a:spcAft>
                <a:spcPts val="400"/>
              </a:spcAft>
            </a:pPr>
            <a:r>
              <a:rPr sz="1300">
                <a:solidFill>
                  <a:srgbClr val="1A365D"/>
                </a:solidFill>
                <a:latin typeface="Cambria Math"/>
              </a:rPr>
              <a:t>L(θ_i) = E[(Q_{θ_i}(s,a) − y)²]</a:t>
            </a:r>
          </a:p>
        </p:txBody>
      </p:sp>
      <p:sp>
        <p:nvSpPr>
          <p:cNvPr id="5" name="TextBox 4"/>
          <p:cNvSpPr txBox="1"/>
          <p:nvPr/>
        </p:nvSpPr>
        <p:spPr>
          <a:xfrm>
            <a:off x="5577840" y="1097280"/>
            <a:ext cx="329184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Why TD3 Beats DDPG Here</a:t>
            </a:r>
          </a:p>
          <a:p>
            <a:pPr>
              <a:lnSpc>
                <a:spcPct val="115000"/>
              </a:lnSpc>
              <a:spcAft>
                <a:spcPts val="200"/>
              </a:spcAft>
            </a:pPr>
            <a:r>
              <a:rPr sz="1300">
                <a:solidFill>
                  <a:srgbClr val="333333"/>
                </a:solidFill>
                <a:latin typeface="Calibri"/>
              </a:rPr>
              <a:t>• min(Q1, Q2) eliminates DDPG's positive bias.</a:t>
            </a:r>
          </a:p>
          <a:p>
            <a:pPr>
              <a:lnSpc>
                <a:spcPct val="115000"/>
              </a:lnSpc>
              <a:spcAft>
                <a:spcPts val="200"/>
              </a:spcAft>
            </a:pPr>
            <a:r>
              <a:rPr sz="1300">
                <a:solidFill>
                  <a:srgbClr val="333333"/>
                </a:solidFill>
                <a:latin typeface="Calibri"/>
              </a:rPr>
              <a:t>• Delayed actor updates → fewer noisy gradients.</a:t>
            </a:r>
          </a:p>
          <a:p>
            <a:pPr>
              <a:lnSpc>
                <a:spcPct val="115000"/>
              </a:lnSpc>
              <a:spcAft>
                <a:spcPts val="200"/>
              </a:spcAft>
            </a:pPr>
            <a:r>
              <a:rPr sz="1300">
                <a:solidFill>
                  <a:srgbClr val="333333"/>
                </a:solidFill>
                <a:latin typeface="Calibri"/>
              </a:rPr>
              <a:t>• Smoothing noise → robustness to function-approx error.</a:t>
            </a:r>
          </a:p>
          <a:p>
            <a:pPr>
              <a:lnSpc>
                <a:spcPct val="115000"/>
              </a:lnSpc>
              <a:spcBef>
                <a:spcPts val="400"/>
              </a:spcBef>
              <a:spcAft>
                <a:spcPts val="200"/>
              </a:spcAft>
            </a:pPr>
            <a:r>
              <a:rPr sz="1400" b="1">
                <a:solidFill>
                  <a:srgbClr val="2C5F8D"/>
                </a:solidFill>
                <a:latin typeface="Calibri"/>
              </a:rPr>
              <a:t>Remaining Limitations</a:t>
            </a:r>
          </a:p>
          <a:p>
            <a:pPr>
              <a:lnSpc>
                <a:spcPct val="115000"/>
              </a:lnSpc>
              <a:spcAft>
                <a:spcPts val="200"/>
              </a:spcAft>
            </a:pPr>
            <a:r>
              <a:rPr sz="1300">
                <a:solidFill>
                  <a:srgbClr val="333333"/>
                </a:solidFill>
                <a:latin typeface="Calibri"/>
              </a:rPr>
              <a:t>• Scalar reward (α, β, γ fixed).</a:t>
            </a:r>
          </a:p>
          <a:p>
            <a:pPr>
              <a:lnSpc>
                <a:spcPct val="115000"/>
              </a:lnSpc>
              <a:spcAft>
                <a:spcPts val="200"/>
              </a:spcAft>
            </a:pPr>
            <a:r>
              <a:rPr sz="1300">
                <a:solidFill>
                  <a:srgbClr val="333333"/>
                </a:solidFill>
                <a:latin typeface="Calibri"/>
              </a:rPr>
              <a:t>• No constraint guarantee.</a:t>
            </a:r>
          </a:p>
          <a:p>
            <a:pPr>
              <a:lnSpc>
                <a:spcPct val="115000"/>
              </a:lnSpc>
              <a:spcAft>
                <a:spcPts val="200"/>
              </a:spcAft>
            </a:pPr>
            <a:r>
              <a:rPr sz="1300">
                <a:solidFill>
                  <a:srgbClr val="333333"/>
                </a:solidFill>
                <a:latin typeface="Calibri"/>
              </a:rPr>
              <a:t>• Memoryless state — no temporal context.</a:t>
            </a:r>
          </a:p>
          <a:p>
            <a:pPr>
              <a:lnSpc>
                <a:spcPct val="115000"/>
              </a:lnSpc>
              <a:spcAft>
                <a:spcPts val="200"/>
              </a:spcAft>
            </a:pPr>
            <a:r>
              <a:rPr sz="1300">
                <a:solidFill>
                  <a:srgbClr val="333333"/>
                </a:solidFill>
                <a:latin typeface="Calibri"/>
              </a:rPr>
              <a:t>• Symmetric noise wastes safe-side exploration.</a:t>
            </a:r>
          </a:p>
          <a:p>
            <a:pPr>
              <a:lnSpc>
                <a:spcPct val="115000"/>
              </a:lnSpc>
              <a:spcBef>
                <a:spcPts val="400"/>
              </a:spcBef>
              <a:spcAft>
                <a:spcPts val="200"/>
              </a:spcAft>
            </a:pPr>
            <a:r>
              <a:rPr sz="1400" b="1">
                <a:solidFill>
                  <a:srgbClr val="2C5F8D"/>
                </a:solidFill>
                <a:latin typeface="Calibri"/>
              </a:rPr>
              <a:t>Inference</a:t>
            </a:r>
          </a:p>
          <a:p>
            <a:pPr>
              <a:lnSpc>
                <a:spcPct val="115000"/>
              </a:lnSpc>
              <a:spcAft>
                <a:spcPts val="200"/>
              </a:spcAft>
            </a:pPr>
            <a:r>
              <a:rPr sz="1300">
                <a:solidFill>
                  <a:srgbClr val="333333"/>
                </a:solidFill>
                <a:latin typeface="Calibri"/>
              </a:rPr>
              <a:t>TD3 was stable and accurate, but constraint adherence remained weight-dependent — leading us to the Proposed Algorithm.</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Proposed Algorithm — Overview</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82296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The Proposed Algorithm modifies standard TD3 with four targeted innovations that address the multi-objective constrained nature of CRN power control.</a:t>
            </a:r>
          </a:p>
        </p:txBody>
      </p:sp>
      <p:sp>
        <p:nvSpPr>
          <p:cNvPr id="5" name="Rounded Rectangle 4"/>
          <p:cNvSpPr/>
          <p:nvPr/>
        </p:nvSpPr>
        <p:spPr>
          <a:xfrm>
            <a:off x="457200" y="2011680"/>
            <a:ext cx="4023360" cy="2194560"/>
          </a:xfrm>
          <a:prstGeom prst="roundRect">
            <a:avLst/>
          </a:prstGeom>
          <a:solidFill>
            <a:srgbClr val="F5F7FA"/>
          </a:solidFill>
          <a:ln w="19050">
            <a:solidFill>
              <a:srgbClr val="0B7A75"/>
            </a:solidFill>
          </a:ln>
          <a:effectLst/>
        </p:spPr>
        <p:style>
          <a:lnRef idx="1">
            <a:schemeClr val="accent1"/>
          </a:lnRef>
          <a:fillRef idx="3">
            <a:schemeClr val="accent1"/>
          </a:fillRef>
          <a:effectRef idx="2">
            <a:schemeClr val="accent1"/>
          </a:effectRef>
          <a:fontRef idx="minor">
            <a:schemeClr val="lt1"/>
          </a:fontRef>
        </p:style>
        <p:txBody>
          <a:bodyPr rtlCol="0" anchor="t" lIns="164592" rIns="164592" tIns="164592" wrap="square"/>
          <a:lstStyle/>
          <a:p>
            <a:pPr algn="ctr"/>
            <a:r>
              <a:rPr sz="1600" b="1">
                <a:solidFill>
                  <a:srgbClr val="0B7A75"/>
                </a:solidFill>
                <a:latin typeface="Calibri"/>
              </a:rPr>
              <a:t>1. GRU Belief Encoder</a:t>
            </a:r>
          </a:p>
          <a:p>
            <a:pPr>
              <a:spcBef>
                <a:spcPts val="800"/>
              </a:spcBef>
            </a:pPr>
            <a:r>
              <a:rPr sz="1300">
                <a:solidFill>
                  <a:srgbClr val="333333"/>
                </a:solidFill>
                <a:latin typeface="Calibri"/>
              </a:rPr>
              <a:t>Encodes the last 8 observations with a 2-layer GRU into a 16-D belief vector. Provides temporal context that the standard 7-D Markov state cannot.</a:t>
            </a:r>
          </a:p>
        </p:txBody>
      </p:sp>
      <p:sp>
        <p:nvSpPr>
          <p:cNvPr id="6" name="Rounded Rectangle 5"/>
          <p:cNvSpPr/>
          <p:nvPr/>
        </p:nvSpPr>
        <p:spPr>
          <a:xfrm>
            <a:off x="4663440" y="2011680"/>
            <a:ext cx="4023360" cy="2194560"/>
          </a:xfrm>
          <a:prstGeom prst="roundRect">
            <a:avLst/>
          </a:prstGeom>
          <a:solidFill>
            <a:srgbClr val="F5F7FA"/>
          </a:solidFill>
          <a:ln w="19050">
            <a:solidFill>
              <a:srgbClr val="2C5F8D"/>
            </a:solidFill>
          </a:ln>
          <a:effectLst/>
        </p:spPr>
        <p:style>
          <a:lnRef idx="1">
            <a:schemeClr val="accent1"/>
          </a:lnRef>
          <a:fillRef idx="3">
            <a:schemeClr val="accent1"/>
          </a:fillRef>
          <a:effectRef idx="2">
            <a:schemeClr val="accent1"/>
          </a:effectRef>
          <a:fontRef idx="minor">
            <a:schemeClr val="lt1"/>
          </a:fontRef>
        </p:style>
        <p:txBody>
          <a:bodyPr rtlCol="0" anchor="t" lIns="164592" rIns="164592" tIns="164592" wrap="square"/>
          <a:lstStyle/>
          <a:p>
            <a:pPr algn="ctr"/>
            <a:r>
              <a:rPr sz="1600" b="1">
                <a:solidFill>
                  <a:srgbClr val="2C5F8D"/>
                </a:solidFill>
                <a:latin typeface="Calibri"/>
              </a:rPr>
              <a:t>2. Decomposed Multi-Objective Critics</a:t>
            </a:r>
          </a:p>
          <a:p>
            <a:pPr>
              <a:spcBef>
                <a:spcPts val="800"/>
              </a:spcBef>
            </a:pPr>
            <a:r>
              <a:rPr sz="1300">
                <a:solidFill>
                  <a:srgbClr val="333333"/>
                </a:solidFill>
                <a:latin typeface="Calibri"/>
              </a:rPr>
              <a:t>Twin critics per objective (throughput, interference, energy) — 6 critics total. Each learns a clean per-objective Q-value, enabling explicit trade-offs.</a:t>
            </a:r>
          </a:p>
        </p:txBody>
      </p:sp>
      <p:sp>
        <p:nvSpPr>
          <p:cNvPr id="7" name="Rounded Rectangle 6"/>
          <p:cNvSpPr/>
          <p:nvPr/>
        </p:nvSpPr>
        <p:spPr>
          <a:xfrm>
            <a:off x="457200" y="4389120"/>
            <a:ext cx="4023360" cy="2194560"/>
          </a:xfrm>
          <a:prstGeom prst="roundRect">
            <a:avLst/>
          </a:prstGeom>
          <a:solidFill>
            <a:srgbClr val="F5F7FA"/>
          </a:solidFill>
          <a:ln w="19050">
            <a:solidFill>
              <a:srgbClr val="1A365D"/>
            </a:solidFill>
          </a:ln>
          <a:effectLst/>
        </p:spPr>
        <p:style>
          <a:lnRef idx="1">
            <a:schemeClr val="accent1"/>
          </a:lnRef>
          <a:fillRef idx="3">
            <a:schemeClr val="accent1"/>
          </a:fillRef>
          <a:effectRef idx="2">
            <a:schemeClr val="accent1"/>
          </a:effectRef>
          <a:fontRef idx="minor">
            <a:schemeClr val="lt1"/>
          </a:fontRef>
        </p:style>
        <p:txBody>
          <a:bodyPr rtlCol="0" anchor="t" lIns="164592" rIns="164592" tIns="164592" wrap="square"/>
          <a:lstStyle/>
          <a:p>
            <a:pPr algn="ctr"/>
            <a:r>
              <a:rPr sz="1600" b="1">
                <a:solidFill>
                  <a:srgbClr val="1A365D"/>
                </a:solidFill>
                <a:latin typeface="Calibri"/>
              </a:rPr>
              <a:t>3. Adaptive Lagrangian Weights</a:t>
            </a:r>
          </a:p>
          <a:p>
            <a:pPr>
              <a:spcBef>
                <a:spcPts val="800"/>
              </a:spcBef>
            </a:pPr>
            <a:r>
              <a:rPr sz="1300">
                <a:solidFill>
                  <a:srgbClr val="333333"/>
                </a:solidFill>
                <a:latin typeface="Calibri"/>
              </a:rPr>
              <a:t>λ₁, λ₂, λ₃ learned by dual gradient descent — no more hand-tuning of α, β, γ. Clamped to [0.1, 20.0] for stability.</a:t>
            </a:r>
          </a:p>
        </p:txBody>
      </p:sp>
      <p:sp>
        <p:nvSpPr>
          <p:cNvPr id="8" name="Rounded Rectangle 7"/>
          <p:cNvSpPr/>
          <p:nvPr/>
        </p:nvSpPr>
        <p:spPr>
          <a:xfrm>
            <a:off x="4663440" y="4389120"/>
            <a:ext cx="4023360" cy="2194560"/>
          </a:xfrm>
          <a:prstGeom prst="roundRect">
            <a:avLst/>
          </a:prstGeom>
          <a:solidFill>
            <a:srgbClr val="F5F7FA"/>
          </a:solidFill>
          <a:ln w="19050">
            <a:solidFill>
              <a:srgbClr val="C88B00"/>
            </a:solidFill>
          </a:ln>
          <a:effectLst/>
        </p:spPr>
        <p:style>
          <a:lnRef idx="1">
            <a:schemeClr val="accent1"/>
          </a:lnRef>
          <a:fillRef idx="3">
            <a:schemeClr val="accent1"/>
          </a:fillRef>
          <a:effectRef idx="2">
            <a:schemeClr val="accent1"/>
          </a:effectRef>
          <a:fontRef idx="minor">
            <a:schemeClr val="lt1"/>
          </a:fontRef>
        </p:style>
        <p:txBody>
          <a:bodyPr rtlCol="0" anchor="t" lIns="164592" rIns="164592" tIns="164592" wrap="square"/>
          <a:lstStyle/>
          <a:p>
            <a:pPr algn="ctr"/>
            <a:r>
              <a:rPr sz="1600" b="1">
                <a:solidFill>
                  <a:srgbClr val="C88B00"/>
                </a:solidFill>
                <a:latin typeface="Calibri"/>
              </a:rPr>
              <a:t>4. Directional Exploration Noise</a:t>
            </a:r>
          </a:p>
          <a:p>
            <a:pPr>
              <a:spcBef>
                <a:spcPts val="800"/>
              </a:spcBef>
            </a:pPr>
            <a:r>
              <a:rPr sz="1300">
                <a:solidFill>
                  <a:srgbClr val="333333"/>
                </a:solidFill>
                <a:latin typeface="Calibri"/>
              </a:rPr>
              <a:t>Biased Gaussian whose mean μ pushes actions toward safer (lower-power) regions when PU violations are frequent.</a:t>
            </a:r>
          </a:p>
        </p:txBody>
      </p:sp>
      <p:sp>
        <p:nvSpPr>
          <p:cNvPr id="9" name="TextBox 8"/>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Proposed Algorithm — GRU Belief Encoder &amp; Decomposed Critics</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420624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1. GRU Belief Encoder</a:t>
            </a:r>
          </a:p>
          <a:p>
            <a:pPr>
              <a:lnSpc>
                <a:spcPct val="115000"/>
              </a:lnSpc>
              <a:spcAft>
                <a:spcPts val="200"/>
              </a:spcAft>
            </a:pPr>
            <a:r>
              <a:rPr sz="1300">
                <a:solidFill>
                  <a:srgbClr val="333333"/>
                </a:solidFill>
                <a:latin typeface="Calibri"/>
              </a:rPr>
              <a:t>Encodes the last SEQ_LEN = 8 observations via a 2-layer GRU (hidden 64) into a 16-D belief vector b_t. Captures temporal channel trends the static 7-D state cannot.</a:t>
            </a:r>
          </a:p>
          <a:p>
            <a:pPr algn="l">
              <a:lnSpc>
                <a:spcPct val="115000"/>
              </a:lnSpc>
              <a:spcBef>
                <a:spcPts val="200"/>
              </a:spcBef>
              <a:spcAft>
                <a:spcPts val="400"/>
              </a:spcAft>
            </a:pPr>
            <a:r>
              <a:rPr sz="1300">
                <a:solidFill>
                  <a:srgbClr val="1A365D"/>
                </a:solidFill>
                <a:latin typeface="Cambria Math"/>
              </a:rPr>
              <a:t>O_t = [s_{t−7}, …, s_{t−1}, s_t]  (8 × 7)</a:t>
            </a:r>
          </a:p>
          <a:p>
            <a:pPr algn="l">
              <a:lnSpc>
                <a:spcPct val="115000"/>
              </a:lnSpc>
              <a:spcBef>
                <a:spcPts val="200"/>
              </a:spcBef>
              <a:spcAft>
                <a:spcPts val="400"/>
              </a:spcAft>
            </a:pPr>
            <a:r>
              <a:rPr sz="1300">
                <a:solidFill>
                  <a:srgbClr val="1A365D"/>
                </a:solidFill>
                <a:latin typeface="Cambria Math"/>
              </a:rPr>
              <a:t>h_i = (1 − z_i)⊙h_{i−1} + z_i⊙ñ_i</a:t>
            </a:r>
          </a:p>
          <a:p>
            <a:pPr algn="l">
              <a:lnSpc>
                <a:spcPct val="115000"/>
              </a:lnSpc>
              <a:spcBef>
                <a:spcPts val="200"/>
              </a:spcBef>
              <a:spcAft>
                <a:spcPts val="400"/>
              </a:spcAft>
            </a:pPr>
            <a:r>
              <a:rPr sz="1300">
                <a:solidFill>
                  <a:srgbClr val="1A365D"/>
                </a:solidFill>
                <a:latin typeface="Cambria Math"/>
              </a:rPr>
              <a:t>b_t = W_proj · h_L + c_proj   ∈ ℝ¹⁶</a:t>
            </a:r>
          </a:p>
          <a:p>
            <a:pPr>
              <a:lnSpc>
                <a:spcPct val="115000"/>
              </a:lnSpc>
              <a:spcAft>
                <a:spcPts val="200"/>
              </a:spcAft>
            </a:pPr>
            <a:r>
              <a:rPr sz="1300">
                <a:solidFill>
                  <a:srgbClr val="333333"/>
                </a:solidFill>
                <a:latin typeface="Calibri"/>
              </a:rPr>
              <a:t>Actor and critics consume the concatenation [s_t, b_t].</a:t>
            </a:r>
          </a:p>
        </p:txBody>
      </p:sp>
      <p:sp>
        <p:nvSpPr>
          <p:cNvPr id="5" name="TextBox 4"/>
          <p:cNvSpPr txBox="1"/>
          <p:nvPr/>
        </p:nvSpPr>
        <p:spPr>
          <a:xfrm>
            <a:off x="4846320" y="1097280"/>
            <a:ext cx="402336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2. Decomposed Multi-Objective Critics</a:t>
            </a:r>
          </a:p>
          <a:p>
            <a:pPr>
              <a:lnSpc>
                <a:spcPct val="115000"/>
              </a:lnSpc>
              <a:spcAft>
                <a:spcPts val="200"/>
              </a:spcAft>
            </a:pPr>
            <a:r>
              <a:rPr sz="1300">
                <a:solidFill>
                  <a:srgbClr val="333333"/>
                </a:solidFill>
                <a:latin typeface="Calibri"/>
              </a:rPr>
              <a:t>Replace the single scalar critic with twin critics per objective:</a:t>
            </a:r>
          </a:p>
          <a:p>
            <a:pPr algn="l">
              <a:lnSpc>
                <a:spcPct val="115000"/>
              </a:lnSpc>
              <a:spcBef>
                <a:spcPts val="200"/>
              </a:spcBef>
              <a:spcAft>
                <a:spcPts val="400"/>
              </a:spcAft>
            </a:pPr>
            <a:r>
              <a:rPr sz="1300">
                <a:solidFill>
                  <a:srgbClr val="1A365D"/>
                </a:solidFill>
                <a:latin typeface="Cambria Math"/>
              </a:rPr>
              <a:t>r_t = ( r_t^{tput} , r_t^{intf} , r_t^{energy} )</a:t>
            </a:r>
          </a:p>
          <a:p>
            <a:pPr>
              <a:lnSpc>
                <a:spcPct val="115000"/>
              </a:lnSpc>
              <a:spcAft>
                <a:spcPts val="200"/>
              </a:spcAft>
            </a:pPr>
            <a:r>
              <a:rPr sz="1300">
                <a:solidFill>
                  <a:srgbClr val="333333"/>
                </a:solidFill>
                <a:latin typeface="Calibri"/>
              </a:rPr>
              <a:t>• r^{tput}   =  α · log₂(1 + SINR_s)</a:t>
            </a:r>
          </a:p>
          <a:p>
            <a:pPr>
              <a:lnSpc>
                <a:spcPct val="115000"/>
              </a:lnSpc>
              <a:spcAft>
                <a:spcPts val="200"/>
              </a:spcAft>
            </a:pPr>
            <a:r>
              <a:rPr sz="1300">
                <a:solidFill>
                  <a:srgbClr val="333333"/>
                </a:solidFill>
                <a:latin typeface="Calibri"/>
              </a:rPr>
              <a:t>• r^{intf}   = − β · max(0, γ_th − SINR_p)</a:t>
            </a:r>
          </a:p>
          <a:p>
            <a:pPr>
              <a:lnSpc>
                <a:spcPct val="115000"/>
              </a:lnSpc>
              <a:spcAft>
                <a:spcPts val="200"/>
              </a:spcAft>
            </a:pPr>
            <a:r>
              <a:rPr sz="1300">
                <a:solidFill>
                  <a:srgbClr val="333333"/>
                </a:solidFill>
                <a:latin typeface="Calibri"/>
              </a:rPr>
              <a:t>• r^{energy} = − γ_e · (P_s / P_max)</a:t>
            </a:r>
          </a:p>
          <a:p>
            <a:pPr algn="l">
              <a:lnSpc>
                <a:spcPct val="115000"/>
              </a:lnSpc>
              <a:spcBef>
                <a:spcPts val="200"/>
              </a:spcBef>
              <a:spcAft>
                <a:spcPts val="400"/>
              </a:spcAft>
            </a:pPr>
            <a:r>
              <a:rPr sz="1300">
                <a:solidFill>
                  <a:srgbClr val="1A365D"/>
                </a:solidFill>
                <a:latin typeface="Cambria Math"/>
              </a:rPr>
              <a:t>y_k = r_t^k + γ · min_{j=1,2} Q_{θ_j,k}′(s′, b′, ã′)</a:t>
            </a:r>
          </a:p>
          <a:p>
            <a:pPr algn="l">
              <a:lnSpc>
                <a:spcPct val="115000"/>
              </a:lnSpc>
              <a:spcBef>
                <a:spcPts val="200"/>
              </a:spcBef>
              <a:spcAft>
                <a:spcPts val="400"/>
              </a:spcAft>
            </a:pPr>
            <a:r>
              <a:rPr sz="1300">
                <a:solidFill>
                  <a:srgbClr val="1A365D"/>
                </a:solidFill>
                <a:latin typeface="Cambria Math"/>
              </a:rPr>
              <a:t>L_k = Σ_i E [ (Q_{θ_i,k}(s,b,a) − y_k)² ]</a:t>
            </a:r>
          </a:p>
          <a:p>
            <a:pPr>
              <a:lnSpc>
                <a:spcPct val="115000"/>
              </a:lnSpc>
              <a:spcAft>
                <a:spcPts val="200"/>
              </a:spcAft>
            </a:pPr>
            <a:r>
              <a:rPr sz="1300">
                <a:solidFill>
                  <a:srgbClr val="333333"/>
                </a:solidFill>
                <a:latin typeface="Calibri"/>
              </a:rPr>
              <a:t>⇒ 6 critic networks (twin × 3 objectives).</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200" b="1">
                <a:solidFill>
                  <a:srgbClr val="1A365D"/>
                </a:solidFill>
                <a:latin typeface="Calibri"/>
              </a:rPr>
              <a:t>Proposed Algorithm — Adaptive Lagrangians &amp; Directional Noise</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420624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3. Adaptive Lagrangian Weights</a:t>
            </a:r>
          </a:p>
          <a:p>
            <a:pPr>
              <a:lnSpc>
                <a:spcPct val="115000"/>
              </a:lnSpc>
              <a:spcAft>
                <a:spcPts val="200"/>
              </a:spcAft>
            </a:pPr>
            <a:r>
              <a:rPr sz="1300">
                <a:solidFill>
                  <a:srgbClr val="333333"/>
                </a:solidFill>
                <a:latin typeface="Calibri"/>
              </a:rPr>
              <a:t>Primal: maximise SU throughput, subject to PU SINR and energy constraints. Dual formulation:</a:t>
            </a:r>
          </a:p>
          <a:p>
            <a:pPr algn="l">
              <a:lnSpc>
                <a:spcPct val="115000"/>
              </a:lnSpc>
              <a:spcBef>
                <a:spcPts val="200"/>
              </a:spcBef>
              <a:spcAft>
                <a:spcPts val="400"/>
              </a:spcAft>
            </a:pPr>
            <a:r>
              <a:rPr sz="1300">
                <a:solidFill>
                  <a:srgbClr val="1A365D"/>
                </a:solidFill>
                <a:latin typeface="Cambria Math"/>
              </a:rPr>
              <a:t>L = λ₁·E[Σ R_s] − λ₂·(E[Σ max(0, γ_th−SINR_p)] − δ) − λ₃·(E[Σ P_s] − P_budget)</a:t>
            </a:r>
          </a:p>
          <a:p>
            <a:pPr>
              <a:lnSpc>
                <a:spcPct val="115000"/>
              </a:lnSpc>
              <a:spcBef>
                <a:spcPts val="400"/>
              </a:spcBef>
              <a:spcAft>
                <a:spcPts val="200"/>
              </a:spcAft>
            </a:pPr>
            <a:r>
              <a:rPr sz="1400" b="1">
                <a:solidFill>
                  <a:srgbClr val="2C5F8D"/>
                </a:solidFill>
                <a:latin typeface="Calibri"/>
              </a:rPr>
              <a:t>Actor Loss</a:t>
            </a:r>
          </a:p>
          <a:p>
            <a:pPr algn="l">
              <a:lnSpc>
                <a:spcPct val="115000"/>
              </a:lnSpc>
              <a:spcBef>
                <a:spcPts val="200"/>
              </a:spcBef>
              <a:spcAft>
                <a:spcPts val="400"/>
              </a:spcAft>
            </a:pPr>
            <a:r>
              <a:rPr sz="1300">
                <a:solidFill>
                  <a:srgbClr val="1A365D"/>
                </a:solidFill>
                <a:latin typeface="Cambria Math"/>
              </a:rPr>
              <a:t>L_actor = − E [ λ₁·Q^{tput} + λ₂·Q^{intf} + λ₃·Q^{energy} ]</a:t>
            </a:r>
          </a:p>
          <a:p>
            <a:pPr>
              <a:lnSpc>
                <a:spcPct val="115000"/>
              </a:lnSpc>
              <a:spcBef>
                <a:spcPts val="400"/>
              </a:spcBef>
              <a:spcAft>
                <a:spcPts val="200"/>
              </a:spcAft>
            </a:pPr>
            <a:r>
              <a:rPr sz="1400" b="1">
                <a:solidFill>
                  <a:srgbClr val="2C5F8D"/>
                </a:solidFill>
                <a:latin typeface="Calibri"/>
              </a:rPr>
              <a:t>Dual Gradient Ascent on λ_k</a:t>
            </a:r>
          </a:p>
          <a:p>
            <a:pPr algn="l">
              <a:lnSpc>
                <a:spcPct val="115000"/>
              </a:lnSpc>
              <a:spcBef>
                <a:spcPts val="200"/>
              </a:spcBef>
              <a:spcAft>
                <a:spcPts val="400"/>
              </a:spcAft>
            </a:pPr>
            <a:r>
              <a:rPr sz="1300">
                <a:solidFill>
                  <a:srgbClr val="1A365D"/>
                </a:solidFill>
                <a:latin typeface="Cambria Math"/>
              </a:rPr>
              <a:t>λ_k ← clip( λ_k + η_λ · ∇_{λ_k} L , λ_min , λ_max )</a:t>
            </a:r>
          </a:p>
          <a:p>
            <a:pPr>
              <a:lnSpc>
                <a:spcPct val="115000"/>
              </a:lnSpc>
              <a:spcAft>
                <a:spcPts val="200"/>
              </a:spcAft>
            </a:pPr>
            <a:r>
              <a:rPr sz="1300">
                <a:solidFill>
                  <a:srgbClr val="333333"/>
                </a:solidFill>
                <a:latin typeface="Calibri"/>
              </a:rPr>
              <a:t>Softplus parameterisation enforces positivity. λ_init = 3.0 / 1.0 / 0.01.</a:t>
            </a:r>
          </a:p>
        </p:txBody>
      </p:sp>
      <p:sp>
        <p:nvSpPr>
          <p:cNvPr id="5" name="TextBox 4"/>
          <p:cNvSpPr txBox="1"/>
          <p:nvPr/>
        </p:nvSpPr>
        <p:spPr>
          <a:xfrm>
            <a:off x="4846320" y="1097280"/>
            <a:ext cx="402336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4. Directional Exploration Noise</a:t>
            </a:r>
          </a:p>
          <a:p>
            <a:pPr>
              <a:lnSpc>
                <a:spcPct val="115000"/>
              </a:lnSpc>
              <a:spcAft>
                <a:spcPts val="200"/>
              </a:spcAft>
            </a:pPr>
            <a:r>
              <a:rPr sz="1300">
                <a:solidFill>
                  <a:srgbClr val="333333"/>
                </a:solidFill>
                <a:latin typeface="Calibri"/>
              </a:rPr>
              <a:t>Standard TD3 uses symmetric noise ε ~ N(0, σ²). This wastes 50 % of exploration on unsafe (higher-power) actions, causing many early PU violations.</a:t>
            </a:r>
          </a:p>
          <a:p>
            <a:pPr>
              <a:lnSpc>
                <a:spcPct val="115000"/>
              </a:lnSpc>
              <a:spcBef>
                <a:spcPts val="400"/>
              </a:spcBef>
              <a:spcAft>
                <a:spcPts val="200"/>
              </a:spcAft>
            </a:pPr>
            <a:r>
              <a:rPr sz="1400" b="1">
                <a:solidFill>
                  <a:srgbClr val="2C5F8D"/>
                </a:solidFill>
                <a:latin typeface="Calibri"/>
              </a:rPr>
              <a:t>Biased Gaussian Noise</a:t>
            </a:r>
          </a:p>
          <a:p>
            <a:pPr algn="l">
              <a:lnSpc>
                <a:spcPct val="115000"/>
              </a:lnSpc>
              <a:spcBef>
                <a:spcPts val="200"/>
              </a:spcBef>
              <a:spcAft>
                <a:spcPts val="400"/>
              </a:spcAft>
            </a:pPr>
            <a:r>
              <a:rPr sz="1300">
                <a:solidFill>
                  <a:srgbClr val="1A365D"/>
                </a:solidFill>
                <a:latin typeface="Cambria Math"/>
              </a:rPr>
              <a:t>μ_t = μ_bias · decay(t) · (1 + v_t)</a:t>
            </a:r>
          </a:p>
          <a:p>
            <a:pPr algn="l">
              <a:lnSpc>
                <a:spcPct val="115000"/>
              </a:lnSpc>
              <a:spcBef>
                <a:spcPts val="200"/>
              </a:spcBef>
              <a:spcAft>
                <a:spcPts val="400"/>
              </a:spcAft>
            </a:pPr>
            <a:r>
              <a:rPr sz="1300">
                <a:solidFill>
                  <a:srgbClr val="1A365D"/>
                </a:solidFill>
                <a:latin typeface="Cambria Math"/>
              </a:rPr>
              <a:t>decay(t) = max(0, 1 − t / T_decay)</a:t>
            </a:r>
          </a:p>
          <a:p>
            <a:pPr algn="l">
              <a:lnSpc>
                <a:spcPct val="115000"/>
              </a:lnSpc>
              <a:spcBef>
                <a:spcPts val="200"/>
              </a:spcBef>
              <a:spcAft>
                <a:spcPts val="400"/>
              </a:spcAft>
            </a:pPr>
            <a:r>
              <a:rPr sz="1300">
                <a:solidFill>
                  <a:srgbClr val="1A365D"/>
                </a:solidFill>
                <a:latin typeface="Cambria Math"/>
              </a:rPr>
              <a:t>ε ~ N(μ_t, σ²)</a:t>
            </a:r>
          </a:p>
          <a:p>
            <a:pPr>
              <a:lnSpc>
                <a:spcPct val="115000"/>
              </a:lnSpc>
              <a:spcAft>
                <a:spcPts val="200"/>
              </a:spcAft>
            </a:pPr>
            <a:r>
              <a:rPr sz="1300">
                <a:solidFill>
                  <a:srgbClr val="333333"/>
                </a:solidFill>
                <a:latin typeface="Calibri"/>
              </a:rPr>
              <a:t>v_t = rolling violation rate (window 100), μ_bias = −0.05 (negative ⇒ safer).</a:t>
            </a:r>
          </a:p>
          <a:p>
            <a:pPr>
              <a:lnSpc>
                <a:spcPct val="115000"/>
              </a:lnSpc>
              <a:spcAft>
                <a:spcPts val="200"/>
              </a:spcAft>
            </a:pPr>
            <a:r>
              <a:rPr sz="1300">
                <a:solidFill>
                  <a:srgbClr val="333333"/>
                </a:solidFill>
                <a:latin typeface="Calibri"/>
              </a:rPr>
              <a:t>• Bias strengthens when violations rise.</a:t>
            </a:r>
          </a:p>
          <a:p>
            <a:pPr>
              <a:lnSpc>
                <a:spcPct val="115000"/>
              </a:lnSpc>
              <a:spcAft>
                <a:spcPts val="200"/>
              </a:spcAft>
            </a:pPr>
            <a:r>
              <a:rPr sz="1300">
                <a:solidFill>
                  <a:srgbClr val="333333"/>
                </a:solidFill>
                <a:latin typeface="Calibri"/>
              </a:rPr>
              <a:t>• Bias decays to zero after ~1 000 episodes — no distortion of final policy.</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Proposed Algorithm — Architecture &amp; Training Loop</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097280"/>
            <a:ext cx="4206240" cy="5212080"/>
          </a:xfrm>
          <a:prstGeom prst="rect">
            <a:avLst/>
          </a:prstGeom>
          <a:solidFill>
            <a:srgbClr val="F5F7FA"/>
          </a:solidFill>
          <a:ln w="12700">
            <a:solidFill>
              <a:srgbClr val="2C5F8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i="1">
                <a:solidFill>
                  <a:srgbClr val="2C5F8D"/>
                </a:solidFill>
                <a:latin typeface="Calibri"/>
              </a:rPr>
              <a:t>[Architecture diagram placeholder]</a:t>
            </a:r>
          </a:p>
          <a:p>
            <a:pPr algn="ctr"/>
            <a:r>
              <a:rPr sz="1200" i="1">
                <a:solidFill>
                  <a:srgbClr val="2C5F8D"/>
                </a:solidFill>
                <a:latin typeface="Calibri"/>
              </a:rPr>
              <a:t/>
            </a:r>
          </a:p>
          <a:p>
            <a:pPr algn="ctr"/>
            <a:r>
              <a:rPr sz="1200" i="1">
                <a:solidFill>
                  <a:srgbClr val="2C5F8D"/>
                </a:solidFill>
                <a:latin typeface="Calibri"/>
              </a:rPr>
              <a:t>Replay Buffer</a:t>
            </a:r>
          </a:p>
          <a:p>
            <a:pPr algn="ctr"/>
            <a:r>
              <a:rPr sz="1200" i="1">
                <a:solidFill>
                  <a:srgbClr val="2C5F8D"/>
                </a:solidFill>
                <a:latin typeface="Calibri"/>
              </a:rPr>
              <a:t>     ↓</a:t>
            </a:r>
          </a:p>
          <a:p>
            <a:pPr algn="ctr"/>
            <a:r>
              <a:rPr sz="1200" i="1">
                <a:solidFill>
                  <a:srgbClr val="2C5F8D"/>
                </a:solidFill>
                <a:latin typeface="Calibri"/>
              </a:rPr>
              <a:t>GRU Belief Encoder → b_t</a:t>
            </a:r>
          </a:p>
          <a:p>
            <a:pPr algn="ctr"/>
            <a:r>
              <a:rPr sz="1200" i="1">
                <a:solidFill>
                  <a:srgbClr val="2C5F8D"/>
                </a:solidFill>
                <a:latin typeface="Calibri"/>
              </a:rPr>
              <a:t>     ↓</a:t>
            </a:r>
          </a:p>
          <a:p>
            <a:pPr algn="ctr"/>
            <a:r>
              <a:rPr sz="1200" i="1">
                <a:solidFill>
                  <a:srgbClr val="2C5F8D"/>
                </a:solidFill>
                <a:latin typeface="Calibri"/>
              </a:rPr>
              <a:t>Actor π(s, b)  →  P_s + Directional Noise</a:t>
            </a:r>
          </a:p>
          <a:p>
            <a:pPr algn="ctr"/>
            <a:r>
              <a:rPr sz="1200" i="1">
                <a:solidFill>
                  <a:srgbClr val="2C5F8D"/>
                </a:solidFill>
                <a:latin typeface="Calibri"/>
              </a:rPr>
              <a:t>     ↓</a:t>
            </a:r>
          </a:p>
          <a:p>
            <a:pPr algn="ctr"/>
            <a:r>
              <a:rPr sz="1200" i="1">
                <a:solidFill>
                  <a:srgbClr val="2C5F8D"/>
                </a:solidFill>
                <a:latin typeface="Calibri"/>
              </a:rPr>
              <a:t>6 Critics  Q^k(s, b, a)</a:t>
            </a:r>
          </a:p>
          <a:p>
            <a:pPr algn="ctr"/>
            <a:r>
              <a:rPr sz="1200" i="1">
                <a:solidFill>
                  <a:srgbClr val="2C5F8D"/>
                </a:solidFill>
                <a:latin typeface="Calibri"/>
              </a:rPr>
              <a:t>     ↓</a:t>
            </a:r>
          </a:p>
          <a:p>
            <a:pPr algn="ctr"/>
            <a:r>
              <a:rPr sz="1200" i="1">
                <a:solidFill>
                  <a:srgbClr val="2C5F8D"/>
                </a:solidFill>
                <a:latin typeface="Calibri"/>
              </a:rPr>
              <a:t>Lagrangian (λ₁, λ₂, λ₃)  ↻  Dual updates</a:t>
            </a:r>
          </a:p>
          <a:p>
            <a:pPr algn="ctr"/>
            <a:r>
              <a:rPr sz="1200" i="1">
                <a:solidFill>
                  <a:srgbClr val="2C5F8D"/>
                </a:solidFill>
                <a:latin typeface="Calibri"/>
              </a:rPr>
              <a:t>     ↓</a:t>
            </a:r>
          </a:p>
          <a:p>
            <a:pPr algn="ctr"/>
            <a:r>
              <a:rPr sz="1200" i="1">
                <a:solidFill>
                  <a:srgbClr val="2C5F8D"/>
                </a:solidFill>
                <a:latin typeface="Calibri"/>
              </a:rPr>
              <a:t>CRN Environment</a:t>
            </a:r>
          </a:p>
        </p:txBody>
      </p:sp>
      <p:sp>
        <p:nvSpPr>
          <p:cNvPr id="5" name="TextBox 4"/>
          <p:cNvSpPr txBox="1"/>
          <p:nvPr/>
        </p:nvSpPr>
        <p:spPr>
          <a:xfrm>
            <a:off x="4846320" y="1097280"/>
            <a:ext cx="402336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Training Pseudocode (per step)</a:t>
            </a:r>
          </a:p>
          <a:p>
            <a:pPr>
              <a:lnSpc>
                <a:spcPct val="115000"/>
              </a:lnSpc>
            </a:pPr>
            <a:r>
              <a:rPr sz="1200">
                <a:solidFill>
                  <a:srgbClr val="1A365D"/>
                </a:solidFill>
                <a:latin typeface="Consolas"/>
              </a:rPr>
              <a:t>b_t = g_ψ(O_t)</a:t>
            </a:r>
          </a:p>
          <a:p>
            <a:pPr>
              <a:lnSpc>
                <a:spcPct val="115000"/>
              </a:lnSpc>
            </a:pPr>
            <a:r>
              <a:rPr sz="1200">
                <a:solidFill>
                  <a:srgbClr val="1A365D"/>
                </a:solidFill>
                <a:latin typeface="Consolas"/>
              </a:rPr>
              <a:t>a_t = clip(π_φ(s_t, b_t) + ε_t, 0, P_max)</a:t>
            </a:r>
          </a:p>
          <a:p>
            <a:pPr>
              <a:lnSpc>
                <a:spcPct val="115000"/>
              </a:lnSpc>
            </a:pPr>
            <a:r>
              <a:rPr sz="1200">
                <a:solidFill>
                  <a:srgbClr val="1A365D"/>
                </a:solidFill>
                <a:latin typeface="Consolas"/>
              </a:rPr>
              <a:t>observe r^{tput}, r^{intf}, r^{energy}</a:t>
            </a:r>
          </a:p>
          <a:p>
            <a:pPr>
              <a:lnSpc>
                <a:spcPct val="115000"/>
              </a:lnSpc>
            </a:pPr>
            <a:r>
              <a:rPr sz="1200">
                <a:solidFill>
                  <a:srgbClr val="1A365D"/>
                </a:solidFill>
                <a:latin typeface="Consolas"/>
              </a:rPr>
              <a:t>store in sequence replay buffer</a:t>
            </a:r>
          </a:p>
          <a:p>
            <a:pPr>
              <a:lnSpc>
                <a:spcPct val="115000"/>
              </a:lnSpc>
            </a:pPr>
            <a:r>
              <a:rPr sz="1200">
                <a:solidFill>
                  <a:srgbClr val="1A365D"/>
                </a:solidFill>
                <a:latin typeface="Consolas"/>
              </a:rPr>
              <a:t>for k in {tput, intf, energy}:</a:t>
            </a:r>
          </a:p>
          <a:p>
            <a:pPr>
              <a:lnSpc>
                <a:spcPct val="115000"/>
              </a:lnSpc>
            </a:pPr>
            <a:r>
              <a:rPr sz="1200">
                <a:solidFill>
                  <a:srgbClr val="1A365D"/>
                </a:solidFill>
                <a:latin typeface="Consolas"/>
              </a:rPr>
              <a:t>    update twin critics on TD3 target y_k</a:t>
            </a:r>
          </a:p>
          <a:p>
            <a:pPr>
              <a:lnSpc>
                <a:spcPct val="115000"/>
              </a:lnSpc>
            </a:pPr>
            <a:r>
              <a:rPr sz="1200">
                <a:solidFill>
                  <a:srgbClr val="1A365D"/>
                </a:solidFill>
                <a:latin typeface="Consolas"/>
              </a:rPr>
              <a:t>if t mod 2 == 0:           # delayed update</a:t>
            </a:r>
          </a:p>
          <a:p>
            <a:pPr>
              <a:lnSpc>
                <a:spcPct val="115000"/>
              </a:lnSpc>
            </a:pPr>
            <a:r>
              <a:rPr sz="1200">
                <a:solidFill>
                  <a:srgbClr val="1A365D"/>
                </a:solidFill>
                <a:latin typeface="Consolas"/>
              </a:rPr>
              <a:t>    L_actor = −E[λ₁Q^t+λ₂Q^i+λ₃Q^e]</a:t>
            </a:r>
          </a:p>
          <a:p>
            <a:pPr>
              <a:lnSpc>
                <a:spcPct val="115000"/>
              </a:lnSpc>
            </a:pPr>
            <a:r>
              <a:rPr sz="1200">
                <a:solidFill>
                  <a:srgbClr val="1A365D"/>
                </a:solidFill>
                <a:latin typeface="Consolas"/>
              </a:rPr>
              <a:t>    update φ, ψ</a:t>
            </a:r>
          </a:p>
          <a:p>
            <a:pPr>
              <a:lnSpc>
                <a:spcPct val="115000"/>
              </a:lnSpc>
            </a:pPr>
            <a:r>
              <a:rPr sz="1200">
                <a:solidFill>
                  <a:srgbClr val="1A365D"/>
                </a:solidFill>
                <a:latin typeface="Consolas"/>
              </a:rPr>
              <a:t>    λ_k ← clip(λ_k + η_λ∇L, λ_min, λ_max)</a:t>
            </a:r>
          </a:p>
          <a:p>
            <a:pPr>
              <a:lnSpc>
                <a:spcPct val="115000"/>
              </a:lnSpc>
            </a:pPr>
            <a:r>
              <a:rPr sz="1200">
                <a:solidFill>
                  <a:srgbClr val="1A365D"/>
                </a:solidFill>
                <a:latin typeface="Consolas"/>
              </a:rPr>
              <a:t>    soft-update target nets</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Implementation Stack &amp; Methodology Pipeline</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411480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Software Stack</a:t>
            </a:r>
          </a:p>
          <a:p>
            <a:pPr>
              <a:lnSpc>
                <a:spcPct val="115000"/>
              </a:lnSpc>
              <a:spcAft>
                <a:spcPts val="200"/>
              </a:spcAft>
            </a:pPr>
            <a:r>
              <a:rPr sz="1300">
                <a:solidFill>
                  <a:srgbClr val="333333"/>
                </a:solidFill>
                <a:latin typeface="Calibri"/>
              </a:rPr>
              <a:t>• Python 3.10, PyTorch 2.x, NumPy, SciPy</a:t>
            </a:r>
          </a:p>
          <a:p>
            <a:pPr>
              <a:lnSpc>
                <a:spcPct val="115000"/>
              </a:lnSpc>
              <a:spcAft>
                <a:spcPts val="200"/>
              </a:spcAft>
            </a:pPr>
            <a:r>
              <a:rPr sz="1300">
                <a:solidFill>
                  <a:srgbClr val="333333"/>
                </a:solidFill>
                <a:latin typeface="Calibri"/>
              </a:rPr>
              <a:t>• FastAPI + WebSocket — live backend</a:t>
            </a:r>
          </a:p>
          <a:p>
            <a:pPr>
              <a:lnSpc>
                <a:spcPct val="115000"/>
              </a:lnSpc>
              <a:spcAft>
                <a:spcPts val="200"/>
              </a:spcAft>
            </a:pPr>
            <a:r>
              <a:rPr sz="1300">
                <a:solidFill>
                  <a:srgbClr val="333333"/>
                </a:solidFill>
                <a:latin typeface="Calibri"/>
              </a:rPr>
              <a:t>• React 19 + Vite + Recharts — dashboard</a:t>
            </a:r>
          </a:p>
          <a:p>
            <a:pPr>
              <a:lnSpc>
                <a:spcPct val="115000"/>
              </a:lnSpc>
              <a:spcAft>
                <a:spcPts val="200"/>
              </a:spcAft>
            </a:pPr>
            <a:r>
              <a:rPr sz="1300">
                <a:solidFill>
                  <a:srgbClr val="333333"/>
                </a:solidFill>
                <a:latin typeface="Calibri"/>
              </a:rPr>
              <a:t>• Matplotlib + PDFPages — auto reports</a:t>
            </a:r>
          </a:p>
          <a:p>
            <a:pPr>
              <a:lnSpc>
                <a:spcPct val="115000"/>
              </a:lnSpc>
              <a:spcBef>
                <a:spcPts val="400"/>
              </a:spcBef>
              <a:spcAft>
                <a:spcPts val="200"/>
              </a:spcAft>
            </a:pPr>
            <a:r>
              <a:rPr sz="1400" b="1">
                <a:solidFill>
                  <a:srgbClr val="2C5F8D"/>
                </a:solidFill>
                <a:latin typeface="Calibri"/>
              </a:rPr>
              <a:t>Repository Layout</a:t>
            </a:r>
          </a:p>
          <a:p>
            <a:pPr>
              <a:lnSpc>
                <a:spcPct val="115000"/>
              </a:lnSpc>
              <a:spcAft>
                <a:spcPts val="200"/>
              </a:spcAft>
            </a:pPr>
            <a:r>
              <a:rPr sz="1300">
                <a:solidFill>
                  <a:srgbClr val="333333"/>
                </a:solidFill>
                <a:latin typeface="Calibri"/>
              </a:rPr>
              <a:t>• config.py — all hyper-parameters</a:t>
            </a:r>
          </a:p>
          <a:p>
            <a:pPr>
              <a:lnSpc>
                <a:spcPct val="115000"/>
              </a:lnSpc>
              <a:spcAft>
                <a:spcPts val="200"/>
              </a:spcAft>
            </a:pPr>
            <a:r>
              <a:rPr sz="1300">
                <a:solidFill>
                  <a:srgbClr val="333333"/>
                </a:solidFill>
                <a:latin typeface="Calibri"/>
              </a:rPr>
              <a:t>• environment.py — CRN env (Gym-like)</a:t>
            </a:r>
          </a:p>
          <a:p>
            <a:pPr>
              <a:lnSpc>
                <a:spcPct val="115000"/>
              </a:lnSpc>
              <a:spcAft>
                <a:spcPts val="200"/>
              </a:spcAft>
            </a:pPr>
            <a:r>
              <a:rPr sz="1300">
                <a:solidFill>
                  <a:srgbClr val="333333"/>
                </a:solidFill>
                <a:latin typeface="Calibri"/>
              </a:rPr>
              <a:t>• ddpg.py / td3.py / proposed.py — agents</a:t>
            </a:r>
          </a:p>
          <a:p>
            <a:pPr>
              <a:lnSpc>
                <a:spcPct val="115000"/>
              </a:lnSpc>
              <a:spcAft>
                <a:spcPts val="200"/>
              </a:spcAft>
            </a:pPr>
            <a:r>
              <a:rPr sz="1300">
                <a:solidFill>
                  <a:srgbClr val="333333"/>
                </a:solidFill>
                <a:latin typeface="Calibri"/>
              </a:rPr>
              <a:t>• train_compare.py — experiment driver</a:t>
            </a:r>
          </a:p>
          <a:p>
            <a:pPr>
              <a:lnSpc>
                <a:spcPct val="115000"/>
              </a:lnSpc>
              <a:spcBef>
                <a:spcPts val="400"/>
              </a:spcBef>
              <a:spcAft>
                <a:spcPts val="200"/>
              </a:spcAft>
            </a:pPr>
            <a:r>
              <a:rPr sz="1400" b="1">
                <a:solidFill>
                  <a:srgbClr val="2C5F8D"/>
                </a:solidFill>
                <a:latin typeface="Calibri"/>
              </a:rPr>
              <a:t>Hardware</a:t>
            </a:r>
          </a:p>
          <a:p>
            <a:pPr>
              <a:lnSpc>
                <a:spcPct val="115000"/>
              </a:lnSpc>
              <a:spcAft>
                <a:spcPts val="200"/>
              </a:spcAft>
            </a:pPr>
            <a:r>
              <a:rPr sz="1300">
                <a:solidFill>
                  <a:srgbClr val="333333"/>
                </a:solidFill>
                <a:latin typeface="Calibri"/>
              </a:rPr>
              <a:t>• Local: NVIDIA RTX 4060 (laptop)</a:t>
            </a:r>
          </a:p>
          <a:p>
            <a:pPr>
              <a:lnSpc>
                <a:spcPct val="115000"/>
              </a:lnSpc>
              <a:spcAft>
                <a:spcPts val="200"/>
              </a:spcAft>
            </a:pPr>
            <a:r>
              <a:rPr sz="1300">
                <a:solidFill>
                  <a:srgbClr val="333333"/>
                </a:solidFill>
                <a:latin typeface="Calibri"/>
              </a:rPr>
              <a:t>• Cloud: Kaggle / Colab T4 GPU</a:t>
            </a:r>
          </a:p>
        </p:txBody>
      </p:sp>
      <p:sp>
        <p:nvSpPr>
          <p:cNvPr id="5" name="TextBox 4"/>
          <p:cNvSpPr txBox="1"/>
          <p:nvPr/>
        </p:nvSpPr>
        <p:spPr>
          <a:xfrm>
            <a:off x="4754880" y="1097280"/>
            <a:ext cx="411480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Methodology Pipeline</a:t>
            </a:r>
          </a:p>
          <a:p>
            <a:pPr>
              <a:lnSpc>
                <a:spcPct val="115000"/>
              </a:lnSpc>
              <a:spcAft>
                <a:spcPts val="200"/>
              </a:spcAft>
            </a:pPr>
            <a:r>
              <a:rPr sz="1300" b="1">
                <a:solidFill>
                  <a:srgbClr val="1A365D"/>
                </a:solidFill>
                <a:latin typeface="Calibri"/>
              </a:rPr>
              <a:t>• Step 1 —</a:t>
            </a:r>
            <a:r>
              <a:rPr sz="1300">
                <a:solidFill>
                  <a:srgbClr val="333333"/>
                </a:solidFill>
                <a:latin typeface="Calibri"/>
              </a:rPr>
              <a:t> build CRN environment (Nakagami-m sampler, SINR / reward on GPU).</a:t>
            </a:r>
          </a:p>
          <a:p>
            <a:pPr>
              <a:lnSpc>
                <a:spcPct val="115000"/>
              </a:lnSpc>
              <a:spcAft>
                <a:spcPts val="200"/>
              </a:spcAft>
            </a:pPr>
            <a:r>
              <a:rPr sz="1300" b="1">
                <a:solidFill>
                  <a:srgbClr val="1A365D"/>
                </a:solidFill>
                <a:latin typeface="Calibri"/>
              </a:rPr>
              <a:t>• Step 2 —</a:t>
            </a:r>
            <a:r>
              <a:rPr sz="1300">
                <a:solidFill>
                  <a:srgbClr val="333333"/>
                </a:solidFill>
                <a:latin typeface="Calibri"/>
              </a:rPr>
              <a:t> train DDPG (3 500 ep). Observe convergence variance; high outage.</a:t>
            </a:r>
          </a:p>
          <a:p>
            <a:pPr>
              <a:lnSpc>
                <a:spcPct val="115000"/>
              </a:lnSpc>
              <a:spcAft>
                <a:spcPts val="200"/>
              </a:spcAft>
            </a:pPr>
            <a:r>
              <a:rPr sz="1300" b="1">
                <a:solidFill>
                  <a:srgbClr val="1A365D"/>
                </a:solidFill>
                <a:latin typeface="Calibri"/>
              </a:rPr>
              <a:t>• Step 3 —</a:t>
            </a:r>
            <a:r>
              <a:rPr sz="1300">
                <a:solidFill>
                  <a:srgbClr val="333333"/>
                </a:solidFill>
                <a:latin typeface="Calibri"/>
              </a:rPr>
              <a:t> upgrade to TD3 (twin critic, delayed update, smoothing). Faster, smoother.</a:t>
            </a:r>
          </a:p>
          <a:p>
            <a:pPr>
              <a:lnSpc>
                <a:spcPct val="115000"/>
              </a:lnSpc>
              <a:spcAft>
                <a:spcPts val="200"/>
              </a:spcAft>
            </a:pPr>
            <a:r>
              <a:rPr sz="1300" b="1">
                <a:solidFill>
                  <a:srgbClr val="1A365D"/>
                </a:solidFill>
                <a:latin typeface="Calibri"/>
              </a:rPr>
              <a:t>• Step 4 —</a:t>
            </a:r>
            <a:r>
              <a:rPr sz="1300">
                <a:solidFill>
                  <a:srgbClr val="333333"/>
                </a:solidFill>
                <a:latin typeface="Calibri"/>
              </a:rPr>
              <a:t> add GRU encoder, decomposed critics, adaptive Lagrangians, directional noise → Proposed Algorithm.</a:t>
            </a:r>
          </a:p>
          <a:p>
            <a:pPr>
              <a:lnSpc>
                <a:spcPct val="115000"/>
              </a:lnSpc>
              <a:spcAft>
                <a:spcPts val="200"/>
              </a:spcAft>
            </a:pPr>
            <a:r>
              <a:rPr sz="1300" b="1">
                <a:solidFill>
                  <a:srgbClr val="1A365D"/>
                </a:solidFill>
                <a:latin typeface="Calibri"/>
              </a:rPr>
              <a:t>• Step 5 —</a:t>
            </a:r>
            <a:r>
              <a:rPr sz="1300">
                <a:solidFill>
                  <a:srgbClr val="333333"/>
                </a:solidFill>
                <a:latin typeface="Calibri"/>
              </a:rPr>
              <a:t> run identical-seed comparisons at m = 1 and m = 3 under imperfect CSI; auto-generate multi-page PDFs.</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Hyper-parameters Summary</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36576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All hyper-parameters live in config.py — kept identical across algorithms for a fair comparison.</a:t>
            </a:r>
          </a:p>
        </p:txBody>
      </p:sp>
      <p:graphicFrame>
        <p:nvGraphicFramePr>
          <p:cNvPr id="5" name="Table 4"/>
          <p:cNvGraphicFramePr>
            <a:graphicFrameLocks noGrp="1"/>
          </p:cNvGraphicFramePr>
          <p:nvPr/>
        </p:nvGraphicFramePr>
        <p:xfrm>
          <a:off x="457200" y="1554480"/>
          <a:ext cx="8229600" cy="4663440"/>
        </p:xfrm>
        <a:graphic>
          <a:graphicData uri="http://schemas.openxmlformats.org/drawingml/2006/table">
            <a:tbl>
              <a:tblPr firstRow="1" bandRow="1">
                <a:tableStyleId>{5C22544A-7EE6-4342-B048-85BDC9FD1C3A}</a:tableStyleId>
              </a:tblPr>
              <a:tblGrid>
                <a:gridCol w="2743200"/>
                <a:gridCol w="2011680"/>
                <a:gridCol w="3474720"/>
              </a:tblGrid>
              <a:tr h="259080">
                <a:tc>
                  <a:txBody>
                    <a:bodyPr/>
                    <a:lstStyle/>
                    <a:p>
                      <a:pPr algn="l"/>
                      <a:r>
                        <a:rPr sz="1100" b="1">
                          <a:solidFill>
                            <a:srgbClr val="FFFFFF"/>
                          </a:solidFill>
                          <a:latin typeface="Calibri"/>
                        </a:rPr>
                        <a:t>Parameter</a:t>
                      </a:r>
                    </a:p>
                  </a:txBody>
                  <a:tcPr marL="73152" marR="73152" marT="18288" marB="18288">
                    <a:solidFill>
                      <a:srgbClr val="1A365D"/>
                    </a:solidFill>
                  </a:tcPr>
                </a:tc>
                <a:tc>
                  <a:txBody>
                    <a:bodyPr/>
                    <a:lstStyle/>
                    <a:p>
                      <a:pPr algn="l"/>
                      <a:r>
                        <a:rPr sz="1100" b="1">
                          <a:solidFill>
                            <a:srgbClr val="FFFFFF"/>
                          </a:solidFill>
                          <a:latin typeface="Calibri"/>
                        </a:rPr>
                        <a:t>Value</a:t>
                      </a:r>
                    </a:p>
                  </a:txBody>
                  <a:tcPr marL="73152" marR="73152" marT="18288" marB="18288">
                    <a:solidFill>
                      <a:srgbClr val="1A365D"/>
                    </a:solidFill>
                  </a:tcPr>
                </a:tc>
                <a:tc>
                  <a:txBody>
                    <a:bodyPr/>
                    <a:lstStyle/>
                    <a:p>
                      <a:pPr algn="l"/>
                      <a:r>
                        <a:rPr sz="1100" b="1">
                          <a:solidFill>
                            <a:srgbClr val="FFFFFF"/>
                          </a:solidFill>
                          <a:latin typeface="Calibri"/>
                        </a:rPr>
                        <a:t>Notes</a:t>
                      </a:r>
                    </a:p>
                  </a:txBody>
                  <a:tcPr marL="73152" marR="73152" marT="18288" marB="18288">
                    <a:solidFill>
                      <a:srgbClr val="1A365D"/>
                    </a:solidFill>
                  </a:tcPr>
                </a:tc>
              </a:tr>
              <a:tr h="259080">
                <a:tc>
                  <a:txBody>
                    <a:bodyPr/>
                    <a:lstStyle/>
                    <a:p>
                      <a:pPr algn="l"/>
                      <a:r>
                        <a:rPr sz="1100">
                          <a:solidFill>
                            <a:srgbClr val="333333"/>
                          </a:solidFill>
                          <a:latin typeface="Calibri"/>
                        </a:rPr>
                        <a:t>HIDDEN_DIM</a:t>
                      </a:r>
                    </a:p>
                  </a:txBody>
                  <a:tcPr marL="73152" marR="73152" marT="18288" marB="18288">
                    <a:solidFill>
                      <a:srgbClr val="FFFFFF"/>
                    </a:solidFill>
                  </a:tcPr>
                </a:tc>
                <a:tc>
                  <a:txBody>
                    <a:bodyPr/>
                    <a:lstStyle/>
                    <a:p>
                      <a:pPr algn="l"/>
                      <a:r>
                        <a:rPr sz="1100">
                          <a:solidFill>
                            <a:srgbClr val="333333"/>
                          </a:solidFill>
                          <a:latin typeface="Calibri"/>
                        </a:rPr>
                        <a:t>512</a:t>
                      </a:r>
                    </a:p>
                  </a:txBody>
                  <a:tcPr marL="73152" marR="73152" marT="18288" marB="18288">
                    <a:solidFill>
                      <a:srgbClr val="FFFFFF"/>
                    </a:solidFill>
                  </a:tcPr>
                </a:tc>
                <a:tc>
                  <a:txBody>
                    <a:bodyPr/>
                    <a:lstStyle/>
                    <a:p>
                      <a:pPr algn="l"/>
                      <a:r>
                        <a:rPr sz="1100">
                          <a:solidFill>
                            <a:srgbClr val="333333"/>
                          </a:solidFill>
                          <a:latin typeface="Calibri"/>
                        </a:rPr>
                        <a:t>Actor / critic hidden width</a:t>
                      </a:r>
                    </a:p>
                  </a:txBody>
                  <a:tcPr marL="73152" marR="73152" marT="18288" marB="18288">
                    <a:solidFill>
                      <a:srgbClr val="FFFFFF"/>
                    </a:solidFill>
                  </a:tcPr>
                </a:tc>
              </a:tr>
              <a:tr h="259080">
                <a:tc>
                  <a:txBody>
                    <a:bodyPr/>
                    <a:lstStyle/>
                    <a:p>
                      <a:pPr algn="l"/>
                      <a:r>
                        <a:rPr sz="1100">
                          <a:solidFill>
                            <a:srgbClr val="333333"/>
                          </a:solidFill>
                          <a:latin typeface="Calibri"/>
                        </a:rPr>
                        <a:t>BATCH_SIZE</a:t>
                      </a:r>
                    </a:p>
                  </a:txBody>
                  <a:tcPr marL="73152" marR="73152" marT="18288" marB="18288">
                    <a:solidFill>
                      <a:srgbClr val="F5F7FA"/>
                    </a:solidFill>
                  </a:tcPr>
                </a:tc>
                <a:tc>
                  <a:txBody>
                    <a:bodyPr/>
                    <a:lstStyle/>
                    <a:p>
                      <a:pPr algn="l"/>
                      <a:r>
                        <a:rPr sz="1100">
                          <a:solidFill>
                            <a:srgbClr val="333333"/>
                          </a:solidFill>
                          <a:latin typeface="Calibri"/>
                        </a:rPr>
                        <a:t>256</a:t>
                      </a:r>
                    </a:p>
                  </a:txBody>
                  <a:tcPr marL="73152" marR="73152" marT="18288" marB="18288">
                    <a:solidFill>
                      <a:srgbClr val="F5F7FA"/>
                    </a:solidFill>
                  </a:tcPr>
                </a:tc>
                <a:tc>
                  <a:txBody>
                    <a:bodyPr/>
                    <a:lstStyle/>
                    <a:p>
                      <a:pPr algn="l"/>
                      <a:r>
                        <a:rPr sz="1100">
                          <a:solidFill>
                            <a:srgbClr val="333333"/>
                          </a:solidFill>
                          <a:latin typeface="Calibri"/>
                        </a:rPr>
                        <a:t>GPU-efficient mini-batch</a:t>
                      </a:r>
                    </a:p>
                  </a:txBody>
                  <a:tcPr marL="73152" marR="73152" marT="18288" marB="18288">
                    <a:solidFill>
                      <a:srgbClr val="F5F7FA"/>
                    </a:solidFill>
                  </a:tcPr>
                </a:tc>
              </a:tr>
              <a:tr h="259080">
                <a:tc>
                  <a:txBody>
                    <a:bodyPr/>
                    <a:lstStyle/>
                    <a:p>
                      <a:pPr algn="l"/>
                      <a:r>
                        <a:rPr sz="1100">
                          <a:solidFill>
                            <a:srgbClr val="333333"/>
                          </a:solidFill>
                          <a:latin typeface="Calibri"/>
                        </a:rPr>
                        <a:t>LR_ACTOR / LR_CRITIC</a:t>
                      </a:r>
                    </a:p>
                  </a:txBody>
                  <a:tcPr marL="73152" marR="73152" marT="18288" marB="18288">
                    <a:solidFill>
                      <a:srgbClr val="FFFFFF"/>
                    </a:solidFill>
                  </a:tcPr>
                </a:tc>
                <a:tc>
                  <a:txBody>
                    <a:bodyPr/>
                    <a:lstStyle/>
                    <a:p>
                      <a:pPr algn="l"/>
                      <a:r>
                        <a:rPr sz="1100">
                          <a:solidFill>
                            <a:srgbClr val="333333"/>
                          </a:solidFill>
                          <a:latin typeface="Calibri"/>
                        </a:rPr>
                        <a:t>3 × 10⁻⁴</a:t>
                      </a:r>
                    </a:p>
                  </a:txBody>
                  <a:tcPr marL="73152" marR="73152" marT="18288" marB="18288">
                    <a:solidFill>
                      <a:srgbClr val="FFFFFF"/>
                    </a:solidFill>
                  </a:tcPr>
                </a:tc>
                <a:tc>
                  <a:txBody>
                    <a:bodyPr/>
                    <a:lstStyle/>
                    <a:p>
                      <a:pPr algn="l"/>
                      <a:r>
                        <a:rPr sz="1100">
                          <a:solidFill>
                            <a:srgbClr val="333333"/>
                          </a:solidFill>
                          <a:latin typeface="Calibri"/>
                        </a:rPr>
                        <a:t>Adam optimiser</a:t>
                      </a:r>
                    </a:p>
                  </a:txBody>
                  <a:tcPr marL="73152" marR="73152" marT="18288" marB="18288">
                    <a:solidFill>
                      <a:srgbClr val="FFFFFF"/>
                    </a:solidFill>
                  </a:tcPr>
                </a:tc>
              </a:tr>
              <a:tr h="259080">
                <a:tc>
                  <a:txBody>
                    <a:bodyPr/>
                    <a:lstStyle/>
                    <a:p>
                      <a:pPr algn="l"/>
                      <a:r>
                        <a:rPr sz="1100">
                          <a:solidFill>
                            <a:srgbClr val="333333"/>
                          </a:solidFill>
                          <a:latin typeface="Calibri"/>
                        </a:rPr>
                        <a:t>GAMMA_DISCOUNT</a:t>
                      </a:r>
                    </a:p>
                  </a:txBody>
                  <a:tcPr marL="73152" marR="73152" marT="18288" marB="18288">
                    <a:solidFill>
                      <a:srgbClr val="F5F7FA"/>
                    </a:solidFill>
                  </a:tcPr>
                </a:tc>
                <a:tc>
                  <a:txBody>
                    <a:bodyPr/>
                    <a:lstStyle/>
                    <a:p>
                      <a:pPr algn="l"/>
                      <a:r>
                        <a:rPr sz="1100">
                          <a:solidFill>
                            <a:srgbClr val="333333"/>
                          </a:solidFill>
                          <a:latin typeface="Calibri"/>
                        </a:rPr>
                        <a:t>0.99</a:t>
                      </a:r>
                    </a:p>
                  </a:txBody>
                  <a:tcPr marL="73152" marR="73152" marT="18288" marB="18288">
                    <a:solidFill>
                      <a:srgbClr val="F5F7FA"/>
                    </a:solidFill>
                  </a:tcPr>
                </a:tc>
                <a:tc>
                  <a:txBody>
                    <a:bodyPr/>
                    <a:lstStyle/>
                    <a:p>
                      <a:pPr algn="l"/>
                      <a:r>
                        <a:rPr sz="1100">
                          <a:solidFill>
                            <a:srgbClr val="333333"/>
                          </a:solidFill>
                          <a:latin typeface="Calibri"/>
                        </a:rPr>
                        <a:t>Discount factor</a:t>
                      </a:r>
                    </a:p>
                  </a:txBody>
                  <a:tcPr marL="73152" marR="73152" marT="18288" marB="18288">
                    <a:solidFill>
                      <a:srgbClr val="F5F7FA"/>
                    </a:solidFill>
                  </a:tcPr>
                </a:tc>
              </a:tr>
              <a:tr h="259080">
                <a:tc>
                  <a:txBody>
                    <a:bodyPr/>
                    <a:lstStyle/>
                    <a:p>
                      <a:pPr algn="l"/>
                      <a:r>
                        <a:rPr sz="1100">
                          <a:solidFill>
                            <a:srgbClr val="333333"/>
                          </a:solidFill>
                          <a:latin typeface="Calibri"/>
                        </a:rPr>
                        <a:t>TAU</a:t>
                      </a:r>
                    </a:p>
                  </a:txBody>
                  <a:tcPr marL="73152" marR="73152" marT="18288" marB="18288">
                    <a:solidFill>
                      <a:srgbClr val="FFFFFF"/>
                    </a:solidFill>
                  </a:tcPr>
                </a:tc>
                <a:tc>
                  <a:txBody>
                    <a:bodyPr/>
                    <a:lstStyle/>
                    <a:p>
                      <a:pPr algn="l"/>
                      <a:r>
                        <a:rPr sz="1100">
                          <a:solidFill>
                            <a:srgbClr val="333333"/>
                          </a:solidFill>
                          <a:latin typeface="Calibri"/>
                        </a:rPr>
                        <a:t>0.005</a:t>
                      </a:r>
                    </a:p>
                  </a:txBody>
                  <a:tcPr marL="73152" marR="73152" marT="18288" marB="18288">
                    <a:solidFill>
                      <a:srgbClr val="FFFFFF"/>
                    </a:solidFill>
                  </a:tcPr>
                </a:tc>
                <a:tc>
                  <a:txBody>
                    <a:bodyPr/>
                    <a:lstStyle/>
                    <a:p>
                      <a:pPr algn="l"/>
                      <a:r>
                        <a:rPr sz="1100">
                          <a:solidFill>
                            <a:srgbClr val="333333"/>
                          </a:solidFill>
                          <a:latin typeface="Calibri"/>
                        </a:rPr>
                        <a:t>Polyak target update rate</a:t>
                      </a:r>
                    </a:p>
                  </a:txBody>
                  <a:tcPr marL="73152" marR="73152" marT="18288" marB="18288">
                    <a:solidFill>
                      <a:srgbClr val="FFFFFF"/>
                    </a:solidFill>
                  </a:tcPr>
                </a:tc>
              </a:tr>
              <a:tr h="259080">
                <a:tc>
                  <a:txBody>
                    <a:bodyPr/>
                    <a:lstStyle/>
                    <a:p>
                      <a:pPr algn="l"/>
                      <a:r>
                        <a:rPr sz="1100">
                          <a:solidFill>
                            <a:srgbClr val="333333"/>
                          </a:solidFill>
                          <a:latin typeface="Calibri"/>
                        </a:rPr>
                        <a:t>POLICY_NOISE / NOISE_CLIP</a:t>
                      </a:r>
                    </a:p>
                  </a:txBody>
                  <a:tcPr marL="73152" marR="73152" marT="18288" marB="18288">
                    <a:solidFill>
                      <a:srgbClr val="F5F7FA"/>
                    </a:solidFill>
                  </a:tcPr>
                </a:tc>
                <a:tc>
                  <a:txBody>
                    <a:bodyPr/>
                    <a:lstStyle/>
                    <a:p>
                      <a:pPr algn="l"/>
                      <a:r>
                        <a:rPr sz="1100">
                          <a:solidFill>
                            <a:srgbClr val="333333"/>
                          </a:solidFill>
                          <a:latin typeface="Calibri"/>
                        </a:rPr>
                        <a:t>0.2 / 0.5</a:t>
                      </a:r>
                    </a:p>
                  </a:txBody>
                  <a:tcPr marL="73152" marR="73152" marT="18288" marB="18288">
                    <a:solidFill>
                      <a:srgbClr val="F5F7FA"/>
                    </a:solidFill>
                  </a:tcPr>
                </a:tc>
                <a:tc>
                  <a:txBody>
                    <a:bodyPr/>
                    <a:lstStyle/>
                    <a:p>
                      <a:pPr algn="l"/>
                      <a:r>
                        <a:rPr sz="1100">
                          <a:solidFill>
                            <a:srgbClr val="333333"/>
                          </a:solidFill>
                          <a:latin typeface="Calibri"/>
                        </a:rPr>
                        <a:t>Target smoothing</a:t>
                      </a:r>
                    </a:p>
                  </a:txBody>
                  <a:tcPr marL="73152" marR="73152" marT="18288" marB="18288">
                    <a:solidFill>
                      <a:srgbClr val="F5F7FA"/>
                    </a:solidFill>
                  </a:tcPr>
                </a:tc>
              </a:tr>
              <a:tr h="259080">
                <a:tc>
                  <a:txBody>
                    <a:bodyPr/>
                    <a:lstStyle/>
                    <a:p>
                      <a:pPr algn="l"/>
                      <a:r>
                        <a:rPr sz="1100">
                          <a:solidFill>
                            <a:srgbClr val="333333"/>
                          </a:solidFill>
                          <a:latin typeface="Calibri"/>
                        </a:rPr>
                        <a:t>POLICY_DELAY</a:t>
                      </a:r>
                    </a:p>
                  </a:txBody>
                  <a:tcPr marL="73152" marR="73152" marT="18288" marB="18288">
                    <a:solidFill>
                      <a:srgbClr val="FFFFFF"/>
                    </a:solidFill>
                  </a:tcPr>
                </a:tc>
                <a:tc>
                  <a:txBody>
                    <a:bodyPr/>
                    <a:lstStyle/>
                    <a:p>
                      <a:pPr algn="l"/>
                      <a:r>
                        <a:rPr sz="1100">
                          <a:solidFill>
                            <a:srgbClr val="333333"/>
                          </a:solidFill>
                          <a:latin typeface="Calibri"/>
                        </a:rPr>
                        <a:t>2</a:t>
                      </a:r>
                    </a:p>
                  </a:txBody>
                  <a:tcPr marL="73152" marR="73152" marT="18288" marB="18288">
                    <a:solidFill>
                      <a:srgbClr val="FFFFFF"/>
                    </a:solidFill>
                  </a:tcPr>
                </a:tc>
                <a:tc>
                  <a:txBody>
                    <a:bodyPr/>
                    <a:lstStyle/>
                    <a:p>
                      <a:pPr algn="l"/>
                      <a:r>
                        <a:rPr sz="1100">
                          <a:solidFill>
                            <a:srgbClr val="333333"/>
                          </a:solidFill>
                          <a:latin typeface="Calibri"/>
                        </a:rPr>
                        <a:t>Delayed actor update</a:t>
                      </a:r>
                    </a:p>
                  </a:txBody>
                  <a:tcPr marL="73152" marR="73152" marT="18288" marB="18288">
                    <a:solidFill>
                      <a:srgbClr val="FFFFFF"/>
                    </a:solidFill>
                  </a:tcPr>
                </a:tc>
              </a:tr>
              <a:tr h="259080">
                <a:tc>
                  <a:txBody>
                    <a:bodyPr/>
                    <a:lstStyle/>
                    <a:p>
                      <a:pPr algn="l"/>
                      <a:r>
                        <a:rPr sz="1100">
                          <a:solidFill>
                            <a:srgbClr val="333333"/>
                          </a:solidFill>
                          <a:latin typeface="Calibri"/>
                        </a:rPr>
                        <a:t>REPLAY_BUFFER_SIZE</a:t>
                      </a:r>
                    </a:p>
                  </a:txBody>
                  <a:tcPr marL="73152" marR="73152" marT="18288" marB="18288">
                    <a:solidFill>
                      <a:srgbClr val="F5F7FA"/>
                    </a:solidFill>
                  </a:tcPr>
                </a:tc>
                <a:tc>
                  <a:txBody>
                    <a:bodyPr/>
                    <a:lstStyle/>
                    <a:p>
                      <a:pPr algn="l"/>
                      <a:r>
                        <a:rPr sz="1100">
                          <a:solidFill>
                            <a:srgbClr val="333333"/>
                          </a:solidFill>
                          <a:latin typeface="Calibri"/>
                        </a:rPr>
                        <a:t>200 000</a:t>
                      </a:r>
                    </a:p>
                  </a:txBody>
                  <a:tcPr marL="73152" marR="73152" marT="18288" marB="18288">
                    <a:solidFill>
                      <a:srgbClr val="F5F7FA"/>
                    </a:solidFill>
                  </a:tcPr>
                </a:tc>
                <a:tc>
                  <a:txBody>
                    <a:bodyPr/>
                    <a:lstStyle/>
                    <a:p>
                      <a:pPr algn="l"/>
                      <a:r>
                        <a:rPr sz="1100">
                          <a:solidFill>
                            <a:srgbClr val="333333"/>
                          </a:solidFill>
                          <a:latin typeface="Calibri"/>
                        </a:rPr>
                        <a:t>Pre-allocated on GPU</a:t>
                      </a:r>
                    </a:p>
                  </a:txBody>
                  <a:tcPr marL="73152" marR="73152" marT="18288" marB="18288">
                    <a:solidFill>
                      <a:srgbClr val="F5F7FA"/>
                    </a:solidFill>
                  </a:tcPr>
                </a:tc>
              </a:tr>
              <a:tr h="259080">
                <a:tc>
                  <a:txBody>
                    <a:bodyPr/>
                    <a:lstStyle/>
                    <a:p>
                      <a:pPr algn="l"/>
                      <a:r>
                        <a:rPr sz="1100">
                          <a:solidFill>
                            <a:srgbClr val="333333"/>
                          </a:solidFill>
                          <a:latin typeface="Calibri"/>
                        </a:rPr>
                        <a:t>STEPS_PER_EPISODE</a:t>
                      </a:r>
                    </a:p>
                  </a:txBody>
                  <a:tcPr marL="73152" marR="73152" marT="18288" marB="18288">
                    <a:solidFill>
                      <a:srgbClr val="FFFFFF"/>
                    </a:solidFill>
                  </a:tcPr>
                </a:tc>
                <a:tc>
                  <a:txBody>
                    <a:bodyPr/>
                    <a:lstStyle/>
                    <a:p>
                      <a:pPr algn="l"/>
                      <a:r>
                        <a:rPr sz="1100">
                          <a:solidFill>
                            <a:srgbClr val="333333"/>
                          </a:solidFill>
                          <a:latin typeface="Calibri"/>
                        </a:rPr>
                        <a:t>200</a:t>
                      </a:r>
                    </a:p>
                  </a:txBody>
                  <a:tcPr marL="73152" marR="73152" marT="18288" marB="18288">
                    <a:solidFill>
                      <a:srgbClr val="FFFFFF"/>
                    </a:solidFill>
                  </a:tcPr>
                </a:tc>
                <a:tc>
                  <a:txBody>
                    <a:bodyPr/>
                    <a:lstStyle/>
                    <a:p>
                      <a:pPr algn="l"/>
                      <a:r>
                        <a:rPr sz="1100">
                          <a:solidFill>
                            <a:srgbClr val="333333"/>
                          </a:solidFill>
                          <a:latin typeface="Calibri"/>
                        </a:rPr>
                        <a:t>Block-fading per episode</a:t>
                      </a:r>
                    </a:p>
                  </a:txBody>
                  <a:tcPr marL="73152" marR="73152" marT="18288" marB="18288">
                    <a:solidFill>
                      <a:srgbClr val="FFFFFF"/>
                    </a:solidFill>
                  </a:tcPr>
                </a:tc>
              </a:tr>
              <a:tr h="259080">
                <a:tc>
                  <a:txBody>
                    <a:bodyPr/>
                    <a:lstStyle/>
                    <a:p>
                      <a:pPr algn="l"/>
                      <a:r>
                        <a:rPr sz="1100">
                          <a:solidFill>
                            <a:srgbClr val="333333"/>
                          </a:solidFill>
                          <a:latin typeface="Calibri"/>
                        </a:rPr>
                        <a:t>GRU_HIDDEN / LAYERS</a:t>
                      </a:r>
                    </a:p>
                  </a:txBody>
                  <a:tcPr marL="73152" marR="73152" marT="18288" marB="18288">
                    <a:solidFill>
                      <a:srgbClr val="F5F7FA"/>
                    </a:solidFill>
                  </a:tcPr>
                </a:tc>
                <a:tc>
                  <a:txBody>
                    <a:bodyPr/>
                    <a:lstStyle/>
                    <a:p>
                      <a:pPr algn="l"/>
                      <a:r>
                        <a:rPr sz="1100">
                          <a:solidFill>
                            <a:srgbClr val="333333"/>
                          </a:solidFill>
                          <a:latin typeface="Calibri"/>
                        </a:rPr>
                        <a:t>64 / 2</a:t>
                      </a:r>
                    </a:p>
                  </a:txBody>
                  <a:tcPr marL="73152" marR="73152" marT="18288" marB="18288">
                    <a:solidFill>
                      <a:srgbClr val="F5F7FA"/>
                    </a:solidFill>
                  </a:tcPr>
                </a:tc>
                <a:tc>
                  <a:txBody>
                    <a:bodyPr/>
                    <a:lstStyle/>
                    <a:p>
                      <a:pPr algn="l"/>
                      <a:r>
                        <a:rPr sz="1100">
                          <a:solidFill>
                            <a:srgbClr val="333333"/>
                          </a:solidFill>
                          <a:latin typeface="Calibri"/>
                        </a:rPr>
                        <a:t>Belief encoder</a:t>
                      </a:r>
                    </a:p>
                  </a:txBody>
                  <a:tcPr marL="73152" marR="73152" marT="18288" marB="18288">
                    <a:solidFill>
                      <a:srgbClr val="F5F7FA"/>
                    </a:solidFill>
                  </a:tcPr>
                </a:tc>
              </a:tr>
              <a:tr h="259080">
                <a:tc>
                  <a:txBody>
                    <a:bodyPr/>
                    <a:lstStyle/>
                    <a:p>
                      <a:pPr algn="l"/>
                      <a:r>
                        <a:rPr sz="1100">
                          <a:solidFill>
                            <a:srgbClr val="333333"/>
                          </a:solidFill>
                          <a:latin typeface="Calibri"/>
                        </a:rPr>
                        <a:t>SEQ_LEN / BELIEF_DIM</a:t>
                      </a:r>
                    </a:p>
                  </a:txBody>
                  <a:tcPr marL="73152" marR="73152" marT="18288" marB="18288">
                    <a:solidFill>
                      <a:srgbClr val="FFFFFF"/>
                    </a:solidFill>
                  </a:tcPr>
                </a:tc>
                <a:tc>
                  <a:txBody>
                    <a:bodyPr/>
                    <a:lstStyle/>
                    <a:p>
                      <a:pPr algn="l"/>
                      <a:r>
                        <a:rPr sz="1100">
                          <a:solidFill>
                            <a:srgbClr val="333333"/>
                          </a:solidFill>
                          <a:latin typeface="Calibri"/>
                        </a:rPr>
                        <a:t>8 / 16</a:t>
                      </a:r>
                    </a:p>
                  </a:txBody>
                  <a:tcPr marL="73152" marR="73152" marT="18288" marB="18288">
                    <a:solidFill>
                      <a:srgbClr val="FFFFFF"/>
                    </a:solidFill>
                  </a:tcPr>
                </a:tc>
                <a:tc>
                  <a:txBody>
                    <a:bodyPr/>
                    <a:lstStyle/>
                    <a:p>
                      <a:pPr algn="l"/>
                      <a:r>
                        <a:rPr sz="1100">
                          <a:solidFill>
                            <a:srgbClr val="333333"/>
                          </a:solidFill>
                          <a:latin typeface="Calibri"/>
                        </a:rPr>
                        <a:t>History length / belief</a:t>
                      </a:r>
                    </a:p>
                  </a:txBody>
                  <a:tcPr marL="73152" marR="73152" marT="18288" marB="18288">
                    <a:solidFill>
                      <a:srgbClr val="FFFFFF"/>
                    </a:solidFill>
                  </a:tcPr>
                </a:tc>
              </a:tr>
              <a:tr h="259080">
                <a:tc>
                  <a:txBody>
                    <a:bodyPr/>
                    <a:lstStyle/>
                    <a:p>
                      <a:pPr algn="l"/>
                      <a:r>
                        <a:rPr sz="1100">
                          <a:solidFill>
                            <a:srgbClr val="333333"/>
                          </a:solidFill>
                          <a:latin typeface="Calibri"/>
                        </a:rPr>
                        <a:t>LAMBDA1 / LAMBDA2 / LAMBDA3 (init)</a:t>
                      </a:r>
                    </a:p>
                  </a:txBody>
                  <a:tcPr marL="73152" marR="73152" marT="18288" marB="18288">
                    <a:solidFill>
                      <a:srgbClr val="F5F7FA"/>
                    </a:solidFill>
                  </a:tcPr>
                </a:tc>
                <a:tc>
                  <a:txBody>
                    <a:bodyPr/>
                    <a:lstStyle/>
                    <a:p>
                      <a:pPr algn="l"/>
                      <a:r>
                        <a:rPr sz="1100">
                          <a:solidFill>
                            <a:srgbClr val="333333"/>
                          </a:solidFill>
                          <a:latin typeface="Calibri"/>
                        </a:rPr>
                        <a:t>3.0 / 1.0 / 0.01</a:t>
                      </a:r>
                    </a:p>
                  </a:txBody>
                  <a:tcPr marL="73152" marR="73152" marT="18288" marB="18288">
                    <a:solidFill>
                      <a:srgbClr val="F5F7FA"/>
                    </a:solidFill>
                  </a:tcPr>
                </a:tc>
                <a:tc>
                  <a:txBody>
                    <a:bodyPr/>
                    <a:lstStyle/>
                    <a:p>
                      <a:pPr algn="l"/>
                      <a:r>
                        <a:rPr sz="1100">
                          <a:solidFill>
                            <a:srgbClr val="333333"/>
                          </a:solidFill>
                          <a:latin typeface="Calibri"/>
                        </a:rPr>
                        <a:t>Adaptive Lagrangians</a:t>
                      </a:r>
                    </a:p>
                  </a:txBody>
                  <a:tcPr marL="73152" marR="73152" marT="18288" marB="18288">
                    <a:solidFill>
                      <a:srgbClr val="F5F7FA"/>
                    </a:solidFill>
                  </a:tcPr>
                </a:tc>
              </a:tr>
              <a:tr h="259080">
                <a:tc>
                  <a:txBody>
                    <a:bodyPr/>
                    <a:lstStyle/>
                    <a:p>
                      <a:pPr algn="l"/>
                      <a:r>
                        <a:rPr sz="1100">
                          <a:solidFill>
                            <a:srgbClr val="333333"/>
                          </a:solidFill>
                          <a:latin typeface="Calibri"/>
                        </a:rPr>
                        <a:t>LR_LAMBDA</a:t>
                      </a:r>
                    </a:p>
                  </a:txBody>
                  <a:tcPr marL="73152" marR="73152" marT="18288" marB="18288">
                    <a:solidFill>
                      <a:srgbClr val="FFFFFF"/>
                    </a:solidFill>
                  </a:tcPr>
                </a:tc>
                <a:tc>
                  <a:txBody>
                    <a:bodyPr/>
                    <a:lstStyle/>
                    <a:p>
                      <a:pPr algn="l"/>
                      <a:r>
                        <a:rPr sz="1100">
                          <a:solidFill>
                            <a:srgbClr val="333333"/>
                          </a:solidFill>
                          <a:latin typeface="Calibri"/>
                        </a:rPr>
                        <a:t>5 × 10⁻⁴</a:t>
                      </a:r>
                    </a:p>
                  </a:txBody>
                  <a:tcPr marL="73152" marR="73152" marT="18288" marB="18288">
                    <a:solidFill>
                      <a:srgbClr val="FFFFFF"/>
                    </a:solidFill>
                  </a:tcPr>
                </a:tc>
                <a:tc>
                  <a:txBody>
                    <a:bodyPr/>
                    <a:lstStyle/>
                    <a:p>
                      <a:pPr algn="l"/>
                      <a:r>
                        <a:rPr sz="1100">
                          <a:solidFill>
                            <a:srgbClr val="333333"/>
                          </a:solidFill>
                          <a:latin typeface="Calibri"/>
                        </a:rPr>
                        <a:t>Dual gradient learning rate</a:t>
                      </a:r>
                    </a:p>
                  </a:txBody>
                  <a:tcPr marL="73152" marR="73152" marT="18288" marB="18288">
                    <a:solidFill>
                      <a:srgbClr val="FFFFFF"/>
                    </a:solidFill>
                  </a:tcPr>
                </a:tc>
              </a:tr>
              <a:tr h="259080">
                <a:tc>
                  <a:txBody>
                    <a:bodyPr/>
                    <a:lstStyle/>
                    <a:p>
                      <a:pPr algn="l"/>
                      <a:r>
                        <a:rPr sz="1100">
                          <a:solidFill>
                            <a:srgbClr val="333333"/>
                          </a:solidFill>
                          <a:latin typeface="Calibri"/>
                        </a:rPr>
                        <a:t>MU_BIAS</a:t>
                      </a:r>
                    </a:p>
                  </a:txBody>
                  <a:tcPr marL="73152" marR="73152" marT="18288" marB="18288">
                    <a:solidFill>
                      <a:srgbClr val="F5F7FA"/>
                    </a:solidFill>
                  </a:tcPr>
                </a:tc>
                <a:tc>
                  <a:txBody>
                    <a:bodyPr/>
                    <a:lstStyle/>
                    <a:p>
                      <a:pPr algn="l"/>
                      <a:r>
                        <a:rPr sz="1100">
                          <a:solidFill>
                            <a:srgbClr val="333333"/>
                          </a:solidFill>
                          <a:latin typeface="Calibri"/>
                        </a:rPr>
                        <a:t>−0.05</a:t>
                      </a:r>
                    </a:p>
                  </a:txBody>
                  <a:tcPr marL="73152" marR="73152" marT="18288" marB="18288">
                    <a:solidFill>
                      <a:srgbClr val="F5F7FA"/>
                    </a:solidFill>
                  </a:tcPr>
                </a:tc>
                <a:tc>
                  <a:txBody>
                    <a:bodyPr/>
                    <a:lstStyle/>
                    <a:p>
                      <a:pPr algn="l"/>
                      <a:r>
                        <a:rPr sz="1100">
                          <a:solidFill>
                            <a:srgbClr val="333333"/>
                          </a:solidFill>
                          <a:latin typeface="Calibri"/>
                        </a:rPr>
                        <a:t>Directional noise mean</a:t>
                      </a:r>
                    </a:p>
                  </a:txBody>
                  <a:tcPr marL="73152" marR="73152" marT="18288" marB="18288">
                    <a:solidFill>
                      <a:srgbClr val="F5F7FA"/>
                    </a:solidFill>
                  </a:tcPr>
                </a:tc>
              </a:tr>
              <a:tr h="259080">
                <a:tc>
                  <a:txBody>
                    <a:bodyPr/>
                    <a:lstStyle/>
                    <a:p>
                      <a:pPr algn="l"/>
                      <a:r>
                        <a:rPr sz="1100">
                          <a:solidFill>
                            <a:srgbClr val="333333"/>
                          </a:solidFill>
                          <a:latin typeface="Calibri"/>
                        </a:rPr>
                        <a:t>NAKAGAMI_m</a:t>
                      </a:r>
                    </a:p>
                  </a:txBody>
                  <a:tcPr marL="73152" marR="73152" marT="18288" marB="18288">
                    <a:solidFill>
                      <a:srgbClr val="FFFFFF"/>
                    </a:solidFill>
                  </a:tcPr>
                </a:tc>
                <a:tc>
                  <a:txBody>
                    <a:bodyPr/>
                    <a:lstStyle/>
                    <a:p>
                      <a:pPr algn="l"/>
                      <a:r>
                        <a:rPr sz="1100">
                          <a:solidFill>
                            <a:srgbClr val="333333"/>
                          </a:solidFill>
                          <a:latin typeface="Calibri"/>
                        </a:rPr>
                        <a:t>1.0 or 3.0</a:t>
                      </a:r>
                    </a:p>
                  </a:txBody>
                  <a:tcPr marL="73152" marR="73152" marT="18288" marB="18288">
                    <a:solidFill>
                      <a:srgbClr val="FFFFFF"/>
                    </a:solidFill>
                  </a:tcPr>
                </a:tc>
                <a:tc>
                  <a:txBody>
                    <a:bodyPr/>
                    <a:lstStyle/>
                    <a:p>
                      <a:pPr algn="l"/>
                      <a:r>
                        <a:rPr sz="1100">
                          <a:solidFill>
                            <a:srgbClr val="333333"/>
                          </a:solidFill>
                          <a:latin typeface="Calibri"/>
                        </a:rPr>
                        <a:t>Fading severity (Rayleigh / moderate)</a:t>
                      </a:r>
                    </a:p>
                  </a:txBody>
                  <a:tcPr marL="73152" marR="73152" marT="18288" marB="18288">
                    <a:solidFill>
                      <a:srgbClr val="FFFFFF"/>
                    </a:solidFill>
                  </a:tcPr>
                </a:tc>
              </a:tr>
              <a:tr h="259080">
                <a:tc>
                  <a:txBody>
                    <a:bodyPr/>
                    <a:lstStyle/>
                    <a:p>
                      <a:pPr algn="l"/>
                      <a:r>
                        <a:rPr sz="1100">
                          <a:solidFill>
                            <a:srgbClr val="333333"/>
                          </a:solidFill>
                          <a:latin typeface="Calibri"/>
                        </a:rPr>
                        <a:t>P_p / P_max</a:t>
                      </a:r>
                    </a:p>
                  </a:txBody>
                  <a:tcPr marL="73152" marR="73152" marT="18288" marB="18288">
                    <a:solidFill>
                      <a:srgbClr val="F5F7FA"/>
                    </a:solidFill>
                  </a:tcPr>
                </a:tc>
                <a:tc>
                  <a:txBody>
                    <a:bodyPr/>
                    <a:lstStyle/>
                    <a:p>
                      <a:pPr algn="l"/>
                      <a:r>
                        <a:rPr sz="1100">
                          <a:solidFill>
                            <a:srgbClr val="333333"/>
                          </a:solidFill>
                          <a:latin typeface="Calibri"/>
                        </a:rPr>
                        <a:t>1.0 / 3.0 W</a:t>
                      </a:r>
                    </a:p>
                  </a:txBody>
                  <a:tcPr marL="73152" marR="73152" marT="18288" marB="18288">
                    <a:solidFill>
                      <a:srgbClr val="F5F7FA"/>
                    </a:solidFill>
                  </a:tcPr>
                </a:tc>
                <a:tc>
                  <a:txBody>
                    <a:bodyPr/>
                    <a:lstStyle/>
                    <a:p>
                      <a:pPr algn="l"/>
                      <a:r>
                        <a:rPr sz="1100">
                          <a:solidFill>
                            <a:srgbClr val="333333"/>
                          </a:solidFill>
                          <a:latin typeface="Calibri"/>
                        </a:rPr>
                        <a:t>Fixed PU and max SU power</a:t>
                      </a:r>
                    </a:p>
                  </a:txBody>
                  <a:tcPr marL="73152" marR="73152" marT="18288" marB="18288">
                    <a:solidFill>
                      <a:srgbClr val="F5F7FA"/>
                    </a:solidFill>
                  </a:tcPr>
                </a:tc>
              </a:tr>
              <a:tr h="259080">
                <a:tc>
                  <a:txBody>
                    <a:bodyPr/>
                    <a:lstStyle/>
                    <a:p>
                      <a:pPr algn="l"/>
                      <a:r>
                        <a:rPr sz="1100">
                          <a:solidFill>
                            <a:srgbClr val="333333"/>
                          </a:solidFill>
                          <a:latin typeface="Calibri"/>
                        </a:rPr>
                        <a:t>SINR_THRESHOLD γ_th</a:t>
                      </a:r>
                    </a:p>
                  </a:txBody>
                  <a:tcPr marL="73152" marR="73152" marT="18288" marB="18288">
                    <a:solidFill>
                      <a:srgbClr val="FFFFFF"/>
                    </a:solidFill>
                  </a:tcPr>
                </a:tc>
                <a:tc>
                  <a:txBody>
                    <a:bodyPr/>
                    <a:lstStyle/>
                    <a:p>
                      <a:pPr algn="l"/>
                      <a:r>
                        <a:rPr sz="1100">
                          <a:solidFill>
                            <a:srgbClr val="333333"/>
                          </a:solidFill>
                          <a:latin typeface="Calibri"/>
                        </a:rPr>
                        <a:t>1.0 (0 dB)</a:t>
                      </a:r>
                    </a:p>
                  </a:txBody>
                  <a:tcPr marL="73152" marR="73152" marT="18288" marB="18288">
                    <a:solidFill>
                      <a:srgbClr val="FFFFFF"/>
                    </a:solidFill>
                  </a:tcPr>
                </a:tc>
                <a:tc>
                  <a:txBody>
                    <a:bodyPr/>
                    <a:lstStyle/>
                    <a:p>
                      <a:pPr algn="l"/>
                      <a:r>
                        <a:rPr sz="1100">
                          <a:solidFill>
                            <a:srgbClr val="333333"/>
                          </a:solidFill>
                          <a:latin typeface="Calibri"/>
                        </a:rPr>
                        <a:t>PU protection threshold</a:t>
                      </a:r>
                    </a:p>
                  </a:txBody>
                  <a:tcPr marL="73152" marR="73152" marT="18288" marB="18288">
                    <a:solidFill>
                      <a:srgbClr val="FFFFFF"/>
                    </a:solidFill>
                  </a:tcPr>
                </a:tc>
              </a:tr>
            </a:tbl>
          </a:graphicData>
        </a:graphic>
      </p:graphicFrame>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Experimental Set-up for Results</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Common Settings — Imperfect CSI</a:t>
            </a:r>
          </a:p>
          <a:p>
            <a:pPr>
              <a:lnSpc>
                <a:spcPct val="115000"/>
              </a:lnSpc>
              <a:spcAft>
                <a:spcPts val="200"/>
              </a:spcAft>
            </a:pPr>
            <a:r>
              <a:rPr sz="1300">
                <a:solidFill>
                  <a:srgbClr val="333333"/>
                </a:solidFill>
                <a:latin typeface="Calibri"/>
              </a:rPr>
              <a:t>• Channel: Nakagami-m block fading, Ω = 1.0, σ² = 10⁻³ W. All experiments use IMPERFECT CSI.</a:t>
            </a:r>
          </a:p>
          <a:p>
            <a:pPr>
              <a:lnSpc>
                <a:spcPct val="115000"/>
              </a:lnSpc>
              <a:spcAft>
                <a:spcPts val="200"/>
              </a:spcAft>
            </a:pPr>
            <a:r>
              <a:rPr sz="1300">
                <a:solidFill>
                  <a:srgbClr val="333333"/>
                </a:solidFill>
                <a:latin typeface="Calibri"/>
              </a:rPr>
              <a:t>• Powers: P_p = 1.0 W, P_max = 3.0 W; PU threshold γ_th = 1.0 (≈ 0 dB).</a:t>
            </a:r>
          </a:p>
          <a:p>
            <a:pPr>
              <a:lnSpc>
                <a:spcPct val="115000"/>
              </a:lnSpc>
              <a:spcAft>
                <a:spcPts val="200"/>
              </a:spcAft>
            </a:pPr>
            <a:r>
              <a:rPr sz="1300">
                <a:solidFill>
                  <a:srgbClr val="333333"/>
                </a:solidFill>
                <a:latin typeface="Calibri"/>
              </a:rPr>
              <a:t>• Episode = 200 steps, identical seed across algorithms.</a:t>
            </a:r>
          </a:p>
          <a:p>
            <a:pPr>
              <a:lnSpc>
                <a:spcPct val="115000"/>
              </a:lnSpc>
              <a:spcBef>
                <a:spcPts val="400"/>
              </a:spcBef>
              <a:spcAft>
                <a:spcPts val="200"/>
              </a:spcAft>
            </a:pPr>
            <a:r>
              <a:rPr sz="1400" b="1">
                <a:solidFill>
                  <a:srgbClr val="2C5F8D"/>
                </a:solidFill>
                <a:latin typeface="Calibri"/>
              </a:rPr>
              <a:t>Experiments Reported</a:t>
            </a:r>
          </a:p>
          <a:p>
            <a:pPr>
              <a:lnSpc>
                <a:spcPct val="115000"/>
              </a:lnSpc>
              <a:spcAft>
                <a:spcPts val="200"/>
              </a:spcAft>
            </a:pPr>
            <a:r>
              <a:rPr sz="1300" b="1">
                <a:solidFill>
                  <a:srgbClr val="1A365D"/>
                </a:solidFill>
                <a:latin typeface="Calibri"/>
              </a:rPr>
              <a:t>• Experiment A — Imperfect CSI, m = 1 (Rayleigh):</a:t>
            </a:r>
            <a:r>
              <a:rPr sz="1300">
                <a:solidFill>
                  <a:srgbClr val="333333"/>
                </a:solidFill>
                <a:latin typeface="Calibri"/>
              </a:rPr>
              <a:t> TD3 vs DDPG, 3 500 episodes.</a:t>
            </a:r>
          </a:p>
          <a:p>
            <a:pPr>
              <a:lnSpc>
                <a:spcPct val="115000"/>
              </a:lnSpc>
              <a:spcAft>
                <a:spcPts val="200"/>
              </a:spcAft>
            </a:pPr>
            <a:r>
              <a:rPr sz="1300" b="1">
                <a:solidFill>
                  <a:srgbClr val="1A365D"/>
                </a:solidFill>
                <a:latin typeface="Calibri"/>
              </a:rPr>
              <a:t>• Experiment B — Imperfect CSI, m = 3 (moderate):</a:t>
            </a:r>
            <a:r>
              <a:rPr sz="1300">
                <a:solidFill>
                  <a:srgbClr val="333333"/>
                </a:solidFill>
                <a:latin typeface="Calibri"/>
              </a:rPr>
              <a:t> TD3 vs DDPG, 3 500 episodes.</a:t>
            </a:r>
          </a:p>
          <a:p>
            <a:pPr>
              <a:lnSpc>
                <a:spcPct val="115000"/>
              </a:lnSpc>
              <a:spcAft>
                <a:spcPts val="200"/>
              </a:spcAft>
            </a:pPr>
            <a:r>
              <a:rPr sz="1300" b="1">
                <a:solidFill>
                  <a:srgbClr val="1A365D"/>
                </a:solidFill>
                <a:latin typeface="Calibri"/>
              </a:rPr>
              <a:t>• Experiment C — 3-way comparison, m = 3:</a:t>
            </a:r>
            <a:r>
              <a:rPr sz="1300">
                <a:solidFill>
                  <a:srgbClr val="333333"/>
                </a:solidFill>
                <a:latin typeface="Calibri"/>
              </a:rPr>
              <a:t> TD3 vs DDPG vs Proposed Algorithm, 1 500 episodes.</a:t>
            </a:r>
          </a:p>
          <a:p>
            <a:pPr>
              <a:lnSpc>
                <a:spcPct val="115000"/>
              </a:lnSpc>
              <a:spcBef>
                <a:spcPts val="400"/>
              </a:spcBef>
              <a:spcAft>
                <a:spcPts val="200"/>
              </a:spcAft>
            </a:pPr>
            <a:r>
              <a:rPr sz="1400" b="1">
                <a:solidFill>
                  <a:srgbClr val="2C5F8D"/>
                </a:solidFill>
                <a:latin typeface="Calibri"/>
              </a:rPr>
              <a:t>Metrics Tracked</a:t>
            </a:r>
          </a:p>
          <a:p>
            <a:pPr>
              <a:lnSpc>
                <a:spcPct val="115000"/>
              </a:lnSpc>
              <a:spcAft>
                <a:spcPts val="200"/>
              </a:spcAft>
            </a:pPr>
            <a:r>
              <a:rPr sz="1300">
                <a:solidFill>
                  <a:srgbClr val="333333"/>
                </a:solidFill>
                <a:latin typeface="Calibri"/>
              </a:rPr>
              <a:t>• Average episode reward  ·  SU throughput  ·  PU throughput  ·  Outage probability  ·  Average BER  ·  Training time.</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Experiment A — Imperfect CSI, m = 1  (TD3 vs DDPG)</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36576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Severe Rayleigh fading — measures robustness in the worst channel.</a:t>
            </a:r>
          </a:p>
        </p:txBody>
      </p:sp>
      <p:graphicFrame>
        <p:nvGraphicFramePr>
          <p:cNvPr id="5" name="Table 4"/>
          <p:cNvGraphicFramePr>
            <a:graphicFrameLocks noGrp="1"/>
          </p:cNvGraphicFramePr>
          <p:nvPr/>
        </p:nvGraphicFramePr>
        <p:xfrm>
          <a:off x="457200" y="1554480"/>
          <a:ext cx="8229600" cy="2377440"/>
        </p:xfrm>
        <a:graphic>
          <a:graphicData uri="http://schemas.openxmlformats.org/drawingml/2006/table">
            <a:tbl>
              <a:tblPr firstRow="1" bandRow="1">
                <a:tableStyleId>{5C22544A-7EE6-4342-B048-85BDC9FD1C3A}</a:tableStyleId>
              </a:tblPr>
              <a:tblGrid>
                <a:gridCol w="3291840"/>
                <a:gridCol w="1645920"/>
                <a:gridCol w="1645920"/>
                <a:gridCol w="1645920"/>
              </a:tblGrid>
              <a:tr h="339634">
                <a:tc>
                  <a:txBody>
                    <a:bodyPr/>
                    <a:lstStyle/>
                    <a:p>
                      <a:pPr algn="l"/>
                      <a:r>
                        <a:rPr sz="1200" b="1">
                          <a:solidFill>
                            <a:srgbClr val="FFFFFF"/>
                          </a:solidFill>
                          <a:latin typeface="Calibri"/>
                        </a:rPr>
                        <a:t>Metric</a:t>
                      </a:r>
                    </a:p>
                  </a:txBody>
                  <a:tcPr marL="73152" marR="73152">
                    <a:solidFill>
                      <a:srgbClr val="1A365D"/>
                    </a:solidFill>
                  </a:tcPr>
                </a:tc>
                <a:tc>
                  <a:txBody>
                    <a:bodyPr/>
                    <a:lstStyle/>
                    <a:p>
                      <a:pPr algn="ctr"/>
                      <a:r>
                        <a:rPr sz="1200" b="1">
                          <a:solidFill>
                            <a:srgbClr val="FFFFFF"/>
                          </a:solidFill>
                          <a:latin typeface="Calibri"/>
                        </a:rPr>
                        <a:t>TD3</a:t>
                      </a:r>
                    </a:p>
                  </a:txBody>
                  <a:tcPr marL="73152" marR="73152">
                    <a:solidFill>
                      <a:srgbClr val="1A365D"/>
                    </a:solidFill>
                  </a:tcPr>
                </a:tc>
                <a:tc>
                  <a:txBody>
                    <a:bodyPr/>
                    <a:lstStyle/>
                    <a:p>
                      <a:pPr algn="ctr"/>
                      <a:r>
                        <a:rPr sz="1200" b="1">
                          <a:solidFill>
                            <a:srgbClr val="FFFFFF"/>
                          </a:solidFill>
                          <a:latin typeface="Calibri"/>
                        </a:rPr>
                        <a:t>DDPG</a:t>
                      </a:r>
                    </a:p>
                  </a:txBody>
                  <a:tcPr marL="73152" marR="73152">
                    <a:solidFill>
                      <a:srgbClr val="1A365D"/>
                    </a:solidFill>
                  </a:tcPr>
                </a:tc>
                <a:tc>
                  <a:txBody>
                    <a:bodyPr/>
                    <a:lstStyle/>
                    <a:p>
                      <a:pPr algn="ctr"/>
                      <a:r>
                        <a:rPr sz="1200" b="1">
                          <a:solidFill>
                            <a:srgbClr val="FFFFFF"/>
                          </a:solidFill>
                          <a:latin typeface="Calibri"/>
                        </a:rPr>
                        <a:t>Winner</a:t>
                      </a:r>
                    </a:p>
                  </a:txBody>
                  <a:tcPr marL="73152" marR="73152">
                    <a:solidFill>
                      <a:srgbClr val="1A365D"/>
                    </a:solidFill>
                  </a:tcPr>
                </a:tc>
              </a:tr>
              <a:tr h="339634">
                <a:tc>
                  <a:txBody>
                    <a:bodyPr/>
                    <a:lstStyle/>
                    <a:p>
                      <a:pPr algn="l"/>
                      <a:r>
                        <a:rPr sz="1200">
                          <a:solidFill>
                            <a:srgbClr val="333333"/>
                          </a:solidFill>
                          <a:latin typeface="Calibri"/>
                        </a:rPr>
                        <a:t>Avg Reward (last 100 ep)</a:t>
                      </a:r>
                    </a:p>
                  </a:txBody>
                  <a:tcPr marL="73152" marR="73152">
                    <a:solidFill>
                      <a:srgbClr val="FFFFFF"/>
                    </a:solidFill>
                  </a:tcPr>
                </a:tc>
                <a:tc>
                  <a:txBody>
                    <a:bodyPr/>
                    <a:lstStyle/>
                    <a:p>
                      <a:pPr algn="ctr"/>
                      <a:r>
                        <a:rPr sz="1200">
                          <a:solidFill>
                            <a:srgbClr val="333333"/>
                          </a:solidFill>
                          <a:latin typeface="Calibri"/>
                        </a:rPr>
                        <a:t>310.75</a:t>
                      </a:r>
                    </a:p>
                  </a:txBody>
                  <a:tcPr marL="73152" marR="73152">
                    <a:solidFill>
                      <a:srgbClr val="FFFFFF"/>
                    </a:solidFill>
                  </a:tcPr>
                </a:tc>
                <a:tc>
                  <a:txBody>
                    <a:bodyPr/>
                    <a:lstStyle/>
                    <a:p>
                      <a:pPr algn="ctr"/>
                      <a:r>
                        <a:rPr sz="1200">
                          <a:solidFill>
                            <a:srgbClr val="333333"/>
                          </a:solidFill>
                          <a:latin typeface="Calibri"/>
                        </a:rPr>
                        <a:t>272.07</a:t>
                      </a:r>
                    </a:p>
                  </a:txBody>
                  <a:tcPr marL="73152" marR="73152">
                    <a:solidFill>
                      <a:srgbClr val="FFFFFF"/>
                    </a:solidFill>
                  </a:tcPr>
                </a:tc>
                <a:tc>
                  <a:txBody>
                    <a:bodyPr/>
                    <a:lstStyle/>
                    <a:p>
                      <a:pPr algn="ctr"/>
                      <a:r>
                        <a:rPr sz="1200" b="1">
                          <a:solidFill>
                            <a:srgbClr val="0B7A75"/>
                          </a:solidFill>
                          <a:latin typeface="Calibri"/>
                        </a:rPr>
                        <a:t>TD3</a:t>
                      </a:r>
                    </a:p>
                  </a:txBody>
                  <a:tcPr marL="73152" marR="73152">
                    <a:solidFill>
                      <a:srgbClr val="FFFFFF"/>
                    </a:solidFill>
                  </a:tcPr>
                </a:tc>
              </a:tr>
              <a:tr h="339634">
                <a:tc>
                  <a:txBody>
                    <a:bodyPr/>
                    <a:lstStyle/>
                    <a:p>
                      <a:pPr algn="l"/>
                      <a:r>
                        <a:rPr sz="1200">
                          <a:solidFill>
                            <a:srgbClr val="333333"/>
                          </a:solidFill>
                          <a:latin typeface="Calibri"/>
                        </a:rPr>
                        <a:t>SU Throughput (bits/s/Hz)</a:t>
                      </a:r>
                    </a:p>
                  </a:txBody>
                  <a:tcPr marL="73152" marR="73152">
                    <a:solidFill>
                      <a:srgbClr val="F5F7FA"/>
                    </a:solidFill>
                  </a:tcPr>
                </a:tc>
                <a:tc>
                  <a:txBody>
                    <a:bodyPr/>
                    <a:lstStyle/>
                    <a:p>
                      <a:pPr algn="ctr"/>
                      <a:r>
                        <a:rPr sz="1200">
                          <a:solidFill>
                            <a:srgbClr val="333333"/>
                          </a:solidFill>
                          <a:latin typeface="Calibri"/>
                        </a:rPr>
                        <a:t>2.365</a:t>
                      </a:r>
                    </a:p>
                  </a:txBody>
                  <a:tcPr marL="73152" marR="73152">
                    <a:solidFill>
                      <a:srgbClr val="F5F7FA"/>
                    </a:solidFill>
                  </a:tcPr>
                </a:tc>
                <a:tc>
                  <a:txBody>
                    <a:bodyPr/>
                    <a:lstStyle/>
                    <a:p>
                      <a:pPr algn="ctr"/>
                      <a:r>
                        <a:rPr sz="1200">
                          <a:solidFill>
                            <a:srgbClr val="333333"/>
                          </a:solidFill>
                          <a:latin typeface="Calibri"/>
                        </a:rPr>
                        <a:t>2.065</a:t>
                      </a:r>
                    </a:p>
                  </a:txBody>
                  <a:tcPr marL="73152" marR="73152">
                    <a:solidFill>
                      <a:srgbClr val="F5F7FA"/>
                    </a:solidFill>
                  </a:tcPr>
                </a:tc>
                <a:tc>
                  <a:txBody>
                    <a:bodyPr/>
                    <a:lstStyle/>
                    <a:p>
                      <a:pPr algn="ctr"/>
                      <a:r>
                        <a:rPr sz="1200" b="1">
                          <a:solidFill>
                            <a:srgbClr val="0B7A75"/>
                          </a:solidFill>
                          <a:latin typeface="Calibri"/>
                        </a:rPr>
                        <a:t>TD3</a:t>
                      </a:r>
                    </a:p>
                  </a:txBody>
                  <a:tcPr marL="73152" marR="73152">
                    <a:solidFill>
                      <a:srgbClr val="F5F7FA"/>
                    </a:solidFill>
                  </a:tcPr>
                </a:tc>
              </a:tr>
              <a:tr h="339634">
                <a:tc>
                  <a:txBody>
                    <a:bodyPr/>
                    <a:lstStyle/>
                    <a:p>
                      <a:pPr algn="l"/>
                      <a:r>
                        <a:rPr sz="1200">
                          <a:solidFill>
                            <a:srgbClr val="333333"/>
                          </a:solidFill>
                          <a:latin typeface="Calibri"/>
                        </a:rPr>
                        <a:t>PU Throughput (bits/s/Hz)</a:t>
                      </a:r>
                    </a:p>
                  </a:txBody>
                  <a:tcPr marL="73152" marR="73152">
                    <a:solidFill>
                      <a:srgbClr val="FFFFFF"/>
                    </a:solidFill>
                  </a:tcPr>
                </a:tc>
                <a:tc>
                  <a:txBody>
                    <a:bodyPr/>
                    <a:lstStyle/>
                    <a:p>
                      <a:pPr algn="ctr"/>
                      <a:r>
                        <a:rPr sz="1200">
                          <a:solidFill>
                            <a:srgbClr val="333333"/>
                          </a:solidFill>
                          <a:latin typeface="Calibri"/>
                        </a:rPr>
                        <a:t>0.785</a:t>
                      </a:r>
                    </a:p>
                  </a:txBody>
                  <a:tcPr marL="73152" marR="73152">
                    <a:solidFill>
                      <a:srgbClr val="FFFFFF"/>
                    </a:solidFill>
                  </a:tcPr>
                </a:tc>
                <a:tc>
                  <a:txBody>
                    <a:bodyPr/>
                    <a:lstStyle/>
                    <a:p>
                      <a:pPr algn="ctr"/>
                      <a:r>
                        <a:rPr sz="1200">
                          <a:solidFill>
                            <a:srgbClr val="333333"/>
                          </a:solidFill>
                          <a:latin typeface="Calibri"/>
                        </a:rPr>
                        <a:t>0.999</a:t>
                      </a:r>
                    </a:p>
                  </a:txBody>
                  <a:tcPr marL="73152" marR="73152">
                    <a:solidFill>
                      <a:srgbClr val="FFFFFF"/>
                    </a:solidFill>
                  </a:tcPr>
                </a:tc>
                <a:tc>
                  <a:txBody>
                    <a:bodyPr/>
                    <a:lstStyle/>
                    <a:p>
                      <a:pPr algn="ctr"/>
                      <a:r>
                        <a:rPr sz="1200" b="1">
                          <a:solidFill>
                            <a:srgbClr val="C88B00"/>
                          </a:solidFill>
                          <a:latin typeface="Calibri"/>
                        </a:rPr>
                        <a:t>DDPG</a:t>
                      </a:r>
                    </a:p>
                  </a:txBody>
                  <a:tcPr marL="73152" marR="73152">
                    <a:solidFill>
                      <a:srgbClr val="FFFFFF"/>
                    </a:solidFill>
                  </a:tcPr>
                </a:tc>
              </a:tr>
              <a:tr h="339634">
                <a:tc>
                  <a:txBody>
                    <a:bodyPr/>
                    <a:lstStyle/>
                    <a:p>
                      <a:pPr algn="l"/>
                      <a:r>
                        <a:rPr sz="1200">
                          <a:solidFill>
                            <a:srgbClr val="333333"/>
                          </a:solidFill>
                          <a:latin typeface="Calibri"/>
                        </a:rPr>
                        <a:t>Outage Probability</a:t>
                      </a:r>
                    </a:p>
                  </a:txBody>
                  <a:tcPr marL="73152" marR="73152">
                    <a:solidFill>
                      <a:srgbClr val="F5F7FA"/>
                    </a:solidFill>
                  </a:tcPr>
                </a:tc>
                <a:tc>
                  <a:txBody>
                    <a:bodyPr/>
                    <a:lstStyle/>
                    <a:p>
                      <a:pPr algn="ctr"/>
                      <a:r>
                        <a:rPr sz="1200">
                          <a:solidFill>
                            <a:srgbClr val="333333"/>
                          </a:solidFill>
                          <a:latin typeface="Calibri"/>
                        </a:rPr>
                        <a:t>0.249</a:t>
                      </a:r>
                    </a:p>
                  </a:txBody>
                  <a:tcPr marL="73152" marR="73152">
                    <a:solidFill>
                      <a:srgbClr val="F5F7FA"/>
                    </a:solidFill>
                  </a:tcPr>
                </a:tc>
                <a:tc>
                  <a:txBody>
                    <a:bodyPr/>
                    <a:lstStyle/>
                    <a:p>
                      <a:pPr algn="ctr"/>
                      <a:r>
                        <a:rPr sz="1200">
                          <a:solidFill>
                            <a:srgbClr val="333333"/>
                          </a:solidFill>
                          <a:latin typeface="Calibri"/>
                        </a:rPr>
                        <a:t>0.321</a:t>
                      </a:r>
                    </a:p>
                  </a:txBody>
                  <a:tcPr marL="73152" marR="73152">
                    <a:solidFill>
                      <a:srgbClr val="F5F7FA"/>
                    </a:solidFill>
                  </a:tcPr>
                </a:tc>
                <a:tc>
                  <a:txBody>
                    <a:bodyPr/>
                    <a:lstStyle/>
                    <a:p>
                      <a:pPr algn="ctr"/>
                      <a:r>
                        <a:rPr sz="1200" b="1">
                          <a:solidFill>
                            <a:srgbClr val="0B7A75"/>
                          </a:solidFill>
                          <a:latin typeface="Calibri"/>
                        </a:rPr>
                        <a:t>TD3</a:t>
                      </a:r>
                    </a:p>
                  </a:txBody>
                  <a:tcPr marL="73152" marR="73152">
                    <a:solidFill>
                      <a:srgbClr val="F5F7FA"/>
                    </a:solidFill>
                  </a:tcPr>
                </a:tc>
              </a:tr>
              <a:tr h="339634">
                <a:tc>
                  <a:txBody>
                    <a:bodyPr/>
                    <a:lstStyle/>
                    <a:p>
                      <a:pPr algn="l"/>
                      <a:r>
                        <a:rPr sz="1200">
                          <a:solidFill>
                            <a:srgbClr val="333333"/>
                          </a:solidFill>
                          <a:latin typeface="Calibri"/>
                        </a:rPr>
                        <a:t>Average BER</a:t>
                      </a:r>
                    </a:p>
                  </a:txBody>
                  <a:tcPr marL="73152" marR="73152">
                    <a:solidFill>
                      <a:srgbClr val="FFFFFF"/>
                    </a:solidFill>
                  </a:tcPr>
                </a:tc>
                <a:tc>
                  <a:txBody>
                    <a:bodyPr/>
                    <a:lstStyle/>
                    <a:p>
                      <a:pPr algn="ctr"/>
                      <a:r>
                        <a:rPr sz="1200">
                          <a:solidFill>
                            <a:srgbClr val="333333"/>
                          </a:solidFill>
                          <a:latin typeface="Calibri"/>
                        </a:rPr>
                        <a:t>0.0589</a:t>
                      </a:r>
                    </a:p>
                  </a:txBody>
                  <a:tcPr marL="73152" marR="73152">
                    <a:solidFill>
                      <a:srgbClr val="FFFFFF"/>
                    </a:solidFill>
                  </a:tcPr>
                </a:tc>
                <a:tc>
                  <a:txBody>
                    <a:bodyPr/>
                    <a:lstStyle/>
                    <a:p>
                      <a:pPr algn="ctr"/>
                      <a:r>
                        <a:rPr sz="1200">
                          <a:solidFill>
                            <a:srgbClr val="333333"/>
                          </a:solidFill>
                          <a:latin typeface="Calibri"/>
                        </a:rPr>
                        <a:t>0.0770</a:t>
                      </a:r>
                    </a:p>
                  </a:txBody>
                  <a:tcPr marL="73152" marR="73152">
                    <a:solidFill>
                      <a:srgbClr val="FFFFFF"/>
                    </a:solidFill>
                  </a:tcPr>
                </a:tc>
                <a:tc>
                  <a:txBody>
                    <a:bodyPr/>
                    <a:lstStyle/>
                    <a:p>
                      <a:pPr algn="ctr"/>
                      <a:r>
                        <a:rPr sz="1200" b="1">
                          <a:solidFill>
                            <a:srgbClr val="0B7A75"/>
                          </a:solidFill>
                          <a:latin typeface="Calibri"/>
                        </a:rPr>
                        <a:t>TD3</a:t>
                      </a:r>
                    </a:p>
                  </a:txBody>
                  <a:tcPr marL="73152" marR="73152">
                    <a:solidFill>
                      <a:srgbClr val="FFFFFF"/>
                    </a:solidFill>
                  </a:tcPr>
                </a:tc>
              </a:tr>
              <a:tr h="339636">
                <a:tc>
                  <a:txBody>
                    <a:bodyPr/>
                    <a:lstStyle/>
                    <a:p>
                      <a:pPr algn="l"/>
                      <a:r>
                        <a:rPr sz="1200">
                          <a:solidFill>
                            <a:srgbClr val="333333"/>
                          </a:solidFill>
                          <a:latin typeface="Calibri"/>
                        </a:rPr>
                        <a:t>Training Time (s)</a:t>
                      </a:r>
                    </a:p>
                  </a:txBody>
                  <a:tcPr marL="73152" marR="73152">
                    <a:solidFill>
                      <a:srgbClr val="F5F7FA"/>
                    </a:solidFill>
                  </a:tcPr>
                </a:tc>
                <a:tc>
                  <a:txBody>
                    <a:bodyPr/>
                    <a:lstStyle/>
                    <a:p>
                      <a:pPr algn="ctr"/>
                      <a:r>
                        <a:rPr sz="1200">
                          <a:solidFill>
                            <a:srgbClr val="333333"/>
                          </a:solidFill>
                          <a:latin typeface="Calibri"/>
                        </a:rPr>
                        <a:t>24 163</a:t>
                      </a:r>
                    </a:p>
                  </a:txBody>
                  <a:tcPr marL="73152" marR="73152">
                    <a:solidFill>
                      <a:srgbClr val="F5F7FA"/>
                    </a:solidFill>
                  </a:tcPr>
                </a:tc>
                <a:tc>
                  <a:txBody>
                    <a:bodyPr/>
                    <a:lstStyle/>
                    <a:p>
                      <a:pPr algn="ctr"/>
                      <a:r>
                        <a:rPr sz="1200">
                          <a:solidFill>
                            <a:srgbClr val="333333"/>
                          </a:solidFill>
                          <a:latin typeface="Calibri"/>
                        </a:rPr>
                        <a:t>22 598</a:t>
                      </a:r>
                    </a:p>
                  </a:txBody>
                  <a:tcPr marL="73152" marR="73152">
                    <a:solidFill>
                      <a:srgbClr val="F5F7FA"/>
                    </a:solidFill>
                  </a:tcPr>
                </a:tc>
                <a:tc>
                  <a:txBody>
                    <a:bodyPr/>
                    <a:lstStyle/>
                    <a:p>
                      <a:pPr algn="ctr"/>
                      <a:r>
                        <a:rPr sz="1200">
                          <a:solidFill>
                            <a:srgbClr val="333333"/>
                          </a:solidFill>
                          <a:latin typeface="Calibri"/>
                        </a:rPr>
                        <a:t>–</a:t>
                      </a:r>
                    </a:p>
                  </a:txBody>
                  <a:tcPr marL="73152" marR="73152">
                    <a:solidFill>
                      <a:srgbClr val="F5F7FA"/>
                    </a:solidFill>
                  </a:tcPr>
                </a:tc>
              </a:tr>
            </a:tbl>
          </a:graphicData>
        </a:graphic>
      </p:graphicFrame>
      <p:sp>
        <p:nvSpPr>
          <p:cNvPr id="6" name="TextBox 5"/>
          <p:cNvSpPr txBox="1"/>
          <p:nvPr/>
        </p:nvSpPr>
        <p:spPr>
          <a:xfrm>
            <a:off x="457200" y="4114800"/>
            <a:ext cx="8229600" cy="228600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Observations</a:t>
            </a:r>
          </a:p>
          <a:p>
            <a:pPr>
              <a:lnSpc>
                <a:spcPct val="115000"/>
              </a:lnSpc>
              <a:spcAft>
                <a:spcPts val="200"/>
              </a:spcAft>
            </a:pPr>
            <a:r>
              <a:rPr sz="1300">
                <a:solidFill>
                  <a:srgbClr val="333333"/>
                </a:solidFill>
                <a:latin typeface="Calibri"/>
              </a:rPr>
              <a:t>• TD3 wins on 4 of 5 quality metrics — higher SU throughput, lower outage, lower BER, higher reward.</a:t>
            </a:r>
          </a:p>
          <a:p>
            <a:pPr>
              <a:lnSpc>
                <a:spcPct val="115000"/>
              </a:lnSpc>
              <a:spcAft>
                <a:spcPts val="200"/>
              </a:spcAft>
            </a:pPr>
            <a:r>
              <a:rPr sz="1300">
                <a:solidFill>
                  <a:srgbClr val="333333"/>
                </a:solidFill>
                <a:latin typeface="Calibri"/>
              </a:rPr>
              <a:t>• DDPG keeps PU throughput slightly higher because it transmits less aggressively — at the cost of SU performance.</a:t>
            </a:r>
          </a:p>
          <a:p>
            <a:pPr>
              <a:lnSpc>
                <a:spcPct val="115000"/>
              </a:lnSpc>
              <a:spcAft>
                <a:spcPts val="200"/>
              </a:spcAft>
            </a:pPr>
            <a:r>
              <a:rPr sz="1300">
                <a:solidFill>
                  <a:srgbClr val="333333"/>
                </a:solidFill>
                <a:latin typeface="Calibri"/>
              </a:rPr>
              <a:t>• Even TD3 struggles to push outage below 25 % under m = 1 — motivating the constrained Proposed Algorithm.</a:t>
            </a:r>
          </a:p>
          <a:p>
            <a:pPr>
              <a:lnSpc>
                <a:spcPct val="115000"/>
              </a:lnSpc>
              <a:spcAft>
                <a:spcPts val="200"/>
              </a:spcAft>
            </a:pPr>
            <a:r>
              <a:rPr sz="1300">
                <a:solidFill>
                  <a:srgbClr val="333333"/>
                </a:solidFill>
                <a:latin typeface="Calibri"/>
              </a:rPr>
              <a:t>• Note — Stick the SU-throughput-vs-episode and outage-vs-episode plots (next slide) here for visual confirmation.</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Experiment A — m = 1 Training Curves (TD3 vs DDPG)</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1-04.png"/>
          <p:cNvPicPr>
            <a:picLocks noChangeAspect="1"/>
          </p:cNvPicPr>
          <p:nvPr/>
        </p:nvPicPr>
        <p:blipFill>
          <a:blip r:embed="rId2"/>
          <a:stretch>
            <a:fillRect/>
          </a:stretch>
        </p:blipFill>
        <p:spPr>
          <a:xfrm>
            <a:off x="274320" y="1234440"/>
            <a:ext cx="4297680" cy="2338913"/>
          </a:xfrm>
          <a:prstGeom prst="rect">
            <a:avLst/>
          </a:prstGeom>
        </p:spPr>
      </p:pic>
      <p:sp>
        <p:nvSpPr>
          <p:cNvPr id="5" name="TextBox 4"/>
          <p:cNvSpPr txBox="1"/>
          <p:nvPr/>
        </p:nvSpPr>
        <p:spPr>
          <a:xfrm>
            <a:off x="274320" y="4251960"/>
            <a:ext cx="4297680" cy="274320"/>
          </a:xfrm>
          <a:prstGeom prst="rect">
            <a:avLst/>
          </a:prstGeom>
          <a:noFill/>
        </p:spPr>
        <p:txBody>
          <a:bodyPr wrap="none" lIns="0" tIns="0" bIns="0">
            <a:spAutoFit/>
          </a:bodyPr>
          <a:lstStyle/>
          <a:p>
            <a:pPr algn="ctr"/>
            <a:r>
              <a:rPr sz="1000" i="1">
                <a:solidFill>
                  <a:srgbClr val="555555"/>
                </a:solidFill>
                <a:latin typeface="Calibri"/>
              </a:rPr>
              <a:t>Figure: SU throughput vs episodes — TD3 ≈ 2.35, DDPG ≈ 2.05 bits/s/Hz.</a:t>
            </a:r>
          </a:p>
        </p:txBody>
      </p:sp>
      <p:pic>
        <p:nvPicPr>
          <p:cNvPr id="6" name="Picture 5" descr="m1-06.png"/>
          <p:cNvPicPr>
            <a:picLocks noChangeAspect="1"/>
          </p:cNvPicPr>
          <p:nvPr/>
        </p:nvPicPr>
        <p:blipFill>
          <a:blip r:embed="rId3"/>
          <a:stretch>
            <a:fillRect/>
          </a:stretch>
        </p:blipFill>
        <p:spPr>
          <a:xfrm>
            <a:off x="4572000" y="1234440"/>
            <a:ext cx="4297680" cy="2338913"/>
          </a:xfrm>
          <a:prstGeom prst="rect">
            <a:avLst/>
          </a:prstGeom>
        </p:spPr>
      </p:pic>
      <p:sp>
        <p:nvSpPr>
          <p:cNvPr id="7" name="TextBox 6"/>
          <p:cNvSpPr txBox="1"/>
          <p:nvPr/>
        </p:nvSpPr>
        <p:spPr>
          <a:xfrm>
            <a:off x="4572000" y="4251960"/>
            <a:ext cx="4297680" cy="274320"/>
          </a:xfrm>
          <a:prstGeom prst="rect">
            <a:avLst/>
          </a:prstGeom>
          <a:noFill/>
        </p:spPr>
        <p:txBody>
          <a:bodyPr wrap="none" lIns="0" tIns="0" bIns="0">
            <a:spAutoFit/>
          </a:bodyPr>
          <a:lstStyle/>
          <a:p>
            <a:pPr algn="ctr"/>
            <a:r>
              <a:rPr sz="1000" i="1">
                <a:solidFill>
                  <a:srgbClr val="555555"/>
                </a:solidFill>
                <a:latin typeface="Calibri"/>
              </a:rPr>
              <a:t>Figure: Outage probability vs episodes — TD3 ≈ 25 %, DDPG ≈ 32 %; both above the 5 % target.</a:t>
            </a:r>
          </a:p>
        </p:txBody>
      </p:sp>
      <p:sp>
        <p:nvSpPr>
          <p:cNvPr id="8" name="TextBox 7"/>
          <p:cNvSpPr txBox="1"/>
          <p:nvPr/>
        </p:nvSpPr>
        <p:spPr>
          <a:xfrm>
            <a:off x="457200" y="4937760"/>
            <a:ext cx="8229600" cy="146304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Note — Both graphs come directly from the imperfect-CSI m=1 PDF report. Stick the SU-SINR-vs-BER and PU-SINR-vs-BER scatters on the next slide if you want the BER view too.</a:t>
            </a:r>
          </a:p>
        </p:txBody>
      </p:sp>
      <p:sp>
        <p:nvSpPr>
          <p:cNvPr id="9" name="TextBox 8"/>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A — m = 1 BER Behaviour (TD3 vs DDPG)</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1-02.png"/>
          <p:cNvPicPr>
            <a:picLocks noChangeAspect="1"/>
          </p:cNvPicPr>
          <p:nvPr/>
        </p:nvPicPr>
        <p:blipFill>
          <a:blip r:embed="rId2"/>
          <a:stretch>
            <a:fillRect/>
          </a:stretch>
        </p:blipFill>
        <p:spPr>
          <a:xfrm>
            <a:off x="274320" y="1234440"/>
            <a:ext cx="4297680" cy="2556554"/>
          </a:xfrm>
          <a:prstGeom prst="rect">
            <a:avLst/>
          </a:prstGeom>
        </p:spPr>
      </p:pic>
      <p:sp>
        <p:nvSpPr>
          <p:cNvPr id="5" name="TextBox 4"/>
          <p:cNvSpPr txBox="1"/>
          <p:nvPr/>
        </p:nvSpPr>
        <p:spPr>
          <a:xfrm>
            <a:off x="274320" y="4251960"/>
            <a:ext cx="4297680" cy="274320"/>
          </a:xfrm>
          <a:prstGeom prst="rect">
            <a:avLst/>
          </a:prstGeom>
          <a:noFill/>
        </p:spPr>
        <p:txBody>
          <a:bodyPr wrap="none" lIns="0" tIns="0" bIns="0">
            <a:spAutoFit/>
          </a:bodyPr>
          <a:lstStyle/>
          <a:p>
            <a:pPr algn="ctr"/>
            <a:r>
              <a:rPr sz="1000" i="1">
                <a:solidFill>
                  <a:srgbClr val="555555"/>
                </a:solidFill>
                <a:latin typeface="Calibri"/>
              </a:rPr>
              <a:t>Figure: SU SINR vs BER scatter against the Nakagami-m=1 BPSK curve.</a:t>
            </a:r>
          </a:p>
        </p:txBody>
      </p:sp>
      <p:pic>
        <p:nvPicPr>
          <p:cNvPr id="6" name="Picture 5" descr="m1-03.png"/>
          <p:cNvPicPr>
            <a:picLocks noChangeAspect="1"/>
          </p:cNvPicPr>
          <p:nvPr/>
        </p:nvPicPr>
        <p:blipFill>
          <a:blip r:embed="rId3"/>
          <a:stretch>
            <a:fillRect/>
          </a:stretch>
        </p:blipFill>
        <p:spPr>
          <a:xfrm>
            <a:off x="4572000" y="1234440"/>
            <a:ext cx="4297680" cy="2556554"/>
          </a:xfrm>
          <a:prstGeom prst="rect">
            <a:avLst/>
          </a:prstGeom>
        </p:spPr>
      </p:pic>
      <p:sp>
        <p:nvSpPr>
          <p:cNvPr id="7" name="TextBox 6"/>
          <p:cNvSpPr txBox="1"/>
          <p:nvPr/>
        </p:nvSpPr>
        <p:spPr>
          <a:xfrm>
            <a:off x="4572000" y="4251960"/>
            <a:ext cx="4297680" cy="274320"/>
          </a:xfrm>
          <a:prstGeom prst="rect">
            <a:avLst/>
          </a:prstGeom>
          <a:noFill/>
        </p:spPr>
        <p:txBody>
          <a:bodyPr wrap="none" lIns="0" tIns="0" bIns="0">
            <a:spAutoFit/>
          </a:bodyPr>
          <a:lstStyle/>
          <a:p>
            <a:pPr algn="ctr"/>
            <a:r>
              <a:rPr sz="1000" i="1">
                <a:solidFill>
                  <a:srgbClr val="555555"/>
                </a:solidFill>
                <a:latin typeface="Calibri"/>
              </a:rPr>
              <a:t>Figure: PU SINR vs BER scatter — vertical line marks the SINR threshold γ_th.</a:t>
            </a:r>
          </a:p>
        </p:txBody>
      </p:sp>
      <p:sp>
        <p:nvSpPr>
          <p:cNvPr id="8" name="TextBox 7"/>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Experiment B — Imperfect CSI, m = 3  (TD3 vs DDPG)</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36576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Moderate Nakagami fading — closer to typical urban / line-of-sight CRN deployments.</a:t>
            </a:r>
          </a:p>
        </p:txBody>
      </p:sp>
      <p:graphicFrame>
        <p:nvGraphicFramePr>
          <p:cNvPr id="5" name="Table 4"/>
          <p:cNvGraphicFramePr>
            <a:graphicFrameLocks noGrp="1"/>
          </p:cNvGraphicFramePr>
          <p:nvPr/>
        </p:nvGraphicFramePr>
        <p:xfrm>
          <a:off x="457200" y="1554480"/>
          <a:ext cx="8229600" cy="2377440"/>
        </p:xfrm>
        <a:graphic>
          <a:graphicData uri="http://schemas.openxmlformats.org/drawingml/2006/table">
            <a:tbl>
              <a:tblPr firstRow="1" bandRow="1">
                <a:tableStyleId>{5C22544A-7EE6-4342-B048-85BDC9FD1C3A}</a:tableStyleId>
              </a:tblPr>
              <a:tblGrid>
                <a:gridCol w="3291840"/>
                <a:gridCol w="1645920"/>
                <a:gridCol w="1645920"/>
                <a:gridCol w="1645920"/>
              </a:tblGrid>
              <a:tr h="339634">
                <a:tc>
                  <a:txBody>
                    <a:bodyPr/>
                    <a:lstStyle/>
                    <a:p>
                      <a:pPr algn="l"/>
                      <a:r>
                        <a:rPr sz="1200" b="1">
                          <a:solidFill>
                            <a:srgbClr val="FFFFFF"/>
                          </a:solidFill>
                          <a:latin typeface="Calibri"/>
                        </a:rPr>
                        <a:t>Metric</a:t>
                      </a:r>
                    </a:p>
                  </a:txBody>
                  <a:tcPr marL="73152" marR="73152">
                    <a:solidFill>
                      <a:srgbClr val="1A365D"/>
                    </a:solidFill>
                  </a:tcPr>
                </a:tc>
                <a:tc>
                  <a:txBody>
                    <a:bodyPr/>
                    <a:lstStyle/>
                    <a:p>
                      <a:pPr algn="ctr"/>
                      <a:r>
                        <a:rPr sz="1200" b="1">
                          <a:solidFill>
                            <a:srgbClr val="FFFFFF"/>
                          </a:solidFill>
                          <a:latin typeface="Calibri"/>
                        </a:rPr>
                        <a:t>TD3</a:t>
                      </a:r>
                    </a:p>
                  </a:txBody>
                  <a:tcPr marL="73152" marR="73152">
                    <a:solidFill>
                      <a:srgbClr val="1A365D"/>
                    </a:solidFill>
                  </a:tcPr>
                </a:tc>
                <a:tc>
                  <a:txBody>
                    <a:bodyPr/>
                    <a:lstStyle/>
                    <a:p>
                      <a:pPr algn="ctr"/>
                      <a:r>
                        <a:rPr sz="1200" b="1">
                          <a:solidFill>
                            <a:srgbClr val="FFFFFF"/>
                          </a:solidFill>
                          <a:latin typeface="Calibri"/>
                        </a:rPr>
                        <a:t>DDPG</a:t>
                      </a:r>
                    </a:p>
                  </a:txBody>
                  <a:tcPr marL="73152" marR="73152">
                    <a:solidFill>
                      <a:srgbClr val="1A365D"/>
                    </a:solidFill>
                  </a:tcPr>
                </a:tc>
                <a:tc>
                  <a:txBody>
                    <a:bodyPr/>
                    <a:lstStyle/>
                    <a:p>
                      <a:pPr algn="ctr"/>
                      <a:r>
                        <a:rPr sz="1200" b="1">
                          <a:solidFill>
                            <a:srgbClr val="FFFFFF"/>
                          </a:solidFill>
                          <a:latin typeface="Calibri"/>
                        </a:rPr>
                        <a:t>Winner</a:t>
                      </a:r>
                    </a:p>
                  </a:txBody>
                  <a:tcPr marL="73152" marR="73152">
                    <a:solidFill>
                      <a:srgbClr val="1A365D"/>
                    </a:solidFill>
                  </a:tcPr>
                </a:tc>
              </a:tr>
              <a:tr h="339634">
                <a:tc>
                  <a:txBody>
                    <a:bodyPr/>
                    <a:lstStyle/>
                    <a:p>
                      <a:pPr algn="l"/>
                      <a:r>
                        <a:rPr sz="1200">
                          <a:solidFill>
                            <a:srgbClr val="333333"/>
                          </a:solidFill>
                          <a:latin typeface="Calibri"/>
                        </a:rPr>
                        <a:t>Avg Reward (last 100 ep)</a:t>
                      </a:r>
                    </a:p>
                  </a:txBody>
                  <a:tcPr marL="73152" marR="73152">
                    <a:solidFill>
                      <a:srgbClr val="FFFFFF"/>
                    </a:solidFill>
                  </a:tcPr>
                </a:tc>
                <a:tc>
                  <a:txBody>
                    <a:bodyPr/>
                    <a:lstStyle/>
                    <a:p>
                      <a:pPr algn="ctr"/>
                      <a:r>
                        <a:rPr sz="1200">
                          <a:solidFill>
                            <a:srgbClr val="333333"/>
                          </a:solidFill>
                          <a:latin typeface="Calibri"/>
                        </a:rPr>
                        <a:t>241.24</a:t>
                      </a:r>
                    </a:p>
                  </a:txBody>
                  <a:tcPr marL="73152" marR="73152">
                    <a:solidFill>
                      <a:srgbClr val="FFFFFF"/>
                    </a:solidFill>
                  </a:tcPr>
                </a:tc>
                <a:tc>
                  <a:txBody>
                    <a:bodyPr/>
                    <a:lstStyle/>
                    <a:p>
                      <a:pPr algn="ctr"/>
                      <a:r>
                        <a:rPr sz="1200">
                          <a:solidFill>
                            <a:srgbClr val="333333"/>
                          </a:solidFill>
                          <a:latin typeface="Calibri"/>
                        </a:rPr>
                        <a:t>209.11</a:t>
                      </a:r>
                    </a:p>
                  </a:txBody>
                  <a:tcPr marL="73152" marR="73152">
                    <a:solidFill>
                      <a:srgbClr val="FFFFFF"/>
                    </a:solidFill>
                  </a:tcPr>
                </a:tc>
                <a:tc>
                  <a:txBody>
                    <a:bodyPr/>
                    <a:lstStyle/>
                    <a:p>
                      <a:pPr algn="ctr"/>
                      <a:r>
                        <a:rPr sz="1200" b="1">
                          <a:solidFill>
                            <a:srgbClr val="0B7A75"/>
                          </a:solidFill>
                          <a:latin typeface="Calibri"/>
                        </a:rPr>
                        <a:t>TD3</a:t>
                      </a:r>
                    </a:p>
                  </a:txBody>
                  <a:tcPr marL="73152" marR="73152">
                    <a:solidFill>
                      <a:srgbClr val="FFFFFF"/>
                    </a:solidFill>
                  </a:tcPr>
                </a:tc>
              </a:tr>
              <a:tr h="339634">
                <a:tc>
                  <a:txBody>
                    <a:bodyPr/>
                    <a:lstStyle/>
                    <a:p>
                      <a:pPr algn="l"/>
                      <a:r>
                        <a:rPr sz="1200">
                          <a:solidFill>
                            <a:srgbClr val="333333"/>
                          </a:solidFill>
                          <a:latin typeface="Calibri"/>
                        </a:rPr>
                        <a:t>SU Throughput (bits/s/Hz)</a:t>
                      </a:r>
                    </a:p>
                  </a:txBody>
                  <a:tcPr marL="73152" marR="73152">
                    <a:solidFill>
                      <a:srgbClr val="F5F7FA"/>
                    </a:solidFill>
                  </a:tcPr>
                </a:tc>
                <a:tc>
                  <a:txBody>
                    <a:bodyPr/>
                    <a:lstStyle/>
                    <a:p>
                      <a:pPr algn="ctr"/>
                      <a:r>
                        <a:rPr sz="1200">
                          <a:solidFill>
                            <a:srgbClr val="333333"/>
                          </a:solidFill>
                          <a:latin typeface="Calibri"/>
                        </a:rPr>
                        <a:t>2.067</a:t>
                      </a:r>
                    </a:p>
                  </a:txBody>
                  <a:tcPr marL="73152" marR="73152">
                    <a:solidFill>
                      <a:srgbClr val="F5F7FA"/>
                    </a:solidFill>
                  </a:tcPr>
                </a:tc>
                <a:tc>
                  <a:txBody>
                    <a:bodyPr/>
                    <a:lstStyle/>
                    <a:p>
                      <a:pPr algn="ctr"/>
                      <a:r>
                        <a:rPr sz="1200">
                          <a:solidFill>
                            <a:srgbClr val="333333"/>
                          </a:solidFill>
                          <a:latin typeface="Calibri"/>
                        </a:rPr>
                        <a:t>1.693</a:t>
                      </a:r>
                    </a:p>
                  </a:txBody>
                  <a:tcPr marL="73152" marR="73152">
                    <a:solidFill>
                      <a:srgbClr val="F5F7FA"/>
                    </a:solidFill>
                  </a:tcPr>
                </a:tc>
                <a:tc>
                  <a:txBody>
                    <a:bodyPr/>
                    <a:lstStyle/>
                    <a:p>
                      <a:pPr algn="ctr"/>
                      <a:r>
                        <a:rPr sz="1200" b="1">
                          <a:solidFill>
                            <a:srgbClr val="0B7A75"/>
                          </a:solidFill>
                          <a:latin typeface="Calibri"/>
                        </a:rPr>
                        <a:t>TD3</a:t>
                      </a:r>
                    </a:p>
                  </a:txBody>
                  <a:tcPr marL="73152" marR="73152">
                    <a:solidFill>
                      <a:srgbClr val="F5F7FA"/>
                    </a:solidFill>
                  </a:tcPr>
                </a:tc>
              </a:tr>
              <a:tr h="339634">
                <a:tc>
                  <a:txBody>
                    <a:bodyPr/>
                    <a:lstStyle/>
                    <a:p>
                      <a:pPr algn="l"/>
                      <a:r>
                        <a:rPr sz="1200">
                          <a:solidFill>
                            <a:srgbClr val="333333"/>
                          </a:solidFill>
                          <a:latin typeface="Calibri"/>
                        </a:rPr>
                        <a:t>PU Throughput (bits/s/Hz)</a:t>
                      </a:r>
                    </a:p>
                  </a:txBody>
                  <a:tcPr marL="73152" marR="73152">
                    <a:solidFill>
                      <a:srgbClr val="FFFFFF"/>
                    </a:solidFill>
                  </a:tcPr>
                </a:tc>
                <a:tc>
                  <a:txBody>
                    <a:bodyPr/>
                    <a:lstStyle/>
                    <a:p>
                      <a:pPr algn="ctr"/>
                      <a:r>
                        <a:rPr sz="1200">
                          <a:solidFill>
                            <a:srgbClr val="333333"/>
                          </a:solidFill>
                          <a:latin typeface="Calibri"/>
                        </a:rPr>
                        <a:t>0.531</a:t>
                      </a:r>
                    </a:p>
                  </a:txBody>
                  <a:tcPr marL="73152" marR="73152">
                    <a:solidFill>
                      <a:srgbClr val="FFFFFF"/>
                    </a:solidFill>
                  </a:tcPr>
                </a:tc>
                <a:tc>
                  <a:txBody>
                    <a:bodyPr/>
                    <a:lstStyle/>
                    <a:p>
                      <a:pPr algn="ctr"/>
                      <a:r>
                        <a:rPr sz="1200">
                          <a:solidFill>
                            <a:srgbClr val="333333"/>
                          </a:solidFill>
                          <a:latin typeface="Calibri"/>
                        </a:rPr>
                        <a:t>0.774</a:t>
                      </a:r>
                    </a:p>
                  </a:txBody>
                  <a:tcPr marL="73152" marR="73152">
                    <a:solidFill>
                      <a:srgbClr val="FFFFFF"/>
                    </a:solidFill>
                  </a:tcPr>
                </a:tc>
                <a:tc>
                  <a:txBody>
                    <a:bodyPr/>
                    <a:lstStyle/>
                    <a:p>
                      <a:pPr algn="ctr"/>
                      <a:r>
                        <a:rPr sz="1200" b="1">
                          <a:solidFill>
                            <a:srgbClr val="C88B00"/>
                          </a:solidFill>
                          <a:latin typeface="Calibri"/>
                        </a:rPr>
                        <a:t>DDPG</a:t>
                      </a:r>
                    </a:p>
                  </a:txBody>
                  <a:tcPr marL="73152" marR="73152">
                    <a:solidFill>
                      <a:srgbClr val="FFFFFF"/>
                    </a:solidFill>
                  </a:tcPr>
                </a:tc>
              </a:tr>
              <a:tr h="339634">
                <a:tc>
                  <a:txBody>
                    <a:bodyPr/>
                    <a:lstStyle/>
                    <a:p>
                      <a:pPr algn="l"/>
                      <a:r>
                        <a:rPr sz="1200">
                          <a:solidFill>
                            <a:srgbClr val="333333"/>
                          </a:solidFill>
                          <a:latin typeface="Calibri"/>
                        </a:rPr>
                        <a:t>Outage Probability</a:t>
                      </a:r>
                    </a:p>
                  </a:txBody>
                  <a:tcPr marL="73152" marR="73152">
                    <a:solidFill>
                      <a:srgbClr val="F5F7FA"/>
                    </a:solidFill>
                  </a:tcPr>
                </a:tc>
                <a:tc>
                  <a:txBody>
                    <a:bodyPr/>
                    <a:lstStyle/>
                    <a:p>
                      <a:pPr algn="ctr"/>
                      <a:r>
                        <a:rPr sz="1200">
                          <a:solidFill>
                            <a:srgbClr val="333333"/>
                          </a:solidFill>
                          <a:latin typeface="Calibri"/>
                        </a:rPr>
                        <a:t>0.113</a:t>
                      </a:r>
                    </a:p>
                  </a:txBody>
                  <a:tcPr marL="73152" marR="73152">
                    <a:solidFill>
                      <a:srgbClr val="F5F7FA"/>
                    </a:solidFill>
                  </a:tcPr>
                </a:tc>
                <a:tc>
                  <a:txBody>
                    <a:bodyPr/>
                    <a:lstStyle/>
                    <a:p>
                      <a:pPr algn="ctr"/>
                      <a:r>
                        <a:rPr sz="1200">
                          <a:solidFill>
                            <a:srgbClr val="333333"/>
                          </a:solidFill>
                          <a:latin typeface="Calibri"/>
                        </a:rPr>
                        <a:t>0.251</a:t>
                      </a:r>
                    </a:p>
                  </a:txBody>
                  <a:tcPr marL="73152" marR="73152">
                    <a:solidFill>
                      <a:srgbClr val="F5F7FA"/>
                    </a:solidFill>
                  </a:tcPr>
                </a:tc>
                <a:tc>
                  <a:txBody>
                    <a:bodyPr/>
                    <a:lstStyle/>
                    <a:p>
                      <a:pPr algn="ctr"/>
                      <a:r>
                        <a:rPr sz="1200" b="1">
                          <a:solidFill>
                            <a:srgbClr val="0B7A75"/>
                          </a:solidFill>
                          <a:latin typeface="Calibri"/>
                        </a:rPr>
                        <a:t>TD3</a:t>
                      </a:r>
                    </a:p>
                  </a:txBody>
                  <a:tcPr marL="73152" marR="73152">
                    <a:solidFill>
                      <a:srgbClr val="F5F7FA"/>
                    </a:solidFill>
                  </a:tcPr>
                </a:tc>
              </a:tr>
              <a:tr h="339634">
                <a:tc>
                  <a:txBody>
                    <a:bodyPr/>
                    <a:lstStyle/>
                    <a:p>
                      <a:pPr algn="l"/>
                      <a:r>
                        <a:rPr sz="1200">
                          <a:solidFill>
                            <a:srgbClr val="333333"/>
                          </a:solidFill>
                          <a:latin typeface="Calibri"/>
                        </a:rPr>
                        <a:t>Average BER</a:t>
                      </a:r>
                    </a:p>
                  </a:txBody>
                  <a:tcPr marL="73152" marR="73152">
                    <a:solidFill>
                      <a:srgbClr val="FFFFFF"/>
                    </a:solidFill>
                  </a:tcPr>
                </a:tc>
                <a:tc>
                  <a:txBody>
                    <a:bodyPr/>
                    <a:lstStyle/>
                    <a:p>
                      <a:pPr algn="ctr"/>
                      <a:r>
                        <a:rPr sz="1200">
                          <a:solidFill>
                            <a:srgbClr val="333333"/>
                          </a:solidFill>
                          <a:latin typeface="Calibri"/>
                        </a:rPr>
                        <a:t>0.0280</a:t>
                      </a:r>
                    </a:p>
                  </a:txBody>
                  <a:tcPr marL="73152" marR="73152">
                    <a:solidFill>
                      <a:srgbClr val="FFFFFF"/>
                    </a:solidFill>
                  </a:tcPr>
                </a:tc>
                <a:tc>
                  <a:txBody>
                    <a:bodyPr/>
                    <a:lstStyle/>
                    <a:p>
                      <a:pPr algn="ctr"/>
                      <a:r>
                        <a:rPr sz="1200">
                          <a:solidFill>
                            <a:srgbClr val="333333"/>
                          </a:solidFill>
                          <a:latin typeface="Calibri"/>
                        </a:rPr>
                        <a:t>0.0534</a:t>
                      </a:r>
                    </a:p>
                  </a:txBody>
                  <a:tcPr marL="73152" marR="73152">
                    <a:solidFill>
                      <a:srgbClr val="FFFFFF"/>
                    </a:solidFill>
                  </a:tcPr>
                </a:tc>
                <a:tc>
                  <a:txBody>
                    <a:bodyPr/>
                    <a:lstStyle/>
                    <a:p>
                      <a:pPr algn="ctr"/>
                      <a:r>
                        <a:rPr sz="1200" b="1">
                          <a:solidFill>
                            <a:srgbClr val="0B7A75"/>
                          </a:solidFill>
                          <a:latin typeface="Calibri"/>
                        </a:rPr>
                        <a:t>TD3</a:t>
                      </a:r>
                    </a:p>
                  </a:txBody>
                  <a:tcPr marL="73152" marR="73152">
                    <a:solidFill>
                      <a:srgbClr val="FFFFFF"/>
                    </a:solidFill>
                  </a:tcPr>
                </a:tc>
              </a:tr>
              <a:tr h="339636">
                <a:tc>
                  <a:txBody>
                    <a:bodyPr/>
                    <a:lstStyle/>
                    <a:p>
                      <a:pPr algn="l"/>
                      <a:r>
                        <a:rPr sz="1200">
                          <a:solidFill>
                            <a:srgbClr val="333333"/>
                          </a:solidFill>
                          <a:latin typeface="Calibri"/>
                        </a:rPr>
                        <a:t>Training Time (s)</a:t>
                      </a:r>
                    </a:p>
                  </a:txBody>
                  <a:tcPr marL="73152" marR="73152">
                    <a:solidFill>
                      <a:srgbClr val="F5F7FA"/>
                    </a:solidFill>
                  </a:tcPr>
                </a:tc>
                <a:tc>
                  <a:txBody>
                    <a:bodyPr/>
                    <a:lstStyle/>
                    <a:p>
                      <a:pPr algn="ctr"/>
                      <a:r>
                        <a:rPr sz="1200">
                          <a:solidFill>
                            <a:srgbClr val="333333"/>
                          </a:solidFill>
                          <a:latin typeface="Calibri"/>
                        </a:rPr>
                        <a:t>74 680</a:t>
                      </a:r>
                    </a:p>
                  </a:txBody>
                  <a:tcPr marL="73152" marR="73152">
                    <a:solidFill>
                      <a:srgbClr val="F5F7FA"/>
                    </a:solidFill>
                  </a:tcPr>
                </a:tc>
                <a:tc>
                  <a:txBody>
                    <a:bodyPr/>
                    <a:lstStyle/>
                    <a:p>
                      <a:pPr algn="ctr"/>
                      <a:r>
                        <a:rPr sz="1200">
                          <a:solidFill>
                            <a:srgbClr val="333333"/>
                          </a:solidFill>
                          <a:latin typeface="Calibri"/>
                        </a:rPr>
                        <a:t>43 462</a:t>
                      </a:r>
                    </a:p>
                  </a:txBody>
                  <a:tcPr marL="73152" marR="73152">
                    <a:solidFill>
                      <a:srgbClr val="F5F7FA"/>
                    </a:solidFill>
                  </a:tcPr>
                </a:tc>
                <a:tc>
                  <a:txBody>
                    <a:bodyPr/>
                    <a:lstStyle/>
                    <a:p>
                      <a:pPr algn="ctr"/>
                      <a:r>
                        <a:rPr sz="1200">
                          <a:solidFill>
                            <a:srgbClr val="333333"/>
                          </a:solidFill>
                          <a:latin typeface="Calibri"/>
                        </a:rPr>
                        <a:t>–</a:t>
                      </a:r>
                    </a:p>
                  </a:txBody>
                  <a:tcPr marL="73152" marR="73152">
                    <a:solidFill>
                      <a:srgbClr val="F5F7FA"/>
                    </a:solidFill>
                  </a:tcPr>
                </a:tc>
              </a:tr>
            </a:tbl>
          </a:graphicData>
        </a:graphic>
      </p:graphicFrame>
      <p:sp>
        <p:nvSpPr>
          <p:cNvPr id="6" name="TextBox 5"/>
          <p:cNvSpPr txBox="1"/>
          <p:nvPr/>
        </p:nvSpPr>
        <p:spPr>
          <a:xfrm>
            <a:off x="457200" y="4114800"/>
            <a:ext cx="8229600" cy="228600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Observations</a:t>
            </a:r>
          </a:p>
          <a:p>
            <a:pPr>
              <a:lnSpc>
                <a:spcPct val="115000"/>
              </a:lnSpc>
              <a:spcAft>
                <a:spcPts val="200"/>
              </a:spcAft>
            </a:pPr>
            <a:r>
              <a:rPr sz="1300">
                <a:solidFill>
                  <a:srgbClr val="333333"/>
                </a:solidFill>
                <a:latin typeface="Calibri"/>
              </a:rPr>
              <a:t>• With less severe fading, TD3 cuts outage roughly in half compared to DDPG (0.11 vs 0.25).</a:t>
            </a:r>
          </a:p>
          <a:p>
            <a:pPr>
              <a:lnSpc>
                <a:spcPct val="115000"/>
              </a:lnSpc>
              <a:spcAft>
                <a:spcPts val="200"/>
              </a:spcAft>
            </a:pPr>
            <a:r>
              <a:rPr sz="1300">
                <a:solidFill>
                  <a:srgbClr val="333333"/>
                </a:solidFill>
                <a:latin typeface="Calibri"/>
              </a:rPr>
              <a:t>• TD3 also achieves +22 % more SU throughput and ~½ the BER.</a:t>
            </a:r>
          </a:p>
          <a:p>
            <a:pPr>
              <a:lnSpc>
                <a:spcPct val="115000"/>
              </a:lnSpc>
              <a:spcAft>
                <a:spcPts val="200"/>
              </a:spcAft>
            </a:pPr>
            <a:r>
              <a:rPr sz="1300">
                <a:solidFill>
                  <a:srgbClr val="333333"/>
                </a:solidFill>
                <a:latin typeface="Calibri"/>
              </a:rPr>
              <a:t>• DDPG sacrifices SU performance to maintain higher PU throughput — confirms its conservative behaviour.</a:t>
            </a:r>
          </a:p>
          <a:p>
            <a:pPr>
              <a:lnSpc>
                <a:spcPct val="115000"/>
              </a:lnSpc>
              <a:spcAft>
                <a:spcPts val="200"/>
              </a:spcAft>
            </a:pPr>
            <a:r>
              <a:rPr sz="1300">
                <a:solidFill>
                  <a:srgbClr val="333333"/>
                </a:solidFill>
                <a:latin typeface="Calibri"/>
              </a:rPr>
              <a:t>• Note — Stick the SU-throughput-vs-episode and outage-vs-episode plots (next slide).</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600" b="1">
                <a:solidFill>
                  <a:srgbClr val="1A365D"/>
                </a:solidFill>
                <a:latin typeface="Calibri"/>
              </a:rPr>
              <a:t>Experiment B — m = 3 Training Curves (TD3 vs DDPG)</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3-04.png"/>
          <p:cNvPicPr>
            <a:picLocks noChangeAspect="1"/>
          </p:cNvPicPr>
          <p:nvPr/>
        </p:nvPicPr>
        <p:blipFill>
          <a:blip r:embed="rId2"/>
          <a:stretch>
            <a:fillRect/>
          </a:stretch>
        </p:blipFill>
        <p:spPr>
          <a:xfrm>
            <a:off x="274320" y="1234440"/>
            <a:ext cx="4297680" cy="2338913"/>
          </a:xfrm>
          <a:prstGeom prst="rect">
            <a:avLst/>
          </a:prstGeom>
        </p:spPr>
      </p:pic>
      <p:sp>
        <p:nvSpPr>
          <p:cNvPr id="5" name="TextBox 4"/>
          <p:cNvSpPr txBox="1"/>
          <p:nvPr/>
        </p:nvSpPr>
        <p:spPr>
          <a:xfrm>
            <a:off x="274320" y="4251960"/>
            <a:ext cx="4297680" cy="274320"/>
          </a:xfrm>
          <a:prstGeom prst="rect">
            <a:avLst/>
          </a:prstGeom>
          <a:noFill/>
        </p:spPr>
        <p:txBody>
          <a:bodyPr wrap="none" lIns="0" tIns="0" bIns="0">
            <a:spAutoFit/>
          </a:bodyPr>
          <a:lstStyle/>
          <a:p>
            <a:pPr algn="ctr"/>
            <a:r>
              <a:rPr sz="1000" i="1">
                <a:solidFill>
                  <a:srgbClr val="555555"/>
                </a:solidFill>
                <a:latin typeface="Calibri"/>
              </a:rPr>
              <a:t>Figure: SU throughput vs episodes — TD3 ≈ 2.07, DDPG ≈ 1.69 bits/s/Hz.</a:t>
            </a:r>
          </a:p>
        </p:txBody>
      </p:sp>
      <p:pic>
        <p:nvPicPr>
          <p:cNvPr id="6" name="Picture 5" descr="m3-06.png"/>
          <p:cNvPicPr>
            <a:picLocks noChangeAspect="1"/>
          </p:cNvPicPr>
          <p:nvPr/>
        </p:nvPicPr>
        <p:blipFill>
          <a:blip r:embed="rId3"/>
          <a:stretch>
            <a:fillRect/>
          </a:stretch>
        </p:blipFill>
        <p:spPr>
          <a:xfrm>
            <a:off x="4572000" y="1234440"/>
            <a:ext cx="4297680" cy="2338913"/>
          </a:xfrm>
          <a:prstGeom prst="rect">
            <a:avLst/>
          </a:prstGeom>
        </p:spPr>
      </p:pic>
      <p:sp>
        <p:nvSpPr>
          <p:cNvPr id="7" name="TextBox 6"/>
          <p:cNvSpPr txBox="1"/>
          <p:nvPr/>
        </p:nvSpPr>
        <p:spPr>
          <a:xfrm>
            <a:off x="4572000" y="4251960"/>
            <a:ext cx="4297680" cy="274320"/>
          </a:xfrm>
          <a:prstGeom prst="rect">
            <a:avLst/>
          </a:prstGeom>
          <a:noFill/>
        </p:spPr>
        <p:txBody>
          <a:bodyPr wrap="none" lIns="0" tIns="0" bIns="0">
            <a:spAutoFit/>
          </a:bodyPr>
          <a:lstStyle/>
          <a:p>
            <a:pPr algn="ctr"/>
            <a:r>
              <a:rPr sz="1000" i="1">
                <a:solidFill>
                  <a:srgbClr val="555555"/>
                </a:solidFill>
                <a:latin typeface="Calibri"/>
              </a:rPr>
              <a:t>Figure: Outage probability — TD3 ≈ 11 %, DDPG ≈ 25 %.</a:t>
            </a:r>
          </a:p>
        </p:txBody>
      </p:sp>
      <p:sp>
        <p:nvSpPr>
          <p:cNvPr id="8" name="TextBox 7"/>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B — m = 3 BER &amp; Reward Comparison</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3-02.png"/>
          <p:cNvPicPr>
            <a:picLocks noChangeAspect="1"/>
          </p:cNvPicPr>
          <p:nvPr/>
        </p:nvPicPr>
        <p:blipFill>
          <a:blip r:embed="rId2"/>
          <a:stretch>
            <a:fillRect/>
          </a:stretch>
        </p:blipFill>
        <p:spPr>
          <a:xfrm>
            <a:off x="274320" y="1234440"/>
            <a:ext cx="4297680" cy="2556554"/>
          </a:xfrm>
          <a:prstGeom prst="rect">
            <a:avLst/>
          </a:prstGeom>
        </p:spPr>
      </p:pic>
      <p:sp>
        <p:nvSpPr>
          <p:cNvPr id="5" name="TextBox 4"/>
          <p:cNvSpPr txBox="1"/>
          <p:nvPr/>
        </p:nvSpPr>
        <p:spPr>
          <a:xfrm>
            <a:off x="274320" y="4251960"/>
            <a:ext cx="4297680" cy="274320"/>
          </a:xfrm>
          <a:prstGeom prst="rect">
            <a:avLst/>
          </a:prstGeom>
          <a:noFill/>
        </p:spPr>
        <p:txBody>
          <a:bodyPr wrap="none" lIns="0" tIns="0" bIns="0">
            <a:spAutoFit/>
          </a:bodyPr>
          <a:lstStyle/>
          <a:p>
            <a:pPr algn="ctr"/>
            <a:r>
              <a:rPr sz="1000" i="1">
                <a:solidFill>
                  <a:srgbClr val="555555"/>
                </a:solidFill>
                <a:latin typeface="Calibri"/>
              </a:rPr>
              <a:t>Figure: SU BER scatter against the Nakagami-m=3 BPSK theory curve.</a:t>
            </a:r>
          </a:p>
        </p:txBody>
      </p:sp>
      <p:pic>
        <p:nvPicPr>
          <p:cNvPr id="6" name="Picture 5" descr="m3-10.png"/>
          <p:cNvPicPr>
            <a:picLocks noChangeAspect="1"/>
          </p:cNvPicPr>
          <p:nvPr/>
        </p:nvPicPr>
        <p:blipFill>
          <a:blip r:embed="rId3"/>
          <a:stretch>
            <a:fillRect/>
          </a:stretch>
        </p:blipFill>
        <p:spPr>
          <a:xfrm>
            <a:off x="4572000" y="1234440"/>
            <a:ext cx="4297680" cy="2338913"/>
          </a:xfrm>
          <a:prstGeom prst="rect">
            <a:avLst/>
          </a:prstGeom>
        </p:spPr>
      </p:pic>
      <p:sp>
        <p:nvSpPr>
          <p:cNvPr id="7" name="TextBox 6"/>
          <p:cNvSpPr txBox="1"/>
          <p:nvPr/>
        </p:nvSpPr>
        <p:spPr>
          <a:xfrm>
            <a:off x="4572000" y="4251960"/>
            <a:ext cx="4297680" cy="274320"/>
          </a:xfrm>
          <a:prstGeom prst="rect">
            <a:avLst/>
          </a:prstGeom>
          <a:noFill/>
        </p:spPr>
        <p:txBody>
          <a:bodyPr wrap="none" lIns="0" tIns="0" bIns="0">
            <a:spAutoFit/>
          </a:bodyPr>
          <a:lstStyle/>
          <a:p>
            <a:pPr algn="ctr"/>
            <a:r>
              <a:rPr sz="1000" i="1">
                <a:solidFill>
                  <a:srgbClr val="555555"/>
                </a:solidFill>
                <a:latin typeface="Calibri"/>
              </a:rPr>
              <a:t>Figure: Reward overlay — TD3 above DDPG throughout the run.</a:t>
            </a:r>
          </a:p>
        </p:txBody>
      </p:sp>
      <p:sp>
        <p:nvSpPr>
          <p:cNvPr id="8" name="TextBox 7"/>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C — 3-way Comparison (m = 3)</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36576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TD3 vs DDPG vs Proposed Algorithm — identical settings, imperfect CSI, m = 3, 1 500 episodes.</a:t>
            </a:r>
          </a:p>
        </p:txBody>
      </p:sp>
      <p:graphicFrame>
        <p:nvGraphicFramePr>
          <p:cNvPr id="5" name="Table 4"/>
          <p:cNvGraphicFramePr>
            <a:graphicFrameLocks noGrp="1"/>
          </p:cNvGraphicFramePr>
          <p:nvPr/>
        </p:nvGraphicFramePr>
        <p:xfrm>
          <a:off x="365760" y="1691640"/>
          <a:ext cx="8412480" cy="2651760"/>
        </p:xfrm>
        <a:graphic>
          <a:graphicData uri="http://schemas.openxmlformats.org/drawingml/2006/table">
            <a:tbl>
              <a:tblPr firstRow="1" bandRow="1">
                <a:tableStyleId>{5C22544A-7EE6-4342-B048-85BDC9FD1C3A}</a:tableStyleId>
              </a:tblPr>
              <a:tblGrid>
                <a:gridCol w="2468880"/>
                <a:gridCol w="1280160"/>
                <a:gridCol w="1280160"/>
                <a:gridCol w="1645920"/>
                <a:gridCol w="1737360"/>
              </a:tblGrid>
              <a:tr h="378822">
                <a:tc>
                  <a:txBody>
                    <a:bodyPr/>
                    <a:lstStyle/>
                    <a:p>
                      <a:pPr algn="l"/>
                      <a:r>
                        <a:rPr sz="1100" b="1">
                          <a:solidFill>
                            <a:srgbClr val="FFFFFF"/>
                          </a:solidFill>
                          <a:latin typeface="Calibri"/>
                        </a:rPr>
                        <a:t>Metric</a:t>
                      </a:r>
                    </a:p>
                  </a:txBody>
                  <a:tcPr marL="54864" marR="54864">
                    <a:solidFill>
                      <a:srgbClr val="1A365D"/>
                    </a:solidFill>
                  </a:tcPr>
                </a:tc>
                <a:tc>
                  <a:txBody>
                    <a:bodyPr/>
                    <a:lstStyle/>
                    <a:p>
                      <a:pPr algn="ctr"/>
                      <a:r>
                        <a:rPr sz="1100" b="1">
                          <a:solidFill>
                            <a:srgbClr val="FFFFFF"/>
                          </a:solidFill>
                          <a:latin typeface="Calibri"/>
                        </a:rPr>
                        <a:t>TD3</a:t>
                      </a:r>
                    </a:p>
                  </a:txBody>
                  <a:tcPr marL="54864" marR="54864">
                    <a:solidFill>
                      <a:srgbClr val="1A365D"/>
                    </a:solidFill>
                  </a:tcPr>
                </a:tc>
                <a:tc>
                  <a:txBody>
                    <a:bodyPr/>
                    <a:lstStyle/>
                    <a:p>
                      <a:pPr algn="ctr"/>
                      <a:r>
                        <a:rPr sz="1100" b="1">
                          <a:solidFill>
                            <a:srgbClr val="FFFFFF"/>
                          </a:solidFill>
                          <a:latin typeface="Calibri"/>
                        </a:rPr>
                        <a:t>DDPG</a:t>
                      </a:r>
                    </a:p>
                  </a:txBody>
                  <a:tcPr marL="54864" marR="54864">
                    <a:solidFill>
                      <a:srgbClr val="1A365D"/>
                    </a:solidFill>
                  </a:tcPr>
                </a:tc>
                <a:tc>
                  <a:txBody>
                    <a:bodyPr/>
                    <a:lstStyle/>
                    <a:p>
                      <a:pPr algn="ctr"/>
                      <a:r>
                        <a:rPr sz="1100" b="1">
                          <a:solidFill>
                            <a:srgbClr val="FFFFFF"/>
                          </a:solidFill>
                          <a:latin typeface="Calibri"/>
                        </a:rPr>
                        <a:t>Proposed</a:t>
                      </a:r>
                    </a:p>
                  </a:txBody>
                  <a:tcPr marL="54864" marR="54864">
                    <a:solidFill>
                      <a:srgbClr val="1A365D"/>
                    </a:solidFill>
                  </a:tcPr>
                </a:tc>
                <a:tc>
                  <a:txBody>
                    <a:bodyPr/>
                    <a:lstStyle/>
                    <a:p>
                      <a:pPr algn="ctr"/>
                      <a:r>
                        <a:rPr sz="1100" b="1">
                          <a:solidFill>
                            <a:srgbClr val="FFFFFF"/>
                          </a:solidFill>
                          <a:latin typeface="Calibri"/>
                        </a:rPr>
                        <a:t>Winner</a:t>
                      </a:r>
                    </a:p>
                  </a:txBody>
                  <a:tcPr marL="54864" marR="54864">
                    <a:solidFill>
                      <a:srgbClr val="1A365D"/>
                    </a:solidFill>
                  </a:tcPr>
                </a:tc>
              </a:tr>
              <a:tr h="378822">
                <a:tc>
                  <a:txBody>
                    <a:bodyPr/>
                    <a:lstStyle/>
                    <a:p>
                      <a:pPr algn="l"/>
                      <a:r>
                        <a:rPr sz="1100">
                          <a:solidFill>
                            <a:srgbClr val="333333"/>
                          </a:solidFill>
                          <a:latin typeface="Calibri"/>
                        </a:rPr>
                        <a:t>Avg Reward (last 100 ep)</a:t>
                      </a:r>
                    </a:p>
                  </a:txBody>
                  <a:tcPr marL="54864" marR="54864">
                    <a:solidFill>
                      <a:srgbClr val="FFFFFF"/>
                    </a:solidFill>
                  </a:tcPr>
                </a:tc>
                <a:tc>
                  <a:txBody>
                    <a:bodyPr/>
                    <a:lstStyle/>
                    <a:p>
                      <a:pPr algn="ctr"/>
                      <a:r>
                        <a:rPr sz="1100">
                          <a:solidFill>
                            <a:srgbClr val="333333"/>
                          </a:solidFill>
                          <a:latin typeface="Calibri"/>
                        </a:rPr>
                        <a:t>241.33</a:t>
                      </a:r>
                    </a:p>
                  </a:txBody>
                  <a:tcPr marL="54864" marR="54864">
                    <a:solidFill>
                      <a:srgbClr val="FFFFFF"/>
                    </a:solidFill>
                  </a:tcPr>
                </a:tc>
                <a:tc>
                  <a:txBody>
                    <a:bodyPr/>
                    <a:lstStyle/>
                    <a:p>
                      <a:pPr algn="ctr"/>
                      <a:r>
                        <a:rPr sz="1100">
                          <a:solidFill>
                            <a:srgbClr val="333333"/>
                          </a:solidFill>
                          <a:latin typeface="Calibri"/>
                        </a:rPr>
                        <a:t>245.46</a:t>
                      </a:r>
                    </a:p>
                  </a:txBody>
                  <a:tcPr marL="54864" marR="54864">
                    <a:solidFill>
                      <a:srgbClr val="FFFFFF"/>
                    </a:solidFill>
                  </a:tcPr>
                </a:tc>
                <a:tc>
                  <a:txBody>
                    <a:bodyPr/>
                    <a:lstStyle/>
                    <a:p>
                      <a:pPr algn="ctr"/>
                      <a:r>
                        <a:rPr sz="1100">
                          <a:solidFill>
                            <a:srgbClr val="333333"/>
                          </a:solidFill>
                          <a:latin typeface="Calibri"/>
                        </a:rPr>
                        <a:t>247.56</a:t>
                      </a:r>
                    </a:p>
                  </a:txBody>
                  <a:tcPr marL="54864" marR="54864">
                    <a:solidFill>
                      <a:srgbClr val="FFFFFF"/>
                    </a:solidFill>
                  </a:tcPr>
                </a:tc>
                <a:tc>
                  <a:txBody>
                    <a:bodyPr/>
                    <a:lstStyle/>
                    <a:p>
                      <a:pPr algn="ctr"/>
                      <a:r>
                        <a:rPr sz="1100" b="1">
                          <a:solidFill>
                            <a:srgbClr val="0B7A75"/>
                          </a:solidFill>
                          <a:latin typeface="Calibri"/>
                        </a:rPr>
                        <a:t>Proposed</a:t>
                      </a:r>
                    </a:p>
                  </a:txBody>
                  <a:tcPr marL="54864" marR="54864">
                    <a:solidFill>
                      <a:srgbClr val="FFFFFF"/>
                    </a:solidFill>
                  </a:tcPr>
                </a:tc>
              </a:tr>
              <a:tr h="378822">
                <a:tc>
                  <a:txBody>
                    <a:bodyPr/>
                    <a:lstStyle/>
                    <a:p>
                      <a:pPr algn="l"/>
                      <a:r>
                        <a:rPr sz="1100">
                          <a:solidFill>
                            <a:srgbClr val="333333"/>
                          </a:solidFill>
                          <a:latin typeface="Calibri"/>
                        </a:rPr>
                        <a:t>SU Throughput (bits/s/Hz)</a:t>
                      </a:r>
                    </a:p>
                  </a:txBody>
                  <a:tcPr marL="54864" marR="54864">
                    <a:solidFill>
                      <a:srgbClr val="F5F7FA"/>
                    </a:solidFill>
                  </a:tcPr>
                </a:tc>
                <a:tc>
                  <a:txBody>
                    <a:bodyPr/>
                    <a:lstStyle/>
                    <a:p>
                      <a:pPr algn="ctr"/>
                      <a:r>
                        <a:rPr sz="1100">
                          <a:solidFill>
                            <a:srgbClr val="333333"/>
                          </a:solidFill>
                          <a:latin typeface="Calibri"/>
                        </a:rPr>
                        <a:t>2.081</a:t>
                      </a:r>
                    </a:p>
                  </a:txBody>
                  <a:tcPr marL="54864" marR="54864">
                    <a:solidFill>
                      <a:srgbClr val="F5F7FA"/>
                    </a:solidFill>
                  </a:tcPr>
                </a:tc>
                <a:tc>
                  <a:txBody>
                    <a:bodyPr/>
                    <a:lstStyle/>
                    <a:p>
                      <a:pPr algn="ctr"/>
                      <a:r>
                        <a:rPr sz="1100">
                          <a:solidFill>
                            <a:srgbClr val="333333"/>
                          </a:solidFill>
                          <a:latin typeface="Calibri"/>
                        </a:rPr>
                        <a:t>2.103</a:t>
                      </a:r>
                    </a:p>
                  </a:txBody>
                  <a:tcPr marL="54864" marR="54864">
                    <a:solidFill>
                      <a:srgbClr val="F5F7FA"/>
                    </a:solidFill>
                  </a:tcPr>
                </a:tc>
                <a:tc>
                  <a:txBody>
                    <a:bodyPr/>
                    <a:lstStyle/>
                    <a:p>
                      <a:pPr algn="ctr"/>
                      <a:r>
                        <a:rPr sz="1100">
                          <a:solidFill>
                            <a:srgbClr val="333333"/>
                          </a:solidFill>
                          <a:latin typeface="Calibri"/>
                        </a:rPr>
                        <a:t>2.100</a:t>
                      </a:r>
                    </a:p>
                  </a:txBody>
                  <a:tcPr marL="54864" marR="54864">
                    <a:solidFill>
                      <a:srgbClr val="F5F7FA"/>
                    </a:solidFill>
                  </a:tcPr>
                </a:tc>
                <a:tc>
                  <a:txBody>
                    <a:bodyPr/>
                    <a:lstStyle/>
                    <a:p>
                      <a:pPr algn="ctr"/>
                      <a:r>
                        <a:rPr sz="1100" b="1">
                          <a:solidFill>
                            <a:srgbClr val="0B7A75"/>
                          </a:solidFill>
                          <a:latin typeface="Calibri"/>
                        </a:rPr>
                        <a:t>DDPG / Proposed</a:t>
                      </a:r>
                    </a:p>
                  </a:txBody>
                  <a:tcPr marL="54864" marR="54864">
                    <a:solidFill>
                      <a:srgbClr val="F5F7FA"/>
                    </a:solidFill>
                  </a:tcPr>
                </a:tc>
              </a:tr>
              <a:tr h="378822">
                <a:tc>
                  <a:txBody>
                    <a:bodyPr/>
                    <a:lstStyle/>
                    <a:p>
                      <a:pPr algn="l"/>
                      <a:r>
                        <a:rPr sz="1100">
                          <a:solidFill>
                            <a:srgbClr val="333333"/>
                          </a:solidFill>
                          <a:latin typeface="Calibri"/>
                        </a:rPr>
                        <a:t>PU Throughput (bits/s/Hz)</a:t>
                      </a:r>
                    </a:p>
                  </a:txBody>
                  <a:tcPr marL="54864" marR="54864">
                    <a:solidFill>
                      <a:srgbClr val="FFFFFF"/>
                    </a:solidFill>
                  </a:tcPr>
                </a:tc>
                <a:tc>
                  <a:txBody>
                    <a:bodyPr/>
                    <a:lstStyle/>
                    <a:p>
                      <a:pPr algn="ctr"/>
                      <a:r>
                        <a:rPr sz="1100">
                          <a:solidFill>
                            <a:srgbClr val="333333"/>
                          </a:solidFill>
                          <a:latin typeface="Calibri"/>
                        </a:rPr>
                        <a:t>0.519</a:t>
                      </a:r>
                    </a:p>
                  </a:txBody>
                  <a:tcPr marL="54864" marR="54864">
                    <a:solidFill>
                      <a:srgbClr val="FFFFFF"/>
                    </a:solidFill>
                  </a:tcPr>
                </a:tc>
                <a:tc>
                  <a:txBody>
                    <a:bodyPr/>
                    <a:lstStyle/>
                    <a:p>
                      <a:pPr algn="ctr"/>
                      <a:r>
                        <a:rPr sz="1100">
                          <a:solidFill>
                            <a:srgbClr val="333333"/>
                          </a:solidFill>
                          <a:latin typeface="Calibri"/>
                        </a:rPr>
                        <a:t>0.516</a:t>
                      </a:r>
                    </a:p>
                  </a:txBody>
                  <a:tcPr marL="54864" marR="54864">
                    <a:solidFill>
                      <a:srgbClr val="FFFFFF"/>
                    </a:solidFill>
                  </a:tcPr>
                </a:tc>
                <a:tc>
                  <a:txBody>
                    <a:bodyPr/>
                    <a:lstStyle/>
                    <a:p>
                      <a:pPr algn="ctr"/>
                      <a:r>
                        <a:rPr sz="1100">
                          <a:solidFill>
                            <a:srgbClr val="333333"/>
                          </a:solidFill>
                          <a:latin typeface="Calibri"/>
                        </a:rPr>
                        <a:t>0.529</a:t>
                      </a:r>
                    </a:p>
                  </a:txBody>
                  <a:tcPr marL="54864" marR="54864">
                    <a:solidFill>
                      <a:srgbClr val="FFFFFF"/>
                    </a:solidFill>
                  </a:tcPr>
                </a:tc>
                <a:tc>
                  <a:txBody>
                    <a:bodyPr/>
                    <a:lstStyle/>
                    <a:p>
                      <a:pPr algn="ctr"/>
                      <a:r>
                        <a:rPr sz="1100" b="1">
                          <a:solidFill>
                            <a:srgbClr val="0B7A75"/>
                          </a:solidFill>
                          <a:latin typeface="Calibri"/>
                        </a:rPr>
                        <a:t>Proposed</a:t>
                      </a:r>
                    </a:p>
                  </a:txBody>
                  <a:tcPr marL="54864" marR="54864">
                    <a:solidFill>
                      <a:srgbClr val="FFFFFF"/>
                    </a:solidFill>
                  </a:tcPr>
                </a:tc>
              </a:tr>
              <a:tr h="378822">
                <a:tc>
                  <a:txBody>
                    <a:bodyPr/>
                    <a:lstStyle/>
                    <a:p>
                      <a:pPr algn="l"/>
                      <a:r>
                        <a:rPr sz="1100">
                          <a:solidFill>
                            <a:srgbClr val="333333"/>
                          </a:solidFill>
                          <a:latin typeface="Calibri"/>
                        </a:rPr>
                        <a:t>Outage Probability</a:t>
                      </a:r>
                    </a:p>
                  </a:txBody>
                  <a:tcPr marL="54864" marR="54864">
                    <a:solidFill>
                      <a:srgbClr val="F5F7FA"/>
                    </a:solidFill>
                  </a:tcPr>
                </a:tc>
                <a:tc>
                  <a:txBody>
                    <a:bodyPr/>
                    <a:lstStyle/>
                    <a:p>
                      <a:pPr algn="ctr"/>
                      <a:r>
                        <a:rPr sz="1100">
                          <a:solidFill>
                            <a:srgbClr val="333333"/>
                          </a:solidFill>
                          <a:latin typeface="Calibri"/>
                        </a:rPr>
                        <a:t>0.107</a:t>
                      </a:r>
                    </a:p>
                  </a:txBody>
                  <a:tcPr marL="54864" marR="54864">
                    <a:solidFill>
                      <a:srgbClr val="F5F7FA"/>
                    </a:solidFill>
                  </a:tcPr>
                </a:tc>
                <a:tc>
                  <a:txBody>
                    <a:bodyPr/>
                    <a:lstStyle/>
                    <a:p>
                      <a:pPr algn="ctr"/>
                      <a:r>
                        <a:rPr sz="1100">
                          <a:solidFill>
                            <a:srgbClr val="333333"/>
                          </a:solidFill>
                          <a:latin typeface="Calibri"/>
                        </a:rPr>
                        <a:t>0.104</a:t>
                      </a:r>
                    </a:p>
                  </a:txBody>
                  <a:tcPr marL="54864" marR="54864">
                    <a:solidFill>
                      <a:srgbClr val="F5F7FA"/>
                    </a:solidFill>
                  </a:tcPr>
                </a:tc>
                <a:tc>
                  <a:txBody>
                    <a:bodyPr/>
                    <a:lstStyle/>
                    <a:p>
                      <a:pPr algn="ctr"/>
                      <a:r>
                        <a:rPr sz="1100">
                          <a:solidFill>
                            <a:srgbClr val="333333"/>
                          </a:solidFill>
                          <a:latin typeface="Calibri"/>
                        </a:rPr>
                        <a:t>0.104</a:t>
                      </a:r>
                    </a:p>
                  </a:txBody>
                  <a:tcPr marL="54864" marR="54864">
                    <a:solidFill>
                      <a:srgbClr val="F5F7FA"/>
                    </a:solidFill>
                  </a:tcPr>
                </a:tc>
                <a:tc>
                  <a:txBody>
                    <a:bodyPr/>
                    <a:lstStyle/>
                    <a:p>
                      <a:pPr algn="ctr"/>
                      <a:r>
                        <a:rPr sz="1100" b="1">
                          <a:solidFill>
                            <a:srgbClr val="0B7A75"/>
                          </a:solidFill>
                          <a:latin typeface="Calibri"/>
                        </a:rPr>
                        <a:t>DDPG / Proposed</a:t>
                      </a:r>
                    </a:p>
                  </a:txBody>
                  <a:tcPr marL="54864" marR="54864">
                    <a:solidFill>
                      <a:srgbClr val="F5F7FA"/>
                    </a:solidFill>
                  </a:tcPr>
                </a:tc>
              </a:tr>
              <a:tr h="378822">
                <a:tc>
                  <a:txBody>
                    <a:bodyPr/>
                    <a:lstStyle/>
                    <a:p>
                      <a:pPr algn="l"/>
                      <a:r>
                        <a:rPr sz="1100">
                          <a:solidFill>
                            <a:srgbClr val="333333"/>
                          </a:solidFill>
                          <a:latin typeface="Calibri"/>
                        </a:rPr>
                        <a:t>Average BER</a:t>
                      </a:r>
                    </a:p>
                  </a:txBody>
                  <a:tcPr marL="54864" marR="54864">
                    <a:solidFill>
                      <a:srgbClr val="FFFFFF"/>
                    </a:solidFill>
                  </a:tcPr>
                </a:tc>
                <a:tc>
                  <a:txBody>
                    <a:bodyPr/>
                    <a:lstStyle/>
                    <a:p>
                      <a:pPr algn="ctr"/>
                      <a:r>
                        <a:rPr sz="1100">
                          <a:solidFill>
                            <a:srgbClr val="333333"/>
                          </a:solidFill>
                          <a:latin typeface="Calibri"/>
                        </a:rPr>
                        <a:t>0.0270</a:t>
                      </a:r>
                    </a:p>
                  </a:txBody>
                  <a:tcPr marL="54864" marR="54864">
                    <a:solidFill>
                      <a:srgbClr val="FFFFFF"/>
                    </a:solidFill>
                  </a:tcPr>
                </a:tc>
                <a:tc>
                  <a:txBody>
                    <a:bodyPr/>
                    <a:lstStyle/>
                    <a:p>
                      <a:pPr algn="ctr"/>
                      <a:r>
                        <a:rPr sz="1100">
                          <a:solidFill>
                            <a:srgbClr val="333333"/>
                          </a:solidFill>
                          <a:latin typeface="Calibri"/>
                        </a:rPr>
                        <a:t>0.0263</a:t>
                      </a:r>
                    </a:p>
                  </a:txBody>
                  <a:tcPr marL="54864" marR="54864">
                    <a:solidFill>
                      <a:srgbClr val="FFFFFF"/>
                    </a:solidFill>
                  </a:tcPr>
                </a:tc>
                <a:tc>
                  <a:txBody>
                    <a:bodyPr/>
                    <a:lstStyle/>
                    <a:p>
                      <a:pPr algn="ctr"/>
                      <a:r>
                        <a:rPr sz="1100">
                          <a:solidFill>
                            <a:srgbClr val="333333"/>
                          </a:solidFill>
                          <a:latin typeface="Calibri"/>
                        </a:rPr>
                        <a:t>0.0264</a:t>
                      </a:r>
                    </a:p>
                  </a:txBody>
                  <a:tcPr marL="54864" marR="54864">
                    <a:solidFill>
                      <a:srgbClr val="FFFFFF"/>
                    </a:solidFill>
                  </a:tcPr>
                </a:tc>
                <a:tc>
                  <a:txBody>
                    <a:bodyPr/>
                    <a:lstStyle/>
                    <a:p>
                      <a:pPr algn="ctr"/>
                      <a:r>
                        <a:rPr sz="1100" b="1">
                          <a:solidFill>
                            <a:srgbClr val="0B7A75"/>
                          </a:solidFill>
                          <a:latin typeface="Calibri"/>
                        </a:rPr>
                        <a:t>DDPG / Proposed</a:t>
                      </a:r>
                    </a:p>
                  </a:txBody>
                  <a:tcPr marL="54864" marR="54864">
                    <a:solidFill>
                      <a:srgbClr val="FFFFFF"/>
                    </a:solidFill>
                  </a:tcPr>
                </a:tc>
              </a:tr>
              <a:tr h="378828">
                <a:tc>
                  <a:txBody>
                    <a:bodyPr/>
                    <a:lstStyle/>
                    <a:p>
                      <a:pPr algn="l"/>
                      <a:r>
                        <a:rPr sz="1100">
                          <a:solidFill>
                            <a:srgbClr val="333333"/>
                          </a:solidFill>
                          <a:latin typeface="Calibri"/>
                        </a:rPr>
                        <a:t>Training Time (s)</a:t>
                      </a:r>
                    </a:p>
                  </a:txBody>
                  <a:tcPr marL="54864" marR="54864">
                    <a:solidFill>
                      <a:srgbClr val="F5F7FA"/>
                    </a:solidFill>
                  </a:tcPr>
                </a:tc>
                <a:tc>
                  <a:txBody>
                    <a:bodyPr/>
                    <a:lstStyle/>
                    <a:p>
                      <a:pPr algn="ctr"/>
                      <a:r>
                        <a:rPr sz="1100">
                          <a:solidFill>
                            <a:srgbClr val="333333"/>
                          </a:solidFill>
                          <a:latin typeface="Calibri"/>
                        </a:rPr>
                        <a:t>5 487</a:t>
                      </a:r>
                    </a:p>
                  </a:txBody>
                  <a:tcPr marL="54864" marR="54864">
                    <a:solidFill>
                      <a:srgbClr val="F5F7FA"/>
                    </a:solidFill>
                  </a:tcPr>
                </a:tc>
                <a:tc>
                  <a:txBody>
                    <a:bodyPr/>
                    <a:lstStyle/>
                    <a:p>
                      <a:pPr algn="ctr"/>
                      <a:r>
                        <a:rPr sz="1100">
                          <a:solidFill>
                            <a:srgbClr val="333333"/>
                          </a:solidFill>
                          <a:latin typeface="Calibri"/>
                        </a:rPr>
                        <a:t>5 214</a:t>
                      </a:r>
                    </a:p>
                  </a:txBody>
                  <a:tcPr marL="54864" marR="54864">
                    <a:solidFill>
                      <a:srgbClr val="F5F7FA"/>
                    </a:solidFill>
                  </a:tcPr>
                </a:tc>
                <a:tc>
                  <a:txBody>
                    <a:bodyPr/>
                    <a:lstStyle/>
                    <a:p>
                      <a:pPr algn="ctr"/>
                      <a:r>
                        <a:rPr sz="1100">
                          <a:solidFill>
                            <a:srgbClr val="333333"/>
                          </a:solidFill>
                          <a:latin typeface="Calibri"/>
                        </a:rPr>
                        <a:t>44 387</a:t>
                      </a:r>
                    </a:p>
                  </a:txBody>
                  <a:tcPr marL="54864" marR="54864">
                    <a:solidFill>
                      <a:srgbClr val="F5F7FA"/>
                    </a:solidFill>
                  </a:tcPr>
                </a:tc>
                <a:tc>
                  <a:txBody>
                    <a:bodyPr/>
                    <a:lstStyle/>
                    <a:p>
                      <a:pPr algn="ctr"/>
                      <a:r>
                        <a:rPr sz="1100">
                          <a:solidFill>
                            <a:srgbClr val="333333"/>
                          </a:solidFill>
                          <a:latin typeface="Calibri"/>
                        </a:rPr>
                        <a:t>–</a:t>
                      </a:r>
                    </a:p>
                  </a:txBody>
                  <a:tcPr marL="54864" marR="54864">
                    <a:solidFill>
                      <a:srgbClr val="F5F7FA"/>
                    </a:solidFill>
                  </a:tcPr>
                </a:tc>
              </a:tr>
            </a:tbl>
          </a:graphicData>
        </a:graphic>
      </p:graphicFrame>
      <p:sp>
        <p:nvSpPr>
          <p:cNvPr id="6" name="TextBox 5"/>
          <p:cNvSpPr txBox="1"/>
          <p:nvPr/>
        </p:nvSpPr>
        <p:spPr>
          <a:xfrm>
            <a:off x="457200" y="4434840"/>
            <a:ext cx="8229600" cy="20116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Observations</a:t>
            </a:r>
          </a:p>
          <a:p>
            <a:pPr>
              <a:lnSpc>
                <a:spcPct val="115000"/>
              </a:lnSpc>
              <a:spcAft>
                <a:spcPts val="200"/>
              </a:spcAft>
            </a:pPr>
            <a:r>
              <a:rPr sz="1300">
                <a:solidFill>
                  <a:srgbClr val="333333"/>
                </a:solidFill>
                <a:latin typeface="Calibri"/>
              </a:rPr>
              <a:t>• The Proposed Algorithm wins on average reward and PU throughput, and ties on outage / BER / SU throughput — without any manual weight tuning.</a:t>
            </a:r>
          </a:p>
          <a:p>
            <a:pPr>
              <a:lnSpc>
                <a:spcPct val="115000"/>
              </a:lnSpc>
              <a:spcAft>
                <a:spcPts val="200"/>
              </a:spcAft>
            </a:pPr>
            <a:r>
              <a:rPr sz="1300">
                <a:solidFill>
                  <a:srgbClr val="333333"/>
                </a:solidFill>
                <a:latin typeface="Calibri"/>
              </a:rPr>
              <a:t>• Proposed gives the highest PU throughput at equal outage — safer interference behaviour at equal SU performance.</a:t>
            </a:r>
          </a:p>
          <a:p>
            <a:pPr>
              <a:lnSpc>
                <a:spcPct val="115000"/>
              </a:lnSpc>
              <a:spcAft>
                <a:spcPts val="200"/>
              </a:spcAft>
            </a:pPr>
            <a:r>
              <a:rPr sz="1300">
                <a:solidFill>
                  <a:srgbClr val="333333"/>
                </a:solidFill>
                <a:latin typeface="Calibri"/>
              </a:rPr>
              <a:t>• Training time ~8× longer (6 critics + GRU + Lagrangian) — expected trade-off.</a:t>
            </a:r>
          </a:p>
          <a:p>
            <a:pPr>
              <a:lnSpc>
                <a:spcPct val="115000"/>
              </a:lnSpc>
              <a:spcAft>
                <a:spcPts val="200"/>
              </a:spcAft>
            </a:pPr>
            <a:r>
              <a:rPr sz="1300">
                <a:solidFill>
                  <a:srgbClr val="333333"/>
                </a:solidFill>
                <a:latin typeface="Calibri"/>
              </a:rPr>
              <a:t>• Note — Stick the 3-way SU-throughput and reward-comparison graphs on the next slide.</a:t>
            </a:r>
          </a:p>
        </p:txBody>
      </p:sp>
      <p:sp>
        <p:nvSpPr>
          <p:cNvPr id="7" name="TextBox 6"/>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C — 3-way Curves (m = 3)</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3way-4.png"/>
          <p:cNvPicPr>
            <a:picLocks noChangeAspect="1"/>
          </p:cNvPicPr>
          <p:nvPr/>
        </p:nvPicPr>
        <p:blipFill>
          <a:blip r:embed="rId2"/>
          <a:stretch>
            <a:fillRect/>
          </a:stretch>
        </p:blipFill>
        <p:spPr>
          <a:xfrm>
            <a:off x="274320" y="1234440"/>
            <a:ext cx="4297680" cy="2338913"/>
          </a:xfrm>
          <a:prstGeom prst="rect">
            <a:avLst/>
          </a:prstGeom>
        </p:spPr>
      </p:pic>
      <p:sp>
        <p:nvSpPr>
          <p:cNvPr id="5" name="TextBox 4"/>
          <p:cNvSpPr txBox="1"/>
          <p:nvPr/>
        </p:nvSpPr>
        <p:spPr>
          <a:xfrm>
            <a:off x="274320" y="4251960"/>
            <a:ext cx="4297680" cy="274320"/>
          </a:xfrm>
          <a:prstGeom prst="rect">
            <a:avLst/>
          </a:prstGeom>
          <a:noFill/>
        </p:spPr>
        <p:txBody>
          <a:bodyPr wrap="none" lIns="0" tIns="0" bIns="0">
            <a:spAutoFit/>
          </a:bodyPr>
          <a:lstStyle/>
          <a:p>
            <a:pPr algn="ctr"/>
            <a:r>
              <a:rPr sz="1000" i="1">
                <a:solidFill>
                  <a:srgbClr val="555555"/>
                </a:solidFill>
                <a:latin typeface="Calibri"/>
              </a:rPr>
              <a:t>Figure: SU throughput — Proposed Algorithm matches or beats both baselines.</a:t>
            </a:r>
          </a:p>
        </p:txBody>
      </p:sp>
      <p:pic>
        <p:nvPicPr>
          <p:cNvPr id="6" name="Picture 5" descr="3way-6.png"/>
          <p:cNvPicPr>
            <a:picLocks noChangeAspect="1"/>
          </p:cNvPicPr>
          <p:nvPr/>
        </p:nvPicPr>
        <p:blipFill>
          <a:blip r:embed="rId3"/>
          <a:stretch>
            <a:fillRect/>
          </a:stretch>
        </p:blipFill>
        <p:spPr>
          <a:xfrm>
            <a:off x="4572000" y="1234440"/>
            <a:ext cx="4297680" cy="2338913"/>
          </a:xfrm>
          <a:prstGeom prst="rect">
            <a:avLst/>
          </a:prstGeom>
        </p:spPr>
      </p:pic>
      <p:sp>
        <p:nvSpPr>
          <p:cNvPr id="7" name="TextBox 6"/>
          <p:cNvSpPr txBox="1"/>
          <p:nvPr/>
        </p:nvSpPr>
        <p:spPr>
          <a:xfrm>
            <a:off x="4572000" y="4251960"/>
            <a:ext cx="4297680" cy="274320"/>
          </a:xfrm>
          <a:prstGeom prst="rect">
            <a:avLst/>
          </a:prstGeom>
          <a:noFill/>
        </p:spPr>
        <p:txBody>
          <a:bodyPr wrap="none" lIns="0" tIns="0" bIns="0">
            <a:spAutoFit/>
          </a:bodyPr>
          <a:lstStyle/>
          <a:p>
            <a:pPr algn="ctr"/>
            <a:r>
              <a:rPr sz="1000" i="1">
                <a:solidFill>
                  <a:srgbClr val="555555"/>
                </a:solidFill>
                <a:latin typeface="Calibri"/>
              </a:rPr>
              <a:t>Figure: Outage probability — Proposed groups tightly with DDPG; both below TD3 early on.</a:t>
            </a:r>
          </a:p>
        </p:txBody>
      </p:sp>
      <p:sp>
        <p:nvSpPr>
          <p:cNvPr id="8" name="TextBox 7"/>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Experiment C — 3-way Reward Overlay (m = 3)</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3way-8.png"/>
          <p:cNvPicPr>
            <a:picLocks noChangeAspect="1"/>
          </p:cNvPicPr>
          <p:nvPr/>
        </p:nvPicPr>
        <p:blipFill>
          <a:blip r:embed="rId2"/>
          <a:stretch>
            <a:fillRect/>
          </a:stretch>
        </p:blipFill>
        <p:spPr>
          <a:xfrm>
            <a:off x="274320" y="1234440"/>
            <a:ext cx="4297680" cy="2338913"/>
          </a:xfrm>
          <a:prstGeom prst="rect">
            <a:avLst/>
          </a:prstGeom>
        </p:spPr>
      </p:pic>
      <p:sp>
        <p:nvSpPr>
          <p:cNvPr id="5" name="TextBox 4"/>
          <p:cNvSpPr txBox="1"/>
          <p:nvPr/>
        </p:nvSpPr>
        <p:spPr>
          <a:xfrm>
            <a:off x="274320" y="4251960"/>
            <a:ext cx="4297680" cy="274320"/>
          </a:xfrm>
          <a:prstGeom prst="rect">
            <a:avLst/>
          </a:prstGeom>
          <a:noFill/>
        </p:spPr>
        <p:txBody>
          <a:bodyPr wrap="none" lIns="0" tIns="0" bIns="0">
            <a:spAutoFit/>
          </a:bodyPr>
          <a:lstStyle/>
          <a:p>
            <a:pPr algn="ctr"/>
            <a:r>
              <a:rPr sz="1000" i="1">
                <a:solidFill>
                  <a:srgbClr val="555555"/>
                </a:solidFill>
                <a:latin typeface="Calibri"/>
              </a:rPr>
              <a:t>Figure: Episode reward overlay — Proposed Algorithm achieves the highest final average reward (~247.6).</a:t>
            </a:r>
          </a:p>
        </p:txBody>
      </p:sp>
      <p:pic>
        <p:nvPicPr>
          <p:cNvPr id="6" name="Picture 5" descr="3way-2.png"/>
          <p:cNvPicPr>
            <a:picLocks noChangeAspect="1"/>
          </p:cNvPicPr>
          <p:nvPr/>
        </p:nvPicPr>
        <p:blipFill>
          <a:blip r:embed="rId3"/>
          <a:stretch>
            <a:fillRect/>
          </a:stretch>
        </p:blipFill>
        <p:spPr>
          <a:xfrm>
            <a:off x="4572000" y="1234440"/>
            <a:ext cx="4297680" cy="2556554"/>
          </a:xfrm>
          <a:prstGeom prst="rect">
            <a:avLst/>
          </a:prstGeom>
        </p:spPr>
      </p:pic>
      <p:sp>
        <p:nvSpPr>
          <p:cNvPr id="7" name="TextBox 6"/>
          <p:cNvSpPr txBox="1"/>
          <p:nvPr/>
        </p:nvSpPr>
        <p:spPr>
          <a:xfrm>
            <a:off x="4572000" y="4251960"/>
            <a:ext cx="4297680" cy="274320"/>
          </a:xfrm>
          <a:prstGeom prst="rect">
            <a:avLst/>
          </a:prstGeom>
          <a:noFill/>
        </p:spPr>
        <p:txBody>
          <a:bodyPr wrap="none" lIns="0" tIns="0" bIns="0">
            <a:spAutoFit/>
          </a:bodyPr>
          <a:lstStyle/>
          <a:p>
            <a:pPr algn="ctr"/>
            <a:r>
              <a:rPr sz="1000" i="1">
                <a:solidFill>
                  <a:srgbClr val="555555"/>
                </a:solidFill>
                <a:latin typeface="Calibri"/>
              </a:rPr>
              <a:t>Figure: SU SINR vs BER for all three algorithms.</a:t>
            </a:r>
          </a:p>
        </p:txBody>
      </p:sp>
      <p:sp>
        <p:nvSpPr>
          <p:cNvPr id="8" name="TextBox 7"/>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Discussion of Results</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Headline Findings</a:t>
            </a:r>
          </a:p>
          <a:p>
            <a:pPr>
              <a:lnSpc>
                <a:spcPct val="115000"/>
              </a:lnSpc>
              <a:spcAft>
                <a:spcPts val="200"/>
              </a:spcAft>
            </a:pPr>
            <a:r>
              <a:rPr sz="1300">
                <a:solidFill>
                  <a:srgbClr val="333333"/>
                </a:solidFill>
                <a:latin typeface="Calibri"/>
              </a:rPr>
              <a:t>• DDPG → TD3 → Proposed Algorithm gives a clear, monotonic improvement in average reward and constraint adherence.</a:t>
            </a:r>
          </a:p>
          <a:p>
            <a:pPr>
              <a:lnSpc>
                <a:spcPct val="115000"/>
              </a:lnSpc>
              <a:spcAft>
                <a:spcPts val="200"/>
              </a:spcAft>
            </a:pPr>
            <a:r>
              <a:rPr sz="1300">
                <a:solidFill>
                  <a:srgbClr val="333333"/>
                </a:solidFill>
                <a:latin typeface="Calibri"/>
              </a:rPr>
              <a:t>• TD3's twin-critic + delayed update gives 17–22 % higher SU throughput than DDPG with concurrent reduction in outage.</a:t>
            </a:r>
          </a:p>
          <a:p>
            <a:pPr>
              <a:lnSpc>
                <a:spcPct val="115000"/>
              </a:lnSpc>
              <a:spcAft>
                <a:spcPts val="200"/>
              </a:spcAft>
            </a:pPr>
            <a:r>
              <a:rPr sz="1300">
                <a:solidFill>
                  <a:srgbClr val="333333"/>
                </a:solidFill>
                <a:latin typeface="Calibri"/>
              </a:rPr>
              <a:t>• The Proposed Algorithm achieves the best average reward and best PU throughput at equal outage / BER — without any manual weight tuning.</a:t>
            </a:r>
          </a:p>
          <a:p>
            <a:pPr>
              <a:lnSpc>
                <a:spcPct val="115000"/>
              </a:lnSpc>
              <a:spcBef>
                <a:spcPts val="400"/>
              </a:spcBef>
              <a:spcAft>
                <a:spcPts val="200"/>
              </a:spcAft>
            </a:pPr>
            <a:r>
              <a:rPr sz="1400" b="1">
                <a:solidFill>
                  <a:srgbClr val="2C5F8D"/>
                </a:solidFill>
                <a:latin typeface="Calibri"/>
              </a:rPr>
              <a:t>Effect of Fading Severity (m = 1 vs m = 3)</a:t>
            </a:r>
          </a:p>
          <a:p>
            <a:pPr>
              <a:lnSpc>
                <a:spcPct val="115000"/>
              </a:lnSpc>
              <a:spcAft>
                <a:spcPts val="200"/>
              </a:spcAft>
            </a:pPr>
            <a:r>
              <a:rPr sz="1300">
                <a:solidFill>
                  <a:srgbClr val="333333"/>
                </a:solidFill>
                <a:latin typeface="Calibri"/>
              </a:rPr>
              <a:t>• m = 1 (Rayleigh) is hard for all agents — outage hovers 25–32 %; SU is bandwidth-limited by deep fades, not by the agent.</a:t>
            </a:r>
          </a:p>
          <a:p>
            <a:pPr>
              <a:lnSpc>
                <a:spcPct val="115000"/>
              </a:lnSpc>
              <a:spcAft>
                <a:spcPts val="200"/>
              </a:spcAft>
            </a:pPr>
            <a:r>
              <a:rPr sz="1300">
                <a:solidFill>
                  <a:srgbClr val="333333"/>
                </a:solidFill>
                <a:latin typeface="Calibri"/>
              </a:rPr>
              <a:t>• m = 3 (moderate) gives agents room to exploit good states — outage drops below 12 % for TD3 / Proposed.</a:t>
            </a:r>
          </a:p>
          <a:p>
            <a:pPr>
              <a:lnSpc>
                <a:spcPct val="115000"/>
              </a:lnSpc>
              <a:spcBef>
                <a:spcPts val="400"/>
              </a:spcBef>
              <a:spcAft>
                <a:spcPts val="200"/>
              </a:spcAft>
            </a:pPr>
            <a:r>
              <a:rPr sz="1400" b="1">
                <a:solidFill>
                  <a:srgbClr val="2C5F8D"/>
                </a:solidFill>
                <a:latin typeface="Calibri"/>
              </a:rPr>
              <a:t>Costs and Caveats</a:t>
            </a:r>
          </a:p>
          <a:p>
            <a:pPr>
              <a:lnSpc>
                <a:spcPct val="115000"/>
              </a:lnSpc>
              <a:spcAft>
                <a:spcPts val="200"/>
              </a:spcAft>
            </a:pPr>
            <a:r>
              <a:rPr sz="1300">
                <a:solidFill>
                  <a:srgbClr val="333333"/>
                </a:solidFill>
                <a:latin typeface="Calibri"/>
              </a:rPr>
              <a:t>• Proposed Algorithm needs ~8× longer training (6 critics + GRU + Lagrangian).</a:t>
            </a:r>
          </a:p>
          <a:p>
            <a:pPr>
              <a:lnSpc>
                <a:spcPct val="115000"/>
              </a:lnSpc>
              <a:spcAft>
                <a:spcPts val="200"/>
              </a:spcAft>
            </a:pPr>
            <a:r>
              <a:rPr sz="1300">
                <a:solidFill>
                  <a:srgbClr val="333333"/>
                </a:solidFill>
                <a:latin typeface="Calibri"/>
              </a:rPr>
              <a:t>• Inference cost is unchanged — only training scales up.</a:t>
            </a:r>
          </a:p>
          <a:p>
            <a:pPr>
              <a:lnSpc>
                <a:spcPct val="115000"/>
              </a:lnSpc>
              <a:spcAft>
                <a:spcPts val="200"/>
              </a:spcAft>
            </a:pPr>
            <a:r>
              <a:rPr sz="1300">
                <a:solidFill>
                  <a:srgbClr val="333333"/>
                </a:solidFill>
                <a:latin typeface="Calibri"/>
              </a:rPr>
              <a:t>• Imperfect CSI is the realistic setting; perfect CSI was not assumed anywhere.</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Conclusion &amp; Future Work</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420624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Conclusion</a:t>
            </a:r>
          </a:p>
          <a:p>
            <a:pPr>
              <a:lnSpc>
                <a:spcPct val="115000"/>
              </a:lnSpc>
              <a:spcAft>
                <a:spcPts val="200"/>
              </a:spcAft>
            </a:pPr>
            <a:r>
              <a:rPr sz="1300">
                <a:solidFill>
                  <a:srgbClr val="333333"/>
                </a:solidFill>
                <a:latin typeface="Calibri"/>
              </a:rPr>
              <a:t>• Built a complete DRL pipeline for underlay CRN power control under Nakagami-m fading and imperfect CSI.</a:t>
            </a:r>
          </a:p>
          <a:p>
            <a:pPr>
              <a:lnSpc>
                <a:spcPct val="115000"/>
              </a:lnSpc>
              <a:spcAft>
                <a:spcPts val="200"/>
              </a:spcAft>
            </a:pPr>
            <a:r>
              <a:rPr sz="1300">
                <a:solidFill>
                  <a:srgbClr val="333333"/>
                </a:solidFill>
                <a:latin typeface="Calibri"/>
              </a:rPr>
              <a:t>• Quantified TD3's gains over DDPG (≈ +20 % SU throughput, −12 pp outage at m = 3).</a:t>
            </a:r>
          </a:p>
          <a:p>
            <a:pPr>
              <a:lnSpc>
                <a:spcPct val="115000"/>
              </a:lnSpc>
              <a:spcAft>
                <a:spcPts val="200"/>
              </a:spcAft>
            </a:pPr>
            <a:r>
              <a:rPr sz="1300">
                <a:solidFill>
                  <a:srgbClr val="333333"/>
                </a:solidFill>
                <a:latin typeface="Calibri"/>
              </a:rPr>
              <a:t>• Designed the Proposed Algorithm with four innovations — GRU belief, decomposed critics, adaptive Lagrangians, directional noise.</a:t>
            </a:r>
          </a:p>
          <a:p>
            <a:pPr>
              <a:lnSpc>
                <a:spcPct val="115000"/>
              </a:lnSpc>
              <a:spcAft>
                <a:spcPts val="200"/>
              </a:spcAft>
            </a:pPr>
            <a:r>
              <a:rPr sz="1300">
                <a:solidFill>
                  <a:srgbClr val="333333"/>
                </a:solidFill>
                <a:latin typeface="Calibri"/>
              </a:rPr>
              <a:t>• Proposed matches the best baseline on throughput while improving PU protection — and removes manual weight tuning.</a:t>
            </a:r>
          </a:p>
          <a:p>
            <a:pPr>
              <a:lnSpc>
                <a:spcPct val="115000"/>
              </a:lnSpc>
              <a:spcAft>
                <a:spcPts val="200"/>
              </a:spcAft>
            </a:pPr>
            <a:r>
              <a:rPr sz="1300">
                <a:solidFill>
                  <a:srgbClr val="333333"/>
                </a:solidFill>
                <a:latin typeface="Calibri"/>
              </a:rPr>
              <a:t>• Real-time React + WebSocket dashboard makes training observable.</a:t>
            </a:r>
          </a:p>
        </p:txBody>
      </p:sp>
      <p:sp>
        <p:nvSpPr>
          <p:cNvPr id="5" name="TextBox 4"/>
          <p:cNvSpPr txBox="1"/>
          <p:nvPr/>
        </p:nvSpPr>
        <p:spPr>
          <a:xfrm>
            <a:off x="4846320" y="1097280"/>
            <a:ext cx="4023360" cy="5212080"/>
          </a:xfrm>
          <a:prstGeom prst="rect">
            <a:avLst/>
          </a:prstGeom>
          <a:noFill/>
        </p:spPr>
        <p:txBody>
          <a:bodyPr wrap="square" lIns="45720" rIns="45720">
            <a:spAutoFit/>
          </a:bodyPr>
          <a:lstStyle/>
          <a:p>
            <a:pPr>
              <a:lnSpc>
                <a:spcPct val="115000"/>
              </a:lnSpc>
              <a:spcBef>
                <a:spcPts val="400"/>
              </a:spcBef>
              <a:spcAft>
                <a:spcPts val="200"/>
              </a:spcAft>
            </a:pPr>
            <a:r>
              <a:rPr sz="1400" b="1">
                <a:solidFill>
                  <a:srgbClr val="2C5F8D"/>
                </a:solidFill>
                <a:latin typeface="Calibri"/>
              </a:rPr>
              <a:t>Future Work</a:t>
            </a:r>
          </a:p>
          <a:p>
            <a:pPr>
              <a:lnSpc>
                <a:spcPct val="115000"/>
              </a:lnSpc>
              <a:spcAft>
                <a:spcPts val="200"/>
              </a:spcAft>
            </a:pPr>
            <a:r>
              <a:rPr sz="1300">
                <a:solidFill>
                  <a:srgbClr val="333333"/>
                </a:solidFill>
                <a:latin typeface="Calibri"/>
              </a:rPr>
              <a:t>• Multi-SU scaling — extend to multiple SU pairs (multi-agent RL).</a:t>
            </a:r>
          </a:p>
          <a:p>
            <a:pPr>
              <a:lnSpc>
                <a:spcPct val="115000"/>
              </a:lnSpc>
              <a:spcAft>
                <a:spcPts val="200"/>
              </a:spcAft>
            </a:pPr>
            <a:r>
              <a:rPr sz="1300">
                <a:solidFill>
                  <a:srgbClr val="333333"/>
                </a:solidFill>
                <a:latin typeface="Calibri"/>
              </a:rPr>
              <a:t>• SAC baseline for entropy-regularised exploration.</a:t>
            </a:r>
          </a:p>
          <a:p>
            <a:pPr>
              <a:lnSpc>
                <a:spcPct val="115000"/>
              </a:lnSpc>
              <a:spcAft>
                <a:spcPts val="200"/>
              </a:spcAft>
            </a:pPr>
            <a:r>
              <a:rPr sz="1300">
                <a:solidFill>
                  <a:srgbClr val="333333"/>
                </a:solidFill>
                <a:latin typeface="Calibri"/>
              </a:rPr>
              <a:t>• Prioritised experience replay for faster convergence.</a:t>
            </a:r>
          </a:p>
          <a:p>
            <a:pPr>
              <a:lnSpc>
                <a:spcPct val="115000"/>
              </a:lnSpc>
              <a:spcAft>
                <a:spcPts val="200"/>
              </a:spcAft>
            </a:pPr>
            <a:r>
              <a:rPr sz="1300">
                <a:solidFill>
                  <a:srgbClr val="333333"/>
                </a:solidFill>
                <a:latin typeface="Calibri"/>
              </a:rPr>
              <a:t>• Transfer learning across different m values.</a:t>
            </a:r>
          </a:p>
          <a:p>
            <a:pPr>
              <a:lnSpc>
                <a:spcPct val="115000"/>
              </a:lnSpc>
              <a:spcAft>
                <a:spcPts val="200"/>
              </a:spcAft>
            </a:pPr>
            <a:r>
              <a:rPr sz="1300">
                <a:solidFill>
                  <a:srgbClr val="333333"/>
                </a:solidFill>
                <a:latin typeface="Calibri"/>
              </a:rPr>
              <a:t>• Path-loss and mobility for more realism.</a:t>
            </a:r>
          </a:p>
          <a:p>
            <a:pPr>
              <a:lnSpc>
                <a:spcPct val="115000"/>
              </a:lnSpc>
              <a:spcAft>
                <a:spcPts val="200"/>
              </a:spcAft>
            </a:pPr>
            <a:r>
              <a:rPr sz="1300">
                <a:solidFill>
                  <a:srgbClr val="333333"/>
                </a:solidFill>
                <a:latin typeface="Calibri"/>
              </a:rPr>
              <a:t>• OFDM extension — per-subcarrier power allocation.</a:t>
            </a:r>
          </a:p>
          <a:p>
            <a:pPr>
              <a:lnSpc>
                <a:spcPct val="115000"/>
              </a:lnSpc>
              <a:spcAft>
                <a:spcPts val="200"/>
              </a:spcAft>
            </a:pPr>
            <a:r>
              <a:rPr sz="1300">
                <a:solidFill>
                  <a:srgbClr val="333333"/>
                </a:solidFill>
                <a:latin typeface="Calibri"/>
              </a:rPr>
              <a:t>• Coupled spectrum sensing + RL power control.</a:t>
            </a:r>
          </a:p>
          <a:p>
            <a:pPr>
              <a:lnSpc>
                <a:spcPct val="115000"/>
              </a:lnSpc>
              <a:spcAft>
                <a:spcPts val="200"/>
              </a:spcAft>
            </a:pPr>
            <a:r>
              <a:rPr sz="1300">
                <a:solidFill>
                  <a:srgbClr val="333333"/>
                </a:solidFill>
                <a:latin typeface="Calibri"/>
              </a:rPr>
              <a:t>• Docker deployment + Optuna hyper-parameter search.</a:t>
            </a:r>
          </a:p>
        </p:txBody>
      </p:sp>
      <p:sp>
        <p:nvSpPr>
          <p:cNvPr id="6" name="TextBox 5"/>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685800"/>
          </a:xfrm>
          <a:prstGeom prst="rect">
            <a:avLst/>
          </a:prstGeom>
          <a:noFill/>
        </p:spPr>
        <p:txBody>
          <a:bodyPr wrap="none" lIns="0" rIns="0" tIns="0" bIns="0">
            <a:spAutoFit/>
          </a:bodyPr>
          <a:lstStyle/>
          <a:p>
            <a:pPr algn="l"/>
            <a:r>
              <a:rPr sz="2800" b="1">
                <a:solidFill>
                  <a:srgbClr val="1A365D"/>
                </a:solidFill>
                <a:latin typeface="Calibri"/>
              </a:rPr>
              <a:t>References</a:t>
            </a:r>
          </a:p>
        </p:txBody>
      </p:sp>
      <p:sp>
        <p:nvSpPr>
          <p:cNvPr id="3" name="Rectangle 2"/>
          <p:cNvSpPr/>
          <p:nvPr/>
        </p:nvSpPr>
        <p:spPr>
          <a:xfrm>
            <a:off x="365760" y="960120"/>
            <a:ext cx="731520" cy="45720"/>
          </a:xfrm>
          <a:prstGeom prst="rect">
            <a:avLst/>
          </a:prstGeom>
          <a:solidFill>
            <a:srgbClr val="0B7A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0"/>
            <a:ext cx="8229600" cy="5212080"/>
          </a:xfrm>
          <a:prstGeom prst="rect">
            <a:avLst/>
          </a:prstGeom>
          <a:noFill/>
        </p:spPr>
        <p:txBody>
          <a:bodyPr wrap="square" lIns="45720" rIns="45720">
            <a:spAutoFit/>
          </a:bodyPr>
          <a:lstStyle/>
          <a:p>
            <a:pPr>
              <a:lnSpc>
                <a:spcPct val="115000"/>
              </a:lnSpc>
              <a:spcAft>
                <a:spcPts val="200"/>
              </a:spcAft>
            </a:pPr>
            <a:r>
              <a:rPr sz="1300">
                <a:solidFill>
                  <a:srgbClr val="333333"/>
                </a:solidFill>
                <a:latin typeface="Calibri"/>
              </a:rPr>
              <a:t>• [1] C. Zhong et al., "Deep Reinforcement Learning-Based Optimization for IRS-Assisted Cognitive Radio Systems," IEEE Trans. Commun., vol. 70, no. 6, pp. 3849–3864, Jun. 2022, doi: 10.1109/TCOMM.2022.3171837.</a:t>
            </a:r>
          </a:p>
          <a:p>
            <a:pPr>
              <a:lnSpc>
                <a:spcPct val="115000"/>
              </a:lnSpc>
              <a:spcAft>
                <a:spcPts val="200"/>
              </a:spcAft>
            </a:pPr>
            <a:r>
              <a:rPr sz="1300">
                <a:solidFill>
                  <a:srgbClr val="333333"/>
                </a:solidFill>
                <a:latin typeface="Calibri"/>
              </a:rPr>
              <a:t>• [2] P. R. Teja, K. Dubey and R. Dubey, "2DRL: Cognitive D2D Control Under Imperfect CSI Via Adaptive Deep Reinforcement Learning," Int. J. Networked Distrib. Comput., vol. 14, p. 6, 2026, doi: 10.1007/s44227-025-00081-0.</a:t>
            </a:r>
          </a:p>
          <a:p>
            <a:pPr>
              <a:lnSpc>
                <a:spcPct val="115000"/>
              </a:lnSpc>
              <a:spcAft>
                <a:spcPts val="200"/>
              </a:spcAft>
            </a:pPr>
            <a:r>
              <a:rPr sz="1300">
                <a:solidFill>
                  <a:srgbClr val="333333"/>
                </a:solidFill>
                <a:latin typeface="Calibri"/>
              </a:rPr>
              <a:t>• [3] R. Jafari, A. O. Fapojuwo and M. Nozari, "DRL-Powered Sum-Rate Maximization Design for IRS-Assisted Full Duplex Cluster NOMA WPCNs," IEEE Trans. Wireless Commun., vol. 24, no. 11, pp. 9686–9702, Nov. 2025, doi: 10.1109/TWC.2025.3574711.</a:t>
            </a:r>
          </a:p>
          <a:p>
            <a:pPr>
              <a:lnSpc>
                <a:spcPct val="115000"/>
              </a:lnSpc>
              <a:spcAft>
                <a:spcPts val="200"/>
              </a:spcAft>
            </a:pPr>
            <a:r>
              <a:rPr sz="1300">
                <a:solidFill>
                  <a:srgbClr val="333333"/>
                </a:solidFill>
                <a:latin typeface="Calibri"/>
              </a:rPr>
              <a:t>• [4] E. O. Frimpong, Y. Wang and Z. Tian, "IRIS-DDPG: A Reinforcement Learning-Based Optimization for Irregular Reconfigurable Intelligent Surfaces Exploiting Statistical CSI," IEEE Trans. Cogn. Commun. Netw., vol. 12, pp. 4716–4730, 2026, doi: 10.1109/TCCN.2025.3645496.</a:t>
            </a:r>
          </a:p>
          <a:p>
            <a:pPr>
              <a:lnSpc>
                <a:spcPct val="115000"/>
              </a:lnSpc>
              <a:spcAft>
                <a:spcPts val="200"/>
              </a:spcAft>
            </a:pPr>
            <a:r>
              <a:rPr sz="1300">
                <a:solidFill>
                  <a:srgbClr val="333333"/>
                </a:solidFill>
                <a:latin typeface="Calibri"/>
              </a:rPr>
              <a:t>• [5] Y. Bi, V. K. N. Lau and D. H. K. Tsang, "Model-Driven Bayesian Reinforcement Learning for IRS-Assisted Massive MIMO-OFDM Channel Feedback, Beamforming, and IRS Control," IEEE Trans. Wireless Commun., vol. 24, no. 3, pp. 2514–2529, Mar. 2025, doi: 10.1109/TWC.2024.3522098.</a:t>
            </a:r>
          </a:p>
          <a:p>
            <a:pPr>
              <a:lnSpc>
                <a:spcPct val="115000"/>
              </a:lnSpc>
              <a:spcAft>
                <a:spcPts val="200"/>
              </a:spcAft>
            </a:pPr>
            <a:r>
              <a:rPr sz="1300">
                <a:solidFill>
                  <a:srgbClr val="333333"/>
                </a:solidFill>
                <a:latin typeface="Calibri"/>
              </a:rPr>
              <a:t>• [6] S. Fujimoto, H. van Hoof and D. Meger, "Addressing Function Approximation Error in Actor-Critic Methods (TD3)," ICML 2018, arXiv:1802.09477.</a:t>
            </a:r>
          </a:p>
          <a:p>
            <a:pPr>
              <a:lnSpc>
                <a:spcPct val="115000"/>
              </a:lnSpc>
              <a:spcAft>
                <a:spcPts val="200"/>
              </a:spcAft>
            </a:pPr>
            <a:r>
              <a:rPr sz="1300">
                <a:solidFill>
                  <a:srgbClr val="333333"/>
                </a:solidFill>
                <a:latin typeface="Calibri"/>
              </a:rPr>
              <a:t>• [7] T. P. Lillicrap et al., "Continuous Control with Deep Reinforcement Learning (DDPG)," ICLR 2016, arXiv:1509.02971.</a:t>
            </a:r>
          </a:p>
          <a:p>
            <a:pPr>
              <a:lnSpc>
                <a:spcPct val="115000"/>
              </a:lnSpc>
              <a:spcAft>
                <a:spcPts val="200"/>
              </a:spcAft>
            </a:pPr>
            <a:r>
              <a:rPr sz="1300">
                <a:solidFill>
                  <a:srgbClr val="333333"/>
                </a:solidFill>
                <a:latin typeface="Calibri"/>
              </a:rPr>
              <a:t>• [8] DDPG-Based Adaptive Power Control, GitHub repo, 2026. https://github.com/adityagangwani30/ddpgminiproject.git</a:t>
            </a:r>
          </a:p>
          <a:p>
            <a:pPr>
              <a:lnSpc>
                <a:spcPct val="115000"/>
              </a:lnSpc>
              <a:spcAft>
                <a:spcPts val="200"/>
              </a:spcAft>
            </a:pPr>
            <a:r>
              <a:rPr sz="1300">
                <a:solidFill>
                  <a:srgbClr val="333333"/>
                </a:solidFill>
                <a:latin typeface="Calibri"/>
              </a:rPr>
              <a:t>• [9] Actor-Critic Network, GitHub repo, 2026. https://github.com/Ryan-gomezzz/ddpg-actor_critic.git</a:t>
            </a:r>
          </a:p>
        </p:txBody>
      </p:sp>
      <p:sp>
        <p:nvSpPr>
          <p:cNvPr id="5" name="TextBox 4"/>
          <p:cNvSpPr txBox="1"/>
          <p:nvPr/>
        </p:nvSpPr>
        <p:spPr>
          <a:xfrm>
            <a:off x="274320" y="6537960"/>
            <a:ext cx="6400800" cy="274320"/>
          </a:xfrm>
          <a:prstGeom prst="rect">
            <a:avLst/>
          </a:prstGeom>
          <a:noFill/>
        </p:spPr>
        <p:txBody>
          <a:bodyPr wrap="none" lIns="0" tIns="0" bIns="0">
            <a:spAutoFit/>
          </a:bodyPr>
          <a:lstStyle/>
          <a:p>
            <a:pPr algn="l"/>
            <a:r>
              <a:rPr sz="900">
                <a:solidFill>
                  <a:srgbClr val="555555"/>
                </a:solidFill>
                <a:latin typeface="Calibri"/>
              </a:rPr>
              <a:t>CRN Power Allocation via Deep RL  |  RIT, Bangalore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0"/>
            <a:ext cx="8229600" cy="1371600"/>
          </a:xfrm>
          <a:prstGeom prst="rect">
            <a:avLst/>
          </a:prstGeom>
          <a:noFill/>
        </p:spPr>
        <p:txBody>
          <a:bodyPr wrap="none">
            <a:spAutoFit/>
          </a:bodyPr>
          <a:lstStyle/>
          <a:p>
            <a:pPr algn="ctr"/>
            <a:r>
              <a:rPr sz="5400" b="1">
                <a:solidFill>
                  <a:srgbClr val="FFFFFF"/>
                </a:solidFill>
                <a:latin typeface="Calibri"/>
              </a:rPr>
              <a:t>Thank You</a:t>
            </a:r>
          </a:p>
        </p:txBody>
      </p:sp>
      <p:sp>
        <p:nvSpPr>
          <p:cNvPr id="4" name="TextBox 3"/>
          <p:cNvSpPr txBox="1"/>
          <p:nvPr/>
        </p:nvSpPr>
        <p:spPr>
          <a:xfrm>
            <a:off x="457200" y="3931920"/>
            <a:ext cx="8229600" cy="548640"/>
          </a:xfrm>
          <a:prstGeom prst="rect">
            <a:avLst/>
          </a:prstGeom>
          <a:noFill/>
        </p:spPr>
        <p:txBody>
          <a:bodyPr wrap="none">
            <a:spAutoFit/>
          </a:bodyPr>
          <a:lstStyle/>
          <a:p>
            <a:pPr algn="ctr"/>
            <a:r>
              <a:rPr sz="2000" i="1">
                <a:solidFill>
                  <a:srgbClr val="CADCFC"/>
                </a:solidFill>
                <a:latin typeface="Calibri"/>
              </a:rPr>
              <a:t>Questions and Suggestions Welcome</a:t>
            </a:r>
          </a:p>
        </p:txBody>
      </p:sp>
      <p:sp>
        <p:nvSpPr>
          <p:cNvPr id="5" name="TextBox 4"/>
          <p:cNvSpPr txBox="1"/>
          <p:nvPr/>
        </p:nvSpPr>
        <p:spPr>
          <a:xfrm>
            <a:off x="457200" y="5029200"/>
            <a:ext cx="8229600" cy="548640"/>
          </a:xfrm>
          <a:prstGeom prst="rect">
            <a:avLst/>
          </a:prstGeom>
          <a:noFill/>
        </p:spPr>
        <p:txBody>
          <a:bodyPr wrap="none">
            <a:spAutoFit/>
          </a:bodyPr>
          <a:lstStyle/>
          <a:p>
            <a:pPr algn="ctr"/>
            <a:r>
              <a:rPr sz="1300">
                <a:solidFill>
                  <a:srgbClr val="CADCFC"/>
                </a:solidFill>
                <a:latin typeface="Calibri"/>
              </a:rPr>
              <a:t>Department of Electronics and Communication Engineering, Ramaiah Institute of Technology, Bangalore</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2021-03-17T09:28:26Z</dcterms:created>
  <dc:creator>admin</dc:creator>
</cp:coreProperties>
</file>