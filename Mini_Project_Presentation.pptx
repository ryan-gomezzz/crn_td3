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8" roundtripDataSignature="AMtx7mjTR4fdBo9DZxXVzKAqAJFQPsaM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customschemas.google.com/relationships/presentationmetadata" Target="metadata"/><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2"/>
          <p:cNvSpPr/>
          <p:nvPr>
            <p:ph idx="2" type="pic"/>
          </p:nvPr>
        </p:nvSpPr>
        <p:spPr>
          <a:xfrm>
            <a:off x="1792288" y="612775"/>
            <a:ext cx="5486400" cy="4114800"/>
          </a:xfrm>
          <a:prstGeom prst="rect">
            <a:avLst/>
          </a:prstGeom>
          <a:noFill/>
          <a:ln>
            <a:noFill/>
          </a:ln>
        </p:spPr>
      </p:sp>
      <p:sp>
        <p:nvSpPr>
          <p:cNvPr id="64" name="Google Shape;64;p1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idx="1" type="subTitle"/>
          </p:nvPr>
        </p:nvSpPr>
        <p:spPr>
          <a:xfrm>
            <a:off x="990600" y="5638800"/>
            <a:ext cx="7010400" cy="8382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ctr">
              <a:spcBef>
                <a:spcPts val="0"/>
              </a:spcBef>
              <a:spcAft>
                <a:spcPts val="0"/>
              </a:spcAft>
              <a:buClr>
                <a:srgbClr val="888888"/>
              </a:buClr>
              <a:buSzPct val="100000"/>
              <a:buNone/>
            </a:pPr>
            <a:r>
              <a:t/>
            </a:r>
            <a:endParaRPr b="1" sz="1900">
              <a:solidFill>
                <a:schemeClr val="dk1"/>
              </a:solidFill>
              <a:latin typeface="Times New Roman"/>
              <a:ea typeface="Times New Roman"/>
              <a:cs typeface="Times New Roman"/>
              <a:sym typeface="Times New Roman"/>
            </a:endParaRPr>
          </a:p>
          <a:p>
            <a:pPr indent="0" lvl="0" marL="0" rtl="0" algn="l">
              <a:spcBef>
                <a:spcPts val="323"/>
              </a:spcBef>
              <a:spcAft>
                <a:spcPts val="0"/>
              </a:spcAft>
              <a:buClr>
                <a:schemeClr val="dk1"/>
              </a:buClr>
              <a:buSzPct val="100000"/>
              <a:buNone/>
            </a:pPr>
            <a:r>
              <a:rPr b="1" lang="en-US" sz="1600">
                <a:solidFill>
                  <a:schemeClr val="dk1"/>
                </a:solidFill>
                <a:latin typeface="Times New Roman"/>
                <a:ea typeface="Times New Roman"/>
                <a:cs typeface="Times New Roman"/>
                <a:sym typeface="Times New Roman"/>
              </a:rPr>
              <a:t>Guide:  Dr. Chitra M</a:t>
            </a:r>
            <a:endParaRPr b="1" sz="1900">
              <a:solidFill>
                <a:schemeClr val="dk1"/>
              </a:solidFill>
              <a:latin typeface="Times New Roman"/>
              <a:ea typeface="Times New Roman"/>
              <a:cs typeface="Times New Roman"/>
              <a:sym typeface="Times New Roman"/>
            </a:endParaRPr>
          </a:p>
          <a:p>
            <a:pPr indent="0" lvl="0" marL="0" rtl="0" algn="l">
              <a:spcBef>
                <a:spcPts val="323"/>
              </a:spcBef>
              <a:spcAft>
                <a:spcPts val="0"/>
              </a:spcAft>
              <a:buClr>
                <a:schemeClr val="dk1"/>
              </a:buClr>
              <a:buSzPct val="100000"/>
              <a:buNone/>
            </a:pPr>
            <a:r>
              <a:rPr b="1" lang="en-US" sz="1600">
                <a:solidFill>
                  <a:schemeClr val="dk1"/>
                </a:solidFill>
                <a:latin typeface="Times New Roman"/>
                <a:ea typeface="Times New Roman"/>
                <a:cs typeface="Times New Roman"/>
                <a:sym typeface="Times New Roman"/>
              </a:rPr>
              <a:t>Designation:  Associate Professor, Dept. of ECE</a:t>
            </a:r>
            <a:endParaRPr/>
          </a:p>
          <a:p>
            <a:pPr indent="0" lvl="0" marL="0" rtl="0" algn="l">
              <a:spcBef>
                <a:spcPts val="544"/>
              </a:spcBef>
              <a:spcAft>
                <a:spcPts val="0"/>
              </a:spcAft>
              <a:buClr>
                <a:srgbClr val="888888"/>
              </a:buClr>
              <a:buSzPct val="100000"/>
              <a:buNone/>
            </a:pPr>
            <a:r>
              <a:t/>
            </a:r>
            <a:endParaRPr/>
          </a:p>
        </p:txBody>
      </p:sp>
      <p:pic>
        <p:nvPicPr>
          <p:cNvPr descr="Image result for ramaiah logo" id="85" name="Google Shape;85;p1"/>
          <p:cNvPicPr preferRelativeResize="0"/>
          <p:nvPr/>
        </p:nvPicPr>
        <p:blipFill rotWithShape="1">
          <a:blip r:embed="rId3">
            <a:alphaModFix/>
          </a:blip>
          <a:srcRect b="0" l="0" r="0" t="0"/>
          <a:stretch/>
        </p:blipFill>
        <p:spPr>
          <a:xfrm>
            <a:off x="304800" y="304800"/>
            <a:ext cx="3651063" cy="1338926"/>
          </a:xfrm>
          <a:prstGeom prst="rect">
            <a:avLst/>
          </a:prstGeom>
          <a:noFill/>
          <a:ln>
            <a:noFill/>
          </a:ln>
        </p:spPr>
      </p:pic>
      <p:sp>
        <p:nvSpPr>
          <p:cNvPr id="86" name="Google Shape;86;p1"/>
          <p:cNvSpPr/>
          <p:nvPr/>
        </p:nvSpPr>
        <p:spPr>
          <a:xfrm>
            <a:off x="762000" y="1600200"/>
            <a:ext cx="8077200"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RAMAIAH INSTITUTE OF TECHNOLOGY, Bangalore </a:t>
            </a:r>
            <a:br>
              <a:rPr b="1" i="0" lang="en-US" sz="1800" u="none" cap="none" strike="noStrike">
                <a:solidFill>
                  <a:schemeClr val="dk1"/>
                </a:solidFill>
                <a:latin typeface="Times New Roman"/>
                <a:ea typeface="Times New Roman"/>
                <a:cs typeface="Times New Roman"/>
                <a:sym typeface="Times New Roman"/>
              </a:rPr>
            </a:br>
            <a:r>
              <a:rPr b="1" i="0" lang="en-US" sz="1800" u="none" cap="none" strike="noStrike">
                <a:solidFill>
                  <a:schemeClr val="dk1"/>
                </a:solidFill>
                <a:latin typeface="Times New Roman"/>
                <a:ea typeface="Times New Roman"/>
                <a:cs typeface="Times New Roman"/>
                <a:sym typeface="Times New Roman"/>
              </a:rPr>
              <a:t> (Autonomous Institute Affiliated To VTU) </a:t>
            </a:r>
            <a:endParaRPr/>
          </a:p>
          <a:p>
            <a:pPr indent="0" lvl="0" marL="0" marR="0" rtl="0" algn="ctr">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Dept. of Electronics and Communication Engineering </a:t>
            </a:r>
            <a:endParaRPr b="1" i="0" sz="1800" u="none" cap="none" strike="noStrike">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b="1" lang="en-US" sz="1800">
                <a:solidFill>
                  <a:schemeClr val="dk1"/>
                </a:solidFill>
                <a:latin typeface="Times New Roman"/>
                <a:ea typeface="Times New Roman"/>
                <a:cs typeface="Times New Roman"/>
                <a:sym typeface="Times New Roman"/>
              </a:rPr>
              <a:t>Course code - Mini Project</a:t>
            </a:r>
            <a:endParaRPr b="1" sz="1800">
              <a:solidFill>
                <a:schemeClr val="dk1"/>
              </a:solidFill>
              <a:latin typeface="Times New Roman"/>
              <a:ea typeface="Times New Roman"/>
              <a:cs typeface="Times New Roman"/>
              <a:sym typeface="Times New Roman"/>
            </a:endParaRPr>
          </a:p>
        </p:txBody>
      </p:sp>
      <p:sp>
        <p:nvSpPr>
          <p:cNvPr id="87" name="TextBox 86"/>
          <p:cNvSpPr txBox="1"/>
          <p:nvPr/>
        </p:nvSpPr>
        <p:spPr>
          <a:xfrm>
            <a:off x="457200" y="2697480"/>
            <a:ext cx="8229600" cy="1005840"/>
          </a:xfrm>
          <a:prstGeom prst="rect">
            <a:avLst/>
          </a:prstGeom>
          <a:noFill/>
        </p:spPr>
        <p:txBody>
          <a:bodyPr wrap="square" lIns="0" rIns="0" tIns="0" bIns="0">
            <a:spAutoFit/>
          </a:bodyPr>
          <a:lstStyle/>
          <a:p>
            <a:pPr algn="ctr"/>
            <a:r>
              <a:rPr sz="2400" b="1">
                <a:solidFill>
                  <a:srgbClr val="1A365D"/>
                </a:solidFill>
                <a:latin typeface="Times New Roman"/>
              </a:rPr>
              <a:t>Power Allocation in Cognitive Radio Networks
using Deep Reinforcement Learning</a:t>
            </a:r>
          </a:p>
        </p:txBody>
      </p:sp>
      <p:sp>
        <p:nvSpPr>
          <p:cNvPr id="88" name="TextBox 87"/>
          <p:cNvSpPr txBox="1"/>
          <p:nvPr/>
        </p:nvSpPr>
        <p:spPr>
          <a:xfrm>
            <a:off x="457200" y="3703320"/>
            <a:ext cx="8229600" cy="365760"/>
          </a:xfrm>
          <a:prstGeom prst="rect">
            <a:avLst/>
          </a:prstGeom>
          <a:noFill/>
        </p:spPr>
        <p:txBody>
          <a:bodyPr wrap="none" tIns="0" bIns="0">
            <a:spAutoFit/>
          </a:bodyPr>
          <a:lstStyle/>
          <a:p>
            <a:pPr algn="ctr"/>
            <a:r>
              <a:rPr sz="1500" i="1">
                <a:solidFill>
                  <a:srgbClr val="2C5F8D"/>
                </a:solidFill>
                <a:latin typeface="Times New Roman"/>
              </a:rPr>
              <a:t>TD3  |  DDPG  |  Proposed Algorithm (CAMO-TD3)  under Nakagami-m Fading</a:t>
            </a:r>
          </a:p>
        </p:txBody>
      </p:sp>
      <p:sp>
        <p:nvSpPr>
          <p:cNvPr id="89" name="TextBox 88"/>
          <p:cNvSpPr txBox="1"/>
          <p:nvPr/>
        </p:nvSpPr>
        <p:spPr>
          <a:xfrm>
            <a:off x="1828800" y="4251960"/>
            <a:ext cx="5486400" cy="365760"/>
          </a:xfrm>
          <a:prstGeom prst="rect">
            <a:avLst/>
          </a:prstGeom>
          <a:noFill/>
        </p:spPr>
        <p:txBody>
          <a:bodyPr wrap="none" tIns="0" bIns="0">
            <a:spAutoFit/>
          </a:bodyPr>
          <a:lstStyle/>
          <a:p>
            <a:pPr algn="ctr"/>
            <a:r>
              <a:rPr sz="1600" b="1">
                <a:solidFill>
                  <a:srgbClr val="1A365D"/>
                </a:solidFill>
                <a:latin typeface="Times New Roman"/>
              </a:rPr>
              <a:t>Team Members</a:t>
            </a:r>
          </a:p>
        </p:txBody>
      </p:sp>
      <p:sp>
        <p:nvSpPr>
          <p:cNvPr id="90" name="TextBox 89"/>
          <p:cNvSpPr txBox="1"/>
          <p:nvPr/>
        </p:nvSpPr>
        <p:spPr>
          <a:xfrm>
            <a:off x="2286000" y="4617720"/>
            <a:ext cx="4572000" cy="1371600"/>
          </a:xfrm>
          <a:prstGeom prst="rect">
            <a:avLst/>
          </a:prstGeom>
          <a:noFill/>
        </p:spPr>
        <p:txBody>
          <a:bodyPr wrap="none" lIns="0" rIns="0" tIns="0" bIns="0">
            <a:spAutoFit/>
          </a:bodyPr>
          <a:lstStyle/>
          <a:p>
            <a:pPr algn="ctr">
              <a:spcAft>
                <a:spcPts val="200"/>
              </a:spcAft>
            </a:pPr>
            <a:r>
              <a:rPr sz="1400">
                <a:solidFill>
                  <a:srgbClr val="333333"/>
                </a:solidFill>
                <a:latin typeface="Times New Roman"/>
              </a:rPr>
              <a:t>Aditya Gangwani    </a:t>
            </a:r>
            <a:r>
              <a:rPr sz="1400" b="1">
                <a:solidFill>
                  <a:srgbClr val="1A365D"/>
                </a:solidFill>
                <a:latin typeface="Times New Roman"/>
              </a:rPr>
              <a:t>1MS22EC005</a:t>
            </a:r>
          </a:p>
          <a:p>
            <a:pPr algn="ctr">
              <a:spcAft>
                <a:spcPts val="200"/>
              </a:spcAft>
            </a:pPr>
            <a:r>
              <a:rPr sz="1400">
                <a:solidFill>
                  <a:srgbClr val="333333"/>
                </a:solidFill>
                <a:latin typeface="Times New Roman"/>
              </a:rPr>
              <a:t>Ryan Gomez    </a:t>
            </a:r>
            <a:r>
              <a:rPr sz="1400" b="1">
                <a:solidFill>
                  <a:srgbClr val="1A365D"/>
                </a:solidFill>
                <a:latin typeface="Times New Roman"/>
              </a:rPr>
              <a:t>1MS22EC127</a:t>
            </a:r>
          </a:p>
          <a:p>
            <a:pPr algn="ctr">
              <a:spcAft>
                <a:spcPts val="200"/>
              </a:spcAft>
            </a:pPr>
            <a:r>
              <a:rPr sz="1400">
                <a:solidFill>
                  <a:srgbClr val="333333"/>
                </a:solidFill>
                <a:latin typeface="Times New Roman"/>
              </a:rPr>
              <a:t>Shreya Revankar    </a:t>
            </a:r>
            <a:r>
              <a:rPr sz="1400" b="1">
                <a:solidFill>
                  <a:srgbClr val="1A365D"/>
                </a:solidFill>
                <a:latin typeface="Times New Roman"/>
              </a:rPr>
              <a:t>1MS22EC158</a:t>
            </a:r>
          </a:p>
          <a:p>
            <a:pPr algn="ctr">
              <a:spcAft>
                <a:spcPts val="200"/>
              </a:spcAft>
            </a:pPr>
            <a:r>
              <a:rPr sz="1400">
                <a:solidFill>
                  <a:srgbClr val="333333"/>
                </a:solidFill>
                <a:latin typeface="Times New Roman"/>
              </a:rPr>
              <a:t>Sneha Tapadar    </a:t>
            </a:r>
            <a:r>
              <a:rPr sz="1400" b="1">
                <a:solidFill>
                  <a:srgbClr val="1A365D"/>
                </a:solidFill>
                <a:latin typeface="Times New Roman"/>
              </a:rPr>
              <a:t>1MS22EC170</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body"/>
          </p:nvPr>
        </p:nvSpPr>
        <p:spPr>
          <a:xfrm>
            <a:off x="685800" y="762000"/>
            <a:ext cx="7718380" cy="495953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400"/>
              <a:buNone/>
            </a:pPr>
            <a:r>
              <a:rPr b="1" lang="en-US" sz="4400">
                <a:solidFill>
                  <a:schemeClr val="dk1"/>
                </a:solidFill>
                <a:latin typeface="Times New Roman"/>
                <a:ea typeface="Times New Roman"/>
                <a:cs typeface="Times New Roman"/>
                <a:sym typeface="Times New Roman"/>
              </a:rPr>
              <a:t>Table of Contents</a:t>
            </a:r>
            <a:endParaRPr/>
          </a:p>
          <a:p>
            <a:pPr indent="-190500" lvl="0" marL="342900" rtl="0" algn="l">
              <a:spcBef>
                <a:spcPts val="480"/>
              </a:spcBef>
              <a:spcAft>
                <a:spcPts val="0"/>
              </a:spcAft>
              <a:buClr>
                <a:schemeClr val="dk1"/>
              </a:buClr>
              <a:buSzPts val="2400"/>
              <a:buFont typeface="Calibri"/>
              <a:buNone/>
            </a:pPr>
            <a:r>
              <a:t/>
            </a:r>
            <a:endParaRPr sz="2400">
              <a:solidFill>
                <a:schemeClr val="dk1"/>
              </a:solidFill>
              <a:latin typeface="Times New Roman"/>
              <a:ea typeface="Times New Roman"/>
              <a:cs typeface="Times New Roman"/>
              <a:sym typeface="Times New Roman"/>
            </a:endParaRPr>
          </a:p>
          <a:p>
            <a:pPr indent="-342900" lvl="0" marL="342900" rtl="0" algn="l">
              <a:spcBef>
                <a:spcPts val="480"/>
              </a:spcBef>
              <a:spcAft>
                <a:spcPts val="0"/>
              </a:spcAft>
              <a:buClr>
                <a:schemeClr val="dk1"/>
              </a:buClr>
              <a:buSzPts val="2400"/>
              <a:buFont typeface="Calibri"/>
              <a:buAutoNum type="arabicPeriod"/>
            </a:pPr>
            <a:r>
              <a:rPr lang="en-US" sz="2400">
                <a:solidFill>
                  <a:schemeClr val="dk1"/>
                </a:solidFill>
                <a:latin typeface="Times New Roman"/>
                <a:ea typeface="Times New Roman"/>
                <a:cs typeface="Times New Roman"/>
                <a:sym typeface="Times New Roman"/>
              </a:rPr>
              <a:t>Introduction</a:t>
            </a:r>
            <a:endParaRPr/>
          </a:p>
          <a:p>
            <a:pPr indent="-342900" lvl="0" marL="342900" rtl="0" algn="l">
              <a:spcBef>
                <a:spcPts val="480"/>
              </a:spcBef>
              <a:spcAft>
                <a:spcPts val="0"/>
              </a:spcAft>
              <a:buClr>
                <a:schemeClr val="dk1"/>
              </a:buClr>
              <a:buSzPts val="2400"/>
              <a:buFont typeface="Calibri"/>
              <a:buAutoNum type="arabicPeriod"/>
            </a:pPr>
            <a:r>
              <a:rPr lang="en-US" sz="2400">
                <a:solidFill>
                  <a:schemeClr val="dk1"/>
                </a:solidFill>
                <a:latin typeface="Times New Roman"/>
                <a:ea typeface="Times New Roman"/>
                <a:cs typeface="Times New Roman"/>
                <a:sym typeface="Times New Roman"/>
              </a:rPr>
              <a:t>Problem Statement</a:t>
            </a:r>
            <a:endParaRPr/>
          </a:p>
          <a:p>
            <a:pPr indent="-342900" lvl="0" marL="342900" rtl="0" algn="l">
              <a:spcBef>
                <a:spcPts val="480"/>
              </a:spcBef>
              <a:spcAft>
                <a:spcPts val="0"/>
              </a:spcAft>
              <a:buClr>
                <a:schemeClr val="dk1"/>
              </a:buClr>
              <a:buSzPts val="2400"/>
              <a:buFont typeface="Calibri"/>
              <a:buAutoNum type="arabicPeriod"/>
            </a:pPr>
            <a:r>
              <a:rPr lang="en-US" sz="2400">
                <a:solidFill>
                  <a:schemeClr val="dk1"/>
                </a:solidFill>
                <a:latin typeface="Times New Roman"/>
                <a:ea typeface="Times New Roman"/>
                <a:cs typeface="Times New Roman"/>
                <a:sym typeface="Times New Roman"/>
              </a:rPr>
              <a:t>Proposed design/Circuit/Algorithm</a:t>
            </a:r>
            <a:endParaRPr/>
          </a:p>
          <a:p>
            <a:pPr indent="-342900" lvl="0" marL="342900" rtl="0" algn="l">
              <a:spcBef>
                <a:spcPts val="480"/>
              </a:spcBef>
              <a:spcAft>
                <a:spcPts val="0"/>
              </a:spcAft>
              <a:buClr>
                <a:schemeClr val="dk1"/>
              </a:buClr>
              <a:buSzPts val="2400"/>
              <a:buFont typeface="Calibri"/>
              <a:buAutoNum type="arabicPeriod"/>
            </a:pPr>
            <a:r>
              <a:rPr lang="en-US" sz="2400">
                <a:solidFill>
                  <a:schemeClr val="dk1"/>
                </a:solidFill>
                <a:latin typeface="Times New Roman"/>
                <a:ea typeface="Times New Roman"/>
                <a:cs typeface="Times New Roman"/>
                <a:sym typeface="Times New Roman"/>
              </a:rPr>
              <a:t>Implementation/Methodology</a:t>
            </a:r>
            <a:endParaRPr/>
          </a:p>
          <a:p>
            <a:pPr indent="-342900" lvl="0" marL="342900" rtl="0" algn="l">
              <a:spcBef>
                <a:spcPts val="480"/>
              </a:spcBef>
              <a:spcAft>
                <a:spcPts val="0"/>
              </a:spcAft>
              <a:buClr>
                <a:schemeClr val="dk1"/>
              </a:buClr>
              <a:buSzPts val="2400"/>
              <a:buFont typeface="Calibri"/>
              <a:buAutoNum type="arabicPeriod"/>
            </a:pPr>
            <a:r>
              <a:rPr lang="en-US" sz="2400">
                <a:solidFill>
                  <a:schemeClr val="dk1"/>
                </a:solidFill>
                <a:latin typeface="Times New Roman"/>
                <a:ea typeface="Times New Roman"/>
                <a:cs typeface="Times New Roman"/>
                <a:sym typeface="Times New Roman"/>
              </a:rPr>
              <a:t>Results and Discussion</a:t>
            </a:r>
            <a:endParaRPr/>
          </a:p>
          <a:p>
            <a:pPr indent="-342900" lvl="0" marL="342900" rtl="0" algn="l">
              <a:spcBef>
                <a:spcPts val="480"/>
              </a:spcBef>
              <a:spcAft>
                <a:spcPts val="0"/>
              </a:spcAft>
              <a:buClr>
                <a:schemeClr val="dk1"/>
              </a:buClr>
              <a:buSzPts val="2400"/>
              <a:buFont typeface="Calibri"/>
              <a:buAutoNum type="arabicPeriod"/>
            </a:pPr>
            <a:r>
              <a:rPr lang="en-US" sz="2400">
                <a:latin typeface="Times New Roman"/>
                <a:ea typeface="Times New Roman"/>
                <a:cs typeface="Times New Roman"/>
                <a:sym typeface="Times New Roman"/>
              </a:rPr>
              <a:t>Conclusion and Future Work</a:t>
            </a:r>
            <a:endParaRPr sz="2400">
              <a:solidFill>
                <a:schemeClr val="dk1"/>
              </a:solidFill>
              <a:latin typeface="Times New Roman"/>
              <a:ea typeface="Times New Roman"/>
              <a:cs typeface="Times New Roman"/>
              <a:sym typeface="Times New Roman"/>
            </a:endParaRPr>
          </a:p>
          <a:p>
            <a:pPr indent="-342900" lvl="0" marL="342900" rtl="0" algn="l">
              <a:spcBef>
                <a:spcPts val="480"/>
              </a:spcBef>
              <a:spcAft>
                <a:spcPts val="0"/>
              </a:spcAft>
              <a:buClr>
                <a:schemeClr val="dk1"/>
              </a:buClr>
              <a:buSzPts val="2400"/>
              <a:buFont typeface="Calibri"/>
              <a:buAutoNum type="arabicPeriod"/>
            </a:pPr>
            <a:r>
              <a:rPr lang="en-US" sz="2400">
                <a:solidFill>
                  <a:schemeClr val="dk1"/>
                </a:solidFill>
                <a:latin typeface="Times New Roman"/>
                <a:ea typeface="Times New Roman"/>
                <a:cs typeface="Times New Roman"/>
                <a:sym typeface="Times New Roman"/>
              </a:rPr>
              <a:t>References</a:t>
            </a:r>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Introduction — Cognitive Radio Networks (CRN)</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539496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What is a Cognitive Radio Network?</a:t>
            </a:r>
          </a:p>
          <a:p>
            <a:pPr>
              <a:lnSpc>
                <a:spcPct val="115000"/>
              </a:lnSpc>
              <a:spcAft>
                <a:spcPts val="200"/>
              </a:spcAft>
            </a:pPr>
            <a:r>
              <a:rPr sz="1300">
                <a:solidFill>
                  <a:srgbClr val="333333"/>
                </a:solidFill>
                <a:latin typeface="Calibri"/>
              </a:rPr>
              <a:t>A Cognitive Radio Network (CRN) is an intelligent wireless system in which unlicensed (Secondary) users opportunistically access licensed spectrum bands originally allocated to licensed (Primary) users, without causing harmful interference.</a:t>
            </a:r>
          </a:p>
          <a:p>
            <a:pPr>
              <a:lnSpc>
                <a:spcPct val="115000"/>
              </a:lnSpc>
              <a:spcAft>
                <a:spcPts val="200"/>
              </a:spcAft>
            </a:pPr>
            <a:r>
              <a:rPr sz="1300">
                <a:solidFill>
                  <a:srgbClr val="333333"/>
                </a:solidFill>
                <a:latin typeface="Calibri"/>
              </a:rPr>
              <a:t>It addresses the spectrum scarcity problem caused by static, fixed allocation policies — measurement studies (FCC 2002) show licensed bands are under-utilised 15–85 % of the time.</a:t>
            </a:r>
          </a:p>
          <a:p>
            <a:pPr>
              <a:lnSpc>
                <a:spcPct val="115000"/>
              </a:lnSpc>
              <a:spcBef>
                <a:spcPts val="400"/>
              </a:spcBef>
              <a:spcAft>
                <a:spcPts val="200"/>
              </a:spcAft>
            </a:pPr>
            <a:r>
              <a:rPr sz="1400" b="1">
                <a:solidFill>
                  <a:srgbClr val="2C5F8D"/>
                </a:solidFill>
                <a:latin typeface="Calibri"/>
              </a:rPr>
              <a:t>Key Building Blocks</a:t>
            </a:r>
          </a:p>
          <a:p>
            <a:pPr>
              <a:lnSpc>
                <a:spcPct val="115000"/>
              </a:lnSpc>
              <a:spcAft>
                <a:spcPts val="200"/>
              </a:spcAft>
            </a:pPr>
            <a:r>
              <a:rPr sz="1300">
                <a:solidFill>
                  <a:srgbClr val="333333"/>
                </a:solidFill>
                <a:latin typeface="Calibri"/>
              </a:rPr>
              <a:t>• Spectrum Sensing — detect presence of Primary Users (PU)</a:t>
            </a:r>
          </a:p>
          <a:p>
            <a:pPr>
              <a:lnSpc>
                <a:spcPct val="115000"/>
              </a:lnSpc>
              <a:spcAft>
                <a:spcPts val="200"/>
              </a:spcAft>
            </a:pPr>
            <a:r>
              <a:rPr sz="1300">
                <a:solidFill>
                  <a:srgbClr val="333333"/>
                </a:solidFill>
                <a:latin typeface="Calibri"/>
              </a:rPr>
              <a:t>• Spectrum Management — decide which channel to use</a:t>
            </a:r>
          </a:p>
          <a:p>
            <a:pPr>
              <a:lnSpc>
                <a:spcPct val="115000"/>
              </a:lnSpc>
              <a:spcAft>
                <a:spcPts val="200"/>
              </a:spcAft>
            </a:pPr>
            <a:r>
              <a:rPr sz="1300">
                <a:solidFill>
                  <a:srgbClr val="333333"/>
                </a:solidFill>
                <a:latin typeface="Calibri"/>
              </a:rPr>
              <a:t>• Spectrum Sharing — coexist with other Secondary Users (SU)</a:t>
            </a:r>
          </a:p>
          <a:p>
            <a:pPr>
              <a:lnSpc>
                <a:spcPct val="115000"/>
              </a:lnSpc>
              <a:spcAft>
                <a:spcPts val="200"/>
              </a:spcAft>
            </a:pPr>
            <a:r>
              <a:rPr sz="1300">
                <a:solidFill>
                  <a:srgbClr val="333333"/>
                </a:solidFill>
                <a:latin typeface="Calibri"/>
              </a:rPr>
              <a:t>• Spectrum Mobility — vacate the channel when PU returns</a:t>
            </a:r>
          </a:p>
          <a:p>
            <a:pPr>
              <a:lnSpc>
                <a:spcPct val="115000"/>
              </a:lnSpc>
              <a:spcBef>
                <a:spcPts val="400"/>
              </a:spcBef>
              <a:spcAft>
                <a:spcPts val="200"/>
              </a:spcAft>
            </a:pPr>
            <a:r>
              <a:rPr sz="1400" b="1">
                <a:solidFill>
                  <a:srgbClr val="2C5F8D"/>
                </a:solidFill>
                <a:latin typeface="Calibri"/>
              </a:rPr>
              <a:t>Two-Tier Hierarchy</a:t>
            </a:r>
          </a:p>
          <a:p>
            <a:pPr>
              <a:lnSpc>
                <a:spcPct val="115000"/>
              </a:lnSpc>
              <a:spcAft>
                <a:spcPts val="200"/>
              </a:spcAft>
            </a:pPr>
            <a:r>
              <a:rPr sz="1300">
                <a:solidFill>
                  <a:srgbClr val="333333"/>
                </a:solidFill>
                <a:latin typeface="Calibri"/>
              </a:rPr>
              <a:t>• Primary User (PU): Licensed, has priority — must be protected from interference</a:t>
            </a:r>
          </a:p>
          <a:p>
            <a:pPr>
              <a:lnSpc>
                <a:spcPct val="115000"/>
              </a:lnSpc>
              <a:spcAft>
                <a:spcPts val="200"/>
              </a:spcAft>
            </a:pPr>
            <a:r>
              <a:rPr sz="1300">
                <a:solidFill>
                  <a:srgbClr val="333333"/>
                </a:solidFill>
                <a:latin typeface="Calibri"/>
              </a:rPr>
              <a:t>• Secondary User (SU): Unlicensed, must adapt power / frequency to remain non-disruptive</a:t>
            </a:r>
          </a:p>
        </p:txBody>
      </p:sp>
      <p:sp>
        <p:nvSpPr>
          <p:cNvPr id="5" name="Rectangle 4"/>
          <p:cNvSpPr/>
          <p:nvPr/>
        </p:nvSpPr>
        <p:spPr>
          <a:xfrm>
            <a:off x="6126480" y="1097280"/>
            <a:ext cx="2743200" cy="3200400"/>
          </a:xfrm>
          <a:prstGeom prst="rect">
            <a:avLst/>
          </a:prstGeom>
          <a:solidFill>
            <a:srgbClr val="F5F7FA"/>
          </a:solidFill>
          <a:ln w="12700">
            <a:solidFill>
              <a:srgbClr val="2C5F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i="1">
                <a:solidFill>
                  <a:srgbClr val="2C5F8D"/>
                </a:solidFill>
                <a:latin typeface="Calibri"/>
              </a:rPr>
              <a:t>[Diagram placeholder]</a:t>
            </a:r>
          </a:p>
          <a:p>
            <a:pPr algn="ctr"/>
            <a:r>
              <a:rPr sz="1200" i="1">
                <a:solidFill>
                  <a:srgbClr val="2C5F8D"/>
                </a:solidFill>
                <a:latin typeface="Calibri"/>
              </a:rPr>
              <a:t>CRN topology — PT, PR, ST, SR</a:t>
            </a:r>
          </a:p>
          <a:p>
            <a:pPr algn="ctr"/>
            <a:r>
              <a:rPr sz="1200" i="1">
                <a:solidFill>
                  <a:srgbClr val="2C5F8D"/>
                </a:solidFill>
                <a:latin typeface="Calibri"/>
              </a:rPr>
              <a:t>with primary and interference links</a:t>
            </a:r>
          </a:p>
        </p:txBody>
      </p:sp>
      <p:sp>
        <p:nvSpPr>
          <p:cNvPr id="6" name="TextBox 5"/>
          <p:cNvSpPr txBox="1"/>
          <p:nvPr/>
        </p:nvSpPr>
        <p:spPr>
          <a:xfrm>
            <a:off x="6126480" y="4434840"/>
            <a:ext cx="2743200" cy="182880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Diagram shows four nodes — Primary Transmitter / Receiver and Secondary Transmitter / Receiver — connected by four channel paths used for signal and interference computation.</a:t>
            </a:r>
          </a:p>
        </p:txBody>
      </p:sp>
      <p:sp>
        <p:nvSpPr>
          <p:cNvPr id="7" name="TextBox 6"/>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Three Paradigms of Cognitive Radio Access</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64008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Depending on how SU and PU share the spectrum, CR networks are classified into three operational paradigms:</a:t>
            </a:r>
          </a:p>
        </p:txBody>
      </p:sp>
      <p:sp>
        <p:nvSpPr>
          <p:cNvPr id="5" name="Rounded Rectangle 4"/>
          <p:cNvSpPr/>
          <p:nvPr/>
        </p:nvSpPr>
        <p:spPr>
          <a:xfrm>
            <a:off x="457200" y="1828800"/>
            <a:ext cx="2697480" cy="4023360"/>
          </a:xfrm>
          <a:prstGeom prst="roundRect">
            <a:avLst/>
          </a:prstGeom>
          <a:solidFill>
            <a:srgbClr val="F5F7FA"/>
          </a:solidFill>
          <a:ln w="19050">
            <a:solidFill>
              <a:srgbClr val="1A365D"/>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wrap="square"/>
          <a:lstStyle/>
          <a:p>
            <a:pPr algn="ctr"/>
            <a:r>
              <a:rPr sz="1800" b="1">
                <a:solidFill>
                  <a:srgbClr val="1A365D"/>
                </a:solidFill>
                <a:latin typeface="Calibri"/>
              </a:rPr>
              <a:t>UNDERLAY</a:t>
            </a:r>
          </a:p>
          <a:p>
            <a:pPr>
              <a:lnSpc>
                <a:spcPct val="115000"/>
              </a:lnSpc>
              <a:spcAft>
                <a:spcPts val="300"/>
              </a:spcAft>
            </a:pPr>
            <a:r>
              <a:rPr sz="1100">
                <a:solidFill>
                  <a:srgbClr val="333333"/>
                </a:solidFill>
                <a:latin typeface="Calibri"/>
              </a:rPr>
              <a:t>• SU transmits simultaneously with PU, but keeps interference below a predefined threshold.</a:t>
            </a:r>
          </a:p>
          <a:p>
            <a:pPr>
              <a:lnSpc>
                <a:spcPct val="115000"/>
              </a:lnSpc>
              <a:spcAft>
                <a:spcPts val="300"/>
              </a:spcAft>
            </a:pPr>
            <a:r>
              <a:rPr sz="1100">
                <a:solidFill>
                  <a:srgbClr val="333333"/>
                </a:solidFill>
                <a:latin typeface="Calibri"/>
              </a:rPr>
              <a:t>• Requires accurate channel-state information (CSI) and power control.</a:t>
            </a:r>
          </a:p>
          <a:p>
            <a:pPr>
              <a:lnSpc>
                <a:spcPct val="115000"/>
              </a:lnSpc>
              <a:spcAft>
                <a:spcPts val="300"/>
              </a:spcAft>
            </a:pPr>
            <a:r>
              <a:rPr sz="1100">
                <a:solidFill>
                  <a:srgbClr val="333333"/>
                </a:solidFill>
                <a:latin typeface="Calibri"/>
              </a:rPr>
              <a:t>• Continuous secondary access — no need to vacate the band.</a:t>
            </a:r>
          </a:p>
          <a:p>
            <a:pPr>
              <a:lnSpc>
                <a:spcPct val="115000"/>
              </a:lnSpc>
              <a:spcAft>
                <a:spcPts val="300"/>
              </a:spcAft>
            </a:pPr>
            <a:r>
              <a:rPr sz="1100">
                <a:solidFill>
                  <a:srgbClr val="333333"/>
                </a:solidFill>
                <a:latin typeface="Calibri"/>
              </a:rPr>
              <a:t>• Used in this project: the SU dynamically controls its transmit power Pₛ to maintain SINRₚ ≥ γₜₕ.</a:t>
            </a:r>
          </a:p>
          <a:p>
            <a:pPr>
              <a:lnSpc>
                <a:spcPct val="115000"/>
              </a:lnSpc>
              <a:spcAft>
                <a:spcPts val="300"/>
              </a:spcAft>
            </a:pPr>
            <a:r>
              <a:rPr sz="1100">
                <a:solidFill>
                  <a:srgbClr val="333333"/>
                </a:solidFill>
                <a:latin typeface="Calibri"/>
              </a:rPr>
              <a:t>• Best suited for low-power, short-range secondary links (e.g., D2D, IoT).</a:t>
            </a:r>
          </a:p>
        </p:txBody>
      </p:sp>
      <p:sp>
        <p:nvSpPr>
          <p:cNvPr id="6" name="Rounded Rectangle 5"/>
          <p:cNvSpPr/>
          <p:nvPr/>
        </p:nvSpPr>
        <p:spPr>
          <a:xfrm>
            <a:off x="3291840" y="1828800"/>
            <a:ext cx="2697480" cy="4023360"/>
          </a:xfrm>
          <a:prstGeom prst="roundRect">
            <a:avLst/>
          </a:prstGeom>
          <a:solidFill>
            <a:srgbClr val="F5F7FA"/>
          </a:solidFill>
          <a:ln w="19050">
            <a:solidFill>
              <a:srgbClr val="2C5F8D"/>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wrap="square"/>
          <a:lstStyle/>
          <a:p>
            <a:pPr algn="ctr"/>
            <a:r>
              <a:rPr sz="1800" b="1">
                <a:solidFill>
                  <a:srgbClr val="2C5F8D"/>
                </a:solidFill>
                <a:latin typeface="Calibri"/>
              </a:rPr>
              <a:t>OVERLAY</a:t>
            </a:r>
          </a:p>
          <a:p>
            <a:pPr>
              <a:lnSpc>
                <a:spcPct val="115000"/>
              </a:lnSpc>
              <a:spcAft>
                <a:spcPts val="300"/>
              </a:spcAft>
            </a:pPr>
            <a:r>
              <a:rPr sz="1100">
                <a:solidFill>
                  <a:srgbClr val="333333"/>
                </a:solidFill>
                <a:latin typeface="Calibri"/>
              </a:rPr>
              <a:t>• SU has prior knowledge of the PU's codebook / messages and can assist PU transmission.</a:t>
            </a:r>
          </a:p>
          <a:p>
            <a:pPr>
              <a:lnSpc>
                <a:spcPct val="115000"/>
              </a:lnSpc>
              <a:spcAft>
                <a:spcPts val="300"/>
              </a:spcAft>
            </a:pPr>
            <a:r>
              <a:rPr sz="1100">
                <a:solidFill>
                  <a:srgbClr val="333333"/>
                </a:solidFill>
                <a:latin typeface="Calibri"/>
              </a:rPr>
              <a:t>• SU splits power between its own data and relaying / pre-coding the PU signal (e.g., dirty-paper coding).</a:t>
            </a:r>
          </a:p>
          <a:p>
            <a:pPr>
              <a:lnSpc>
                <a:spcPct val="115000"/>
              </a:lnSpc>
              <a:spcAft>
                <a:spcPts val="300"/>
              </a:spcAft>
            </a:pPr>
            <a:r>
              <a:rPr sz="1100">
                <a:solidFill>
                  <a:srgbClr val="333333"/>
                </a:solidFill>
                <a:latin typeface="Calibri"/>
              </a:rPr>
              <a:t>• Maintains or improves PU performance while gaining SU rate.</a:t>
            </a:r>
          </a:p>
          <a:p>
            <a:pPr>
              <a:lnSpc>
                <a:spcPct val="115000"/>
              </a:lnSpc>
              <a:spcAft>
                <a:spcPts val="300"/>
              </a:spcAft>
            </a:pPr>
            <a:r>
              <a:rPr sz="1100">
                <a:solidFill>
                  <a:srgbClr val="333333"/>
                </a:solidFill>
                <a:latin typeface="Calibri"/>
              </a:rPr>
              <a:t>• Requires cooperation between PU and SU — strong assumption.</a:t>
            </a:r>
          </a:p>
          <a:p>
            <a:pPr>
              <a:lnSpc>
                <a:spcPct val="115000"/>
              </a:lnSpc>
              <a:spcAft>
                <a:spcPts val="300"/>
              </a:spcAft>
            </a:pPr>
            <a:r>
              <a:rPr sz="1100">
                <a:solidFill>
                  <a:srgbClr val="333333"/>
                </a:solidFill>
                <a:latin typeface="Calibri"/>
              </a:rPr>
              <a:t>• Often used as a theoretical upper-bound baseline.</a:t>
            </a:r>
          </a:p>
        </p:txBody>
      </p:sp>
      <p:sp>
        <p:nvSpPr>
          <p:cNvPr id="7" name="Rounded Rectangle 6"/>
          <p:cNvSpPr/>
          <p:nvPr/>
        </p:nvSpPr>
        <p:spPr>
          <a:xfrm>
            <a:off x="6126480" y="1828800"/>
            <a:ext cx="2697480" cy="4023360"/>
          </a:xfrm>
          <a:prstGeom prst="roundRect">
            <a:avLst/>
          </a:prstGeom>
          <a:solidFill>
            <a:srgbClr val="F5F7FA"/>
          </a:solidFill>
          <a:ln w="19050">
            <a:solidFill>
              <a:srgbClr val="0B7A75"/>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wrap="square"/>
          <a:lstStyle/>
          <a:p>
            <a:pPr algn="ctr"/>
            <a:r>
              <a:rPr sz="1800" b="1">
                <a:solidFill>
                  <a:srgbClr val="0B7A75"/>
                </a:solidFill>
                <a:latin typeface="Calibri"/>
              </a:rPr>
              <a:t>INTERWEAVE</a:t>
            </a:r>
          </a:p>
          <a:p>
            <a:pPr>
              <a:lnSpc>
                <a:spcPct val="115000"/>
              </a:lnSpc>
              <a:spcAft>
                <a:spcPts val="300"/>
              </a:spcAft>
            </a:pPr>
            <a:r>
              <a:rPr sz="1100">
                <a:solidFill>
                  <a:srgbClr val="333333"/>
                </a:solidFill>
                <a:latin typeface="Calibri"/>
              </a:rPr>
              <a:t>• SU transmits only when the PU is detected to be absent (spectrum holes).</a:t>
            </a:r>
          </a:p>
          <a:p>
            <a:pPr>
              <a:lnSpc>
                <a:spcPct val="115000"/>
              </a:lnSpc>
              <a:spcAft>
                <a:spcPts val="300"/>
              </a:spcAft>
            </a:pPr>
            <a:r>
              <a:rPr sz="1100">
                <a:solidFill>
                  <a:srgbClr val="333333"/>
                </a:solidFill>
                <a:latin typeface="Calibri"/>
              </a:rPr>
              <a:t>• Relies entirely on accurate spectrum sensing (energy / matched-filter / cyclostationary detectors).</a:t>
            </a:r>
          </a:p>
          <a:p>
            <a:pPr>
              <a:lnSpc>
                <a:spcPct val="115000"/>
              </a:lnSpc>
              <a:spcAft>
                <a:spcPts val="300"/>
              </a:spcAft>
            </a:pPr>
            <a:r>
              <a:rPr sz="1100">
                <a:solidFill>
                  <a:srgbClr val="333333"/>
                </a:solidFill>
                <a:latin typeface="Calibri"/>
              </a:rPr>
              <a:t>• No interference to PU if sensing is perfect, but high vulnerability to mis-detection.</a:t>
            </a:r>
          </a:p>
          <a:p>
            <a:pPr>
              <a:lnSpc>
                <a:spcPct val="115000"/>
              </a:lnSpc>
              <a:spcAft>
                <a:spcPts val="300"/>
              </a:spcAft>
            </a:pPr>
            <a:r>
              <a:rPr sz="1100">
                <a:solidFill>
                  <a:srgbClr val="333333"/>
                </a:solidFill>
                <a:latin typeface="Calibri"/>
              </a:rPr>
              <a:t>• Discontinuous access — SU throughput drops sharply at high PU activity.</a:t>
            </a:r>
          </a:p>
          <a:p>
            <a:pPr>
              <a:lnSpc>
                <a:spcPct val="115000"/>
              </a:lnSpc>
              <a:spcAft>
                <a:spcPts val="300"/>
              </a:spcAft>
            </a:pPr>
            <a:r>
              <a:rPr sz="1100">
                <a:solidFill>
                  <a:srgbClr val="333333"/>
                </a:solidFill>
                <a:latin typeface="Calibri"/>
              </a:rPr>
              <a:t>• Most common in TV white-space and DSA standards (IEEE 802.22).</a:t>
            </a:r>
          </a:p>
        </p:txBody>
      </p:sp>
      <p:sp>
        <p:nvSpPr>
          <p:cNvPr id="8" name="TextBox 7"/>
          <p:cNvSpPr txBox="1"/>
          <p:nvPr/>
        </p:nvSpPr>
        <p:spPr>
          <a:xfrm>
            <a:off x="457200" y="5989320"/>
            <a:ext cx="8229600" cy="45720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This work focuses on the UNDERLAY paradigm — the SU continuously co-exists with the PU and uses RL to control its transmit power.</a:t>
            </a:r>
          </a:p>
        </p:txBody>
      </p:sp>
      <p:sp>
        <p:nvSpPr>
          <p:cNvPr id="9" name="TextBox 8"/>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Introduction — Reinforcement Learning (RL)</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539496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What is Reinforcement Learning?</a:t>
            </a:r>
          </a:p>
          <a:p>
            <a:pPr>
              <a:lnSpc>
                <a:spcPct val="115000"/>
              </a:lnSpc>
              <a:spcAft>
                <a:spcPts val="200"/>
              </a:spcAft>
            </a:pPr>
            <a:r>
              <a:rPr sz="1300">
                <a:solidFill>
                  <a:srgbClr val="333333"/>
                </a:solidFill>
                <a:latin typeface="Calibri"/>
              </a:rPr>
              <a:t>Reinforcement Learning is a branch of machine learning in which an agent learns to take actions in an environment to maximise a cumulative reward, without being told the correct action in advance.</a:t>
            </a:r>
          </a:p>
          <a:p>
            <a:pPr>
              <a:lnSpc>
                <a:spcPct val="115000"/>
              </a:lnSpc>
              <a:spcAft>
                <a:spcPts val="200"/>
              </a:spcAft>
            </a:pPr>
            <a:r>
              <a:rPr sz="1300">
                <a:solidFill>
                  <a:srgbClr val="333333"/>
                </a:solidFill>
                <a:latin typeface="Calibri"/>
              </a:rPr>
              <a:t>The agent learns purely through trial-and-error interaction — by observing states, taking actions, receiving rewards, and updating its policy.</a:t>
            </a:r>
          </a:p>
          <a:p>
            <a:pPr>
              <a:lnSpc>
                <a:spcPct val="115000"/>
              </a:lnSpc>
              <a:spcBef>
                <a:spcPts val="400"/>
              </a:spcBef>
              <a:spcAft>
                <a:spcPts val="200"/>
              </a:spcAft>
            </a:pPr>
            <a:r>
              <a:rPr sz="1400" b="1">
                <a:solidFill>
                  <a:srgbClr val="2C5F8D"/>
                </a:solidFill>
                <a:latin typeface="Calibri"/>
              </a:rPr>
              <a:t>Markov Decision Process (MDP)</a:t>
            </a:r>
          </a:p>
          <a:p>
            <a:pPr>
              <a:lnSpc>
                <a:spcPct val="115000"/>
              </a:lnSpc>
              <a:spcAft>
                <a:spcPts val="200"/>
              </a:spcAft>
            </a:pPr>
            <a:r>
              <a:rPr sz="1300">
                <a:solidFill>
                  <a:srgbClr val="333333"/>
                </a:solidFill>
                <a:latin typeface="Calibri"/>
              </a:rPr>
              <a:t>An RL problem is formalised as a tuple (S, A, P, R, γ):</a:t>
            </a:r>
          </a:p>
          <a:p>
            <a:pPr>
              <a:lnSpc>
                <a:spcPct val="115000"/>
              </a:lnSpc>
              <a:spcAft>
                <a:spcPts val="200"/>
              </a:spcAft>
            </a:pPr>
            <a:r>
              <a:rPr sz="1300">
                <a:solidFill>
                  <a:srgbClr val="333333"/>
                </a:solidFill>
                <a:latin typeface="Calibri"/>
              </a:rPr>
              <a:t>• S — state space (what the agent observes)</a:t>
            </a:r>
          </a:p>
          <a:p>
            <a:pPr>
              <a:lnSpc>
                <a:spcPct val="115000"/>
              </a:lnSpc>
              <a:spcAft>
                <a:spcPts val="200"/>
              </a:spcAft>
            </a:pPr>
            <a:r>
              <a:rPr sz="1300">
                <a:solidFill>
                  <a:srgbClr val="333333"/>
                </a:solidFill>
                <a:latin typeface="Calibri"/>
              </a:rPr>
              <a:t>• A — action space (what the agent can do)</a:t>
            </a:r>
          </a:p>
          <a:p>
            <a:pPr>
              <a:lnSpc>
                <a:spcPct val="115000"/>
              </a:lnSpc>
              <a:spcAft>
                <a:spcPts val="200"/>
              </a:spcAft>
            </a:pPr>
            <a:r>
              <a:rPr sz="1300">
                <a:solidFill>
                  <a:srgbClr val="333333"/>
                </a:solidFill>
                <a:latin typeface="Calibri"/>
              </a:rPr>
              <a:t>• P(s′|s, a) — transition dynamics</a:t>
            </a:r>
          </a:p>
          <a:p>
            <a:pPr>
              <a:lnSpc>
                <a:spcPct val="115000"/>
              </a:lnSpc>
              <a:spcAft>
                <a:spcPts val="200"/>
              </a:spcAft>
            </a:pPr>
            <a:r>
              <a:rPr sz="1300">
                <a:solidFill>
                  <a:srgbClr val="333333"/>
                </a:solidFill>
                <a:latin typeface="Calibri"/>
              </a:rPr>
              <a:t>• R(s, a) — scalar reward function</a:t>
            </a:r>
          </a:p>
          <a:p>
            <a:pPr>
              <a:lnSpc>
                <a:spcPct val="115000"/>
              </a:lnSpc>
              <a:spcAft>
                <a:spcPts val="200"/>
              </a:spcAft>
            </a:pPr>
            <a:r>
              <a:rPr sz="1300">
                <a:solidFill>
                  <a:srgbClr val="333333"/>
                </a:solidFill>
                <a:latin typeface="Calibri"/>
              </a:rPr>
              <a:t>• γ ∈ [0, 1] — discount factor for future reward</a:t>
            </a:r>
          </a:p>
          <a:p>
            <a:pPr>
              <a:lnSpc>
                <a:spcPct val="115000"/>
              </a:lnSpc>
              <a:spcBef>
                <a:spcPts val="400"/>
              </a:spcBef>
              <a:spcAft>
                <a:spcPts val="200"/>
              </a:spcAft>
            </a:pPr>
            <a:r>
              <a:rPr sz="1400" b="1">
                <a:solidFill>
                  <a:srgbClr val="2C5F8D"/>
                </a:solidFill>
                <a:latin typeface="Calibri"/>
              </a:rPr>
              <a:t>Goal of the Agent</a:t>
            </a:r>
          </a:p>
          <a:p>
            <a:pPr algn="l">
              <a:lnSpc>
                <a:spcPct val="115000"/>
              </a:lnSpc>
              <a:spcBef>
                <a:spcPts val="200"/>
              </a:spcBef>
              <a:spcAft>
                <a:spcPts val="400"/>
              </a:spcAft>
            </a:pPr>
            <a:r>
              <a:rPr sz="1300" i="0">
                <a:solidFill>
                  <a:srgbClr val="1A365D"/>
                </a:solidFill>
                <a:latin typeface="Cambria Math"/>
              </a:rPr>
              <a:t>max_π  E_τ~π [ Σ_t γ^t · r(s_t, a_t) ]</a:t>
            </a:r>
          </a:p>
        </p:txBody>
      </p:sp>
      <p:sp>
        <p:nvSpPr>
          <p:cNvPr id="5" name="Rectangle 4"/>
          <p:cNvSpPr/>
          <p:nvPr/>
        </p:nvSpPr>
        <p:spPr>
          <a:xfrm>
            <a:off x="6126480" y="1097280"/>
            <a:ext cx="2743200" cy="2743200"/>
          </a:xfrm>
          <a:prstGeom prst="rect">
            <a:avLst/>
          </a:prstGeom>
          <a:solidFill>
            <a:srgbClr val="F5F7FA"/>
          </a:solidFill>
          <a:ln w="12700">
            <a:solidFill>
              <a:srgbClr val="2C5F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i="1">
                <a:solidFill>
                  <a:srgbClr val="2C5F8D"/>
                </a:solidFill>
                <a:latin typeface="Calibri"/>
              </a:rPr>
              <a:t>[Diagram placeholder]</a:t>
            </a:r>
          </a:p>
          <a:p>
            <a:pPr algn="ctr"/>
            <a:r>
              <a:rPr sz="1200" i="1">
                <a:solidFill>
                  <a:srgbClr val="2C5F8D"/>
                </a:solidFill>
                <a:latin typeface="Calibri"/>
              </a:rPr>
              <a:t>Classical RL loop —</a:t>
            </a:r>
          </a:p>
          <a:p>
            <a:pPr algn="ctr"/>
            <a:r>
              <a:rPr sz="1200" i="1">
                <a:solidFill>
                  <a:srgbClr val="2C5F8D"/>
                </a:solidFill>
                <a:latin typeface="Calibri"/>
              </a:rPr>
              <a:t>Agent ⇄ Environment</a:t>
            </a:r>
          </a:p>
          <a:p>
            <a:pPr algn="ctr"/>
            <a:r>
              <a:rPr sz="1200" i="1">
                <a:solidFill>
                  <a:srgbClr val="2C5F8D"/>
                </a:solidFill>
                <a:latin typeface="Calibri"/>
              </a:rPr>
              <a:t>(state → action → reward)</a:t>
            </a:r>
          </a:p>
        </p:txBody>
      </p:sp>
      <p:sp>
        <p:nvSpPr>
          <p:cNvPr id="6" name="TextBox 5"/>
          <p:cNvSpPr txBox="1"/>
          <p:nvPr/>
        </p:nvSpPr>
        <p:spPr>
          <a:xfrm>
            <a:off x="6126480" y="3977639"/>
            <a:ext cx="2743200" cy="219456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Why Deep RL?</a:t>
            </a:r>
          </a:p>
          <a:p>
            <a:pPr>
              <a:lnSpc>
                <a:spcPct val="115000"/>
              </a:lnSpc>
              <a:spcAft>
                <a:spcPts val="200"/>
              </a:spcAft>
            </a:pPr>
            <a:r>
              <a:rPr sz="1300">
                <a:solidFill>
                  <a:srgbClr val="333333"/>
                </a:solidFill>
                <a:latin typeface="Calibri"/>
              </a:rPr>
              <a:t>For continuous high-dimensional state / action spaces (such as power control under fading), tabular RL is infeasible.</a:t>
            </a:r>
          </a:p>
          <a:p>
            <a:pPr>
              <a:lnSpc>
                <a:spcPct val="115000"/>
              </a:lnSpc>
              <a:spcAft>
                <a:spcPts val="200"/>
              </a:spcAft>
            </a:pPr>
            <a:r>
              <a:rPr sz="1300">
                <a:solidFill>
                  <a:srgbClr val="333333"/>
                </a:solidFill>
                <a:latin typeface="Calibri"/>
              </a:rPr>
              <a:t>Deep RL uses neural networks as function approximators for the policy π(s) and value function Q(s, a), enabling generalisation across continuous spaces.</a:t>
            </a:r>
          </a:p>
        </p:txBody>
      </p:sp>
      <p:sp>
        <p:nvSpPr>
          <p:cNvPr id="7" name="TextBox 6"/>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600" b="1">
                <a:solidFill>
                  <a:srgbClr val="1A365D"/>
                </a:solidFill>
                <a:latin typeface="Calibri"/>
              </a:rPr>
              <a:t>Why Reinforcement Learning for CRN Power Control?</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The Power-Control Problem</a:t>
            </a:r>
          </a:p>
          <a:p>
            <a:pPr>
              <a:lnSpc>
                <a:spcPct val="115000"/>
              </a:lnSpc>
              <a:spcAft>
                <a:spcPts val="200"/>
              </a:spcAft>
            </a:pPr>
            <a:r>
              <a:rPr sz="1300">
                <a:solidFill>
                  <a:srgbClr val="333333"/>
                </a:solidFill>
                <a:latin typeface="Calibri"/>
              </a:rPr>
              <a:t>The SU must choose its transmit power Pₛ ∈ [0, P_max] at every time step so as to maximise its own data rate while keeping the PU's SINR above a protection threshold γₜₕ — under random, time-varying channel gains.</a:t>
            </a:r>
          </a:p>
          <a:p>
            <a:pPr>
              <a:lnSpc>
                <a:spcPct val="115000"/>
              </a:lnSpc>
              <a:spcBef>
                <a:spcPts val="400"/>
              </a:spcBef>
              <a:spcAft>
                <a:spcPts val="200"/>
              </a:spcAft>
            </a:pPr>
            <a:r>
              <a:rPr sz="1400" b="1">
                <a:solidFill>
                  <a:srgbClr val="2C5F8D"/>
                </a:solidFill>
                <a:latin typeface="Calibri"/>
              </a:rPr>
              <a:t>Why Classical / Analytical Methods Struggle</a:t>
            </a:r>
          </a:p>
          <a:p>
            <a:pPr>
              <a:lnSpc>
                <a:spcPct val="115000"/>
              </a:lnSpc>
              <a:spcAft>
                <a:spcPts val="200"/>
              </a:spcAft>
            </a:pPr>
            <a:r>
              <a:rPr sz="1300" b="1">
                <a:solidFill>
                  <a:srgbClr val="1A365D"/>
                </a:solidFill>
                <a:latin typeface="Calibri"/>
              </a:rPr>
              <a:t>• Closed-form intractable:</a:t>
            </a:r>
            <a:r>
              <a:rPr sz="1300">
                <a:solidFill>
                  <a:srgbClr val="333333"/>
                </a:solidFill>
                <a:latin typeface="Calibri"/>
              </a:rPr>
              <a:t> Joint optimisation over fading distribution + non-linear constraint has no analytic solution.</a:t>
            </a:r>
          </a:p>
          <a:p>
            <a:pPr>
              <a:lnSpc>
                <a:spcPct val="115000"/>
              </a:lnSpc>
              <a:spcAft>
                <a:spcPts val="200"/>
              </a:spcAft>
            </a:pPr>
            <a:r>
              <a:rPr sz="1300" b="1">
                <a:solidFill>
                  <a:srgbClr val="1A365D"/>
                </a:solidFill>
                <a:latin typeface="Calibri"/>
              </a:rPr>
              <a:t>• Convex water-filling fails:</a:t>
            </a:r>
            <a:r>
              <a:rPr sz="1300">
                <a:solidFill>
                  <a:srgbClr val="333333"/>
                </a:solidFill>
                <a:latin typeface="Calibri"/>
              </a:rPr>
              <a:t> The PU protection constraint introduces a non-convex feasibility region under stochastic fading.</a:t>
            </a:r>
          </a:p>
          <a:p>
            <a:pPr>
              <a:lnSpc>
                <a:spcPct val="115000"/>
              </a:lnSpc>
              <a:spcAft>
                <a:spcPts val="200"/>
              </a:spcAft>
            </a:pPr>
            <a:r>
              <a:rPr sz="1300" b="1">
                <a:solidFill>
                  <a:srgbClr val="1A365D"/>
                </a:solidFill>
                <a:latin typeface="Calibri"/>
              </a:rPr>
              <a:t>• Game-theoretic models:</a:t>
            </a:r>
            <a:r>
              <a:rPr sz="1300">
                <a:solidFill>
                  <a:srgbClr val="333333"/>
                </a:solidFill>
                <a:latin typeface="Calibri"/>
              </a:rPr>
              <a:t> Require strong assumptions on PU rationality and full information exchange.</a:t>
            </a:r>
          </a:p>
          <a:p>
            <a:pPr>
              <a:lnSpc>
                <a:spcPct val="115000"/>
              </a:lnSpc>
              <a:spcAft>
                <a:spcPts val="200"/>
              </a:spcAft>
            </a:pPr>
            <a:r>
              <a:rPr sz="1300" b="1">
                <a:solidFill>
                  <a:srgbClr val="1A365D"/>
                </a:solidFill>
                <a:latin typeface="Calibri"/>
              </a:rPr>
              <a:t>• Heuristic / rule-based:</a:t>
            </a:r>
            <a:r>
              <a:rPr sz="1300">
                <a:solidFill>
                  <a:srgbClr val="333333"/>
                </a:solidFill>
                <a:latin typeface="Calibri"/>
              </a:rPr>
              <a:t> Cannot adapt to non-stationary channels and need re-tuning per environment.</a:t>
            </a:r>
          </a:p>
          <a:p>
            <a:pPr>
              <a:lnSpc>
                <a:spcPct val="115000"/>
              </a:lnSpc>
              <a:spcBef>
                <a:spcPts val="400"/>
              </a:spcBef>
              <a:spcAft>
                <a:spcPts val="200"/>
              </a:spcAft>
            </a:pPr>
            <a:r>
              <a:rPr sz="1400" b="1">
                <a:solidFill>
                  <a:srgbClr val="2C5F8D"/>
                </a:solidFill>
                <a:latin typeface="Calibri"/>
              </a:rPr>
              <a:t>Why Deep Reinforcement Learning is a Natural Fit</a:t>
            </a:r>
          </a:p>
          <a:p>
            <a:pPr>
              <a:lnSpc>
                <a:spcPct val="115000"/>
              </a:lnSpc>
              <a:spcAft>
                <a:spcPts val="200"/>
              </a:spcAft>
            </a:pPr>
            <a:r>
              <a:rPr sz="1300">
                <a:solidFill>
                  <a:srgbClr val="333333"/>
                </a:solidFill>
                <a:latin typeface="Calibri"/>
              </a:rPr>
              <a:t>• Continuous-action capable — DDPG / TD3 / SAC output real-valued Pₛ directly.</a:t>
            </a:r>
          </a:p>
          <a:p>
            <a:pPr>
              <a:lnSpc>
                <a:spcPct val="115000"/>
              </a:lnSpc>
              <a:spcAft>
                <a:spcPts val="200"/>
              </a:spcAft>
            </a:pPr>
            <a:r>
              <a:rPr sz="1300">
                <a:solidFill>
                  <a:srgbClr val="333333"/>
                </a:solidFill>
                <a:latin typeface="Calibri"/>
              </a:rPr>
              <a:t>• Model-free — does not need explicit channel distribution; learns from samples.</a:t>
            </a:r>
          </a:p>
          <a:p>
            <a:pPr>
              <a:lnSpc>
                <a:spcPct val="115000"/>
              </a:lnSpc>
              <a:spcAft>
                <a:spcPts val="200"/>
              </a:spcAft>
            </a:pPr>
            <a:r>
              <a:rPr sz="1300">
                <a:solidFill>
                  <a:srgbClr val="333333"/>
                </a:solidFill>
                <a:latin typeface="Calibri"/>
              </a:rPr>
              <a:t>• Closed-loop adaptive — keeps refining the policy as conditions change.</a:t>
            </a:r>
          </a:p>
          <a:p>
            <a:pPr>
              <a:lnSpc>
                <a:spcPct val="115000"/>
              </a:lnSpc>
              <a:spcAft>
                <a:spcPts val="200"/>
              </a:spcAft>
            </a:pPr>
            <a:r>
              <a:rPr sz="1300">
                <a:solidFill>
                  <a:srgbClr val="333333"/>
                </a:solidFill>
                <a:latin typeface="Calibri"/>
              </a:rPr>
              <a:t>• Can encode multi-objective trade-offs (throughput vs. PU protection vs. energy) directly in the reward.</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0"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0" y="2377440"/>
            <a:ext cx="5760720" cy="1097280"/>
          </a:xfrm>
          <a:prstGeom prst="rect">
            <a:avLst/>
          </a:prstGeom>
          <a:noFill/>
        </p:spPr>
        <p:txBody>
          <a:bodyPr wrap="square">
            <a:spAutoFit/>
          </a:bodyPr>
          <a:lstStyle/>
          <a:p>
            <a:r>
              <a:rPr sz="3600" b="1">
                <a:solidFill>
                  <a:srgbClr val="1A365D"/>
                </a:solidFill>
                <a:latin typeface="Calibri"/>
              </a:rPr>
              <a:t>Problem Statement</a:t>
            </a:r>
          </a:p>
          <a:p>
            <a:r>
              <a:rPr sz="1600" i="1">
                <a:solidFill>
                  <a:srgbClr val="555555"/>
                </a:solidFill>
                <a:latin typeface="Calibri"/>
              </a:rPr>
              <a:t>Power control objectives, constraints and challenges</a:t>
            </a:r>
          </a:p>
        </p:txBody>
      </p:sp>
      <p:sp>
        <p:nvSpPr>
          <p:cNvPr id="4" name="Rectangle 3"/>
          <p:cNvSpPr/>
          <p:nvPr/>
        </p:nvSpPr>
        <p:spPr>
          <a:xfrm>
            <a:off x="2788920" y="2377440"/>
            <a:ext cx="73152" cy="137160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365760"/>
            <a:ext cx="2286000" cy="457200"/>
          </a:xfrm>
          <a:prstGeom prst="rect">
            <a:avLst/>
          </a:prstGeom>
          <a:noFill/>
        </p:spPr>
        <p:txBody>
          <a:bodyPr wrap="none">
            <a:spAutoFit/>
          </a:bodyPr>
          <a:lstStyle/>
          <a:p>
            <a:r>
              <a:rPr sz="1100" i="1">
                <a:solidFill>
                  <a:srgbClr val="FFFFFF"/>
                </a:solidFill>
                <a:latin typeface="Calibri"/>
              </a:rPr>
              <a:t>SECTION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Problem Statement</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Setting</a:t>
            </a:r>
          </a:p>
          <a:p>
            <a:pPr>
              <a:lnSpc>
                <a:spcPct val="115000"/>
              </a:lnSpc>
              <a:spcAft>
                <a:spcPts val="200"/>
              </a:spcAft>
            </a:pPr>
            <a:r>
              <a:rPr sz="1300">
                <a:solidFill>
                  <a:srgbClr val="333333"/>
                </a:solidFill>
                <a:latin typeface="Calibri"/>
              </a:rPr>
              <a:t>Consider an underlay Cognitive Radio Network with one Primary Transmitter–Receiver pair (PT, PR) and one Secondary Transmitter–Receiver pair (ST, SR) operating on the same frequency band. All four wireless links experience Nakagami-m block fading. The SU must select its transmit power Pₛ ∈ [0, P_max] at every channel use.</a:t>
            </a:r>
          </a:p>
          <a:p>
            <a:pPr>
              <a:lnSpc>
                <a:spcPct val="115000"/>
              </a:lnSpc>
              <a:spcBef>
                <a:spcPts val="400"/>
              </a:spcBef>
              <a:spcAft>
                <a:spcPts val="200"/>
              </a:spcAft>
            </a:pPr>
            <a:r>
              <a:rPr sz="1400" b="1">
                <a:solidFill>
                  <a:srgbClr val="2C5F8D"/>
                </a:solidFill>
                <a:latin typeface="Calibri"/>
              </a:rPr>
              <a:t>Objective</a:t>
            </a:r>
          </a:p>
          <a:p>
            <a:pPr algn="l">
              <a:lnSpc>
                <a:spcPct val="115000"/>
              </a:lnSpc>
              <a:spcBef>
                <a:spcPts val="200"/>
              </a:spcBef>
              <a:spcAft>
                <a:spcPts val="400"/>
              </a:spcAft>
            </a:pPr>
            <a:r>
              <a:rPr sz="1300" i="0">
                <a:solidFill>
                  <a:srgbClr val="1A365D"/>
                </a:solidFill>
                <a:latin typeface="Cambria Math"/>
              </a:rPr>
              <a:t>maximise  E[ Σ_t  log₂(1 + SINR_s(t)) ]    — Secondary throughput</a:t>
            </a:r>
          </a:p>
          <a:p>
            <a:pPr>
              <a:lnSpc>
                <a:spcPct val="115000"/>
              </a:lnSpc>
              <a:spcBef>
                <a:spcPts val="400"/>
              </a:spcBef>
              <a:spcAft>
                <a:spcPts val="200"/>
              </a:spcAft>
            </a:pPr>
            <a:r>
              <a:rPr sz="1400" b="1">
                <a:solidFill>
                  <a:srgbClr val="2C5F8D"/>
                </a:solidFill>
                <a:latin typeface="Calibri"/>
              </a:rPr>
              <a:t>Constraints</a:t>
            </a:r>
          </a:p>
          <a:p>
            <a:pPr algn="l">
              <a:lnSpc>
                <a:spcPct val="115000"/>
              </a:lnSpc>
              <a:spcBef>
                <a:spcPts val="200"/>
              </a:spcBef>
              <a:spcAft>
                <a:spcPts val="400"/>
              </a:spcAft>
            </a:pPr>
            <a:r>
              <a:rPr sz="1300" i="0">
                <a:solidFill>
                  <a:srgbClr val="1A365D"/>
                </a:solidFill>
                <a:latin typeface="Cambria Math"/>
              </a:rPr>
              <a:t>(C1)  SINR_p(t) ≥ γ_th         — Primary user protection</a:t>
            </a:r>
          </a:p>
          <a:p>
            <a:pPr algn="l">
              <a:lnSpc>
                <a:spcPct val="115000"/>
              </a:lnSpc>
              <a:spcBef>
                <a:spcPts val="200"/>
              </a:spcBef>
              <a:spcAft>
                <a:spcPts val="400"/>
              </a:spcAft>
            </a:pPr>
            <a:r>
              <a:rPr sz="1300" i="0">
                <a:solidFill>
                  <a:srgbClr val="1A365D"/>
                </a:solidFill>
                <a:latin typeface="Cambria Math"/>
              </a:rPr>
              <a:t>(C2)  0 ≤ P_s(t) ≤ P_max         — Power budget</a:t>
            </a:r>
          </a:p>
          <a:p>
            <a:pPr algn="l">
              <a:lnSpc>
                <a:spcPct val="115000"/>
              </a:lnSpc>
              <a:spcBef>
                <a:spcPts val="200"/>
              </a:spcBef>
              <a:spcAft>
                <a:spcPts val="400"/>
              </a:spcAft>
            </a:pPr>
            <a:r>
              <a:rPr sz="1300" i="0">
                <a:solidFill>
                  <a:srgbClr val="1A365D"/>
                </a:solidFill>
                <a:latin typeface="Cambria Math"/>
              </a:rPr>
              <a:t>(C3)  E[ P_s(t) ] ≤ P_avg        — Energy-efficiency soft target</a:t>
            </a:r>
          </a:p>
          <a:p>
            <a:pPr>
              <a:lnSpc>
                <a:spcPct val="115000"/>
              </a:lnSpc>
              <a:spcBef>
                <a:spcPts val="400"/>
              </a:spcBef>
              <a:spcAft>
                <a:spcPts val="200"/>
              </a:spcAft>
            </a:pPr>
            <a:r>
              <a:rPr sz="1400" b="1">
                <a:solidFill>
                  <a:srgbClr val="2C5F8D"/>
                </a:solidFill>
                <a:latin typeface="Calibri"/>
              </a:rPr>
              <a:t>Core Challenges</a:t>
            </a:r>
          </a:p>
          <a:p>
            <a:pPr>
              <a:lnSpc>
                <a:spcPct val="115000"/>
              </a:lnSpc>
              <a:spcAft>
                <a:spcPts val="200"/>
              </a:spcAft>
            </a:pPr>
            <a:r>
              <a:rPr sz="1300" b="1">
                <a:solidFill>
                  <a:srgbClr val="1A365D"/>
                </a:solidFill>
                <a:latin typeface="Calibri"/>
              </a:rPr>
              <a:t>• Stochastic non-convexity:</a:t>
            </a:r>
            <a:r>
              <a:rPr sz="1300">
                <a:solidFill>
                  <a:srgbClr val="333333"/>
                </a:solidFill>
                <a:latin typeface="Calibri"/>
              </a:rPr>
              <a:t> channel gains are random and the constraint is a chance event.</a:t>
            </a:r>
          </a:p>
          <a:p>
            <a:pPr>
              <a:lnSpc>
                <a:spcPct val="115000"/>
              </a:lnSpc>
              <a:spcAft>
                <a:spcPts val="200"/>
              </a:spcAft>
            </a:pPr>
            <a:r>
              <a:rPr sz="1300" b="1">
                <a:solidFill>
                  <a:srgbClr val="1A365D"/>
                </a:solidFill>
                <a:latin typeface="Calibri"/>
              </a:rPr>
              <a:t>• Multi-objective:</a:t>
            </a:r>
            <a:r>
              <a:rPr sz="1300">
                <a:solidFill>
                  <a:srgbClr val="333333"/>
                </a:solidFill>
                <a:latin typeface="Calibri"/>
              </a:rPr>
              <a:t> three competing goals must be balanced — throughput, interference, energy.</a:t>
            </a:r>
          </a:p>
          <a:p>
            <a:pPr>
              <a:lnSpc>
                <a:spcPct val="115000"/>
              </a:lnSpc>
              <a:spcAft>
                <a:spcPts val="200"/>
              </a:spcAft>
            </a:pPr>
            <a:r>
              <a:rPr sz="1300" b="1">
                <a:solidFill>
                  <a:srgbClr val="1A365D"/>
                </a:solidFill>
                <a:latin typeface="Calibri"/>
              </a:rPr>
              <a:t>• Manual weight tuning:</a:t>
            </a:r>
            <a:r>
              <a:rPr sz="1300">
                <a:solidFill>
                  <a:srgbClr val="333333"/>
                </a:solidFill>
                <a:latin typeface="Calibri"/>
              </a:rPr>
              <a:t> in scalar-reward methods the trade-off weights (α, β, γ) must be tuned per channel condition.</a:t>
            </a:r>
          </a:p>
          <a:p>
            <a:pPr>
              <a:lnSpc>
                <a:spcPct val="115000"/>
              </a:lnSpc>
              <a:spcAft>
                <a:spcPts val="200"/>
              </a:spcAft>
            </a:pPr>
            <a:r>
              <a:rPr sz="1300" b="1">
                <a:solidFill>
                  <a:srgbClr val="1A365D"/>
                </a:solidFill>
                <a:latin typeface="Calibri"/>
              </a:rPr>
              <a:t>• Temporal dynamics:</a:t>
            </a:r>
            <a:r>
              <a:rPr sz="1300">
                <a:solidFill>
                  <a:srgbClr val="333333"/>
                </a:solidFill>
                <a:latin typeface="Calibri"/>
              </a:rPr>
              <a:t> useful information lies in the recent history of channel gains and own actions.</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System Model — Network Topology and Channels</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512064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Four-Node Underlay CRN</a:t>
            </a:r>
          </a:p>
          <a:p>
            <a:pPr>
              <a:lnSpc>
                <a:spcPct val="115000"/>
              </a:lnSpc>
              <a:spcAft>
                <a:spcPts val="200"/>
              </a:spcAft>
            </a:pPr>
            <a:r>
              <a:rPr sz="1300">
                <a:solidFill>
                  <a:srgbClr val="333333"/>
                </a:solidFill>
                <a:latin typeface="Calibri"/>
              </a:rPr>
              <a:t>The network consists of four nodes — a primary transmitter PT, primary receiver PR, secondary transmitter ST and secondary receiver SR. They share the same band; SU power control determines mutual interference.</a:t>
            </a:r>
          </a:p>
          <a:p>
            <a:pPr>
              <a:lnSpc>
                <a:spcPct val="115000"/>
              </a:lnSpc>
              <a:spcBef>
                <a:spcPts val="400"/>
              </a:spcBef>
              <a:spcAft>
                <a:spcPts val="200"/>
              </a:spcAft>
            </a:pPr>
            <a:r>
              <a:rPr sz="1400" b="1">
                <a:solidFill>
                  <a:srgbClr val="2C5F8D"/>
                </a:solidFill>
                <a:latin typeface="Calibri"/>
              </a:rPr>
              <a:t>Channel Power Gains</a:t>
            </a:r>
          </a:p>
          <a:p>
            <a:pPr>
              <a:lnSpc>
                <a:spcPct val="115000"/>
              </a:lnSpc>
              <a:spcAft>
                <a:spcPts val="200"/>
              </a:spcAft>
            </a:pPr>
            <a:r>
              <a:rPr sz="1300" b="1">
                <a:solidFill>
                  <a:srgbClr val="1A365D"/>
                </a:solidFill>
                <a:latin typeface="Calibri"/>
              </a:rPr>
              <a:t>• |h_pp|² :</a:t>
            </a:r>
            <a:r>
              <a:rPr sz="1300">
                <a:solidFill>
                  <a:srgbClr val="333333"/>
                </a:solidFill>
                <a:latin typeface="Calibri"/>
              </a:rPr>
              <a:t> PT → PR  (primary direct link)</a:t>
            </a:r>
          </a:p>
          <a:p>
            <a:pPr>
              <a:lnSpc>
                <a:spcPct val="115000"/>
              </a:lnSpc>
              <a:spcAft>
                <a:spcPts val="200"/>
              </a:spcAft>
            </a:pPr>
            <a:r>
              <a:rPr sz="1300" b="1">
                <a:solidFill>
                  <a:srgbClr val="1A365D"/>
                </a:solidFill>
                <a:latin typeface="Calibri"/>
              </a:rPr>
              <a:t>• |h_sp|² :</a:t>
            </a:r>
            <a:r>
              <a:rPr sz="1300">
                <a:solidFill>
                  <a:srgbClr val="333333"/>
                </a:solidFill>
                <a:latin typeface="Calibri"/>
              </a:rPr>
              <a:t> ST → PR  (SU interference on PU)</a:t>
            </a:r>
          </a:p>
          <a:p>
            <a:pPr>
              <a:lnSpc>
                <a:spcPct val="115000"/>
              </a:lnSpc>
              <a:spcAft>
                <a:spcPts val="200"/>
              </a:spcAft>
            </a:pPr>
            <a:r>
              <a:rPr sz="1300" b="1">
                <a:solidFill>
                  <a:srgbClr val="1A365D"/>
                </a:solidFill>
                <a:latin typeface="Calibri"/>
              </a:rPr>
              <a:t>• |h_ss|² :</a:t>
            </a:r>
            <a:r>
              <a:rPr sz="1300">
                <a:solidFill>
                  <a:srgbClr val="333333"/>
                </a:solidFill>
                <a:latin typeface="Calibri"/>
              </a:rPr>
              <a:t> ST → SR  (secondary direct link)</a:t>
            </a:r>
          </a:p>
          <a:p>
            <a:pPr>
              <a:lnSpc>
                <a:spcPct val="115000"/>
              </a:lnSpc>
              <a:spcAft>
                <a:spcPts val="200"/>
              </a:spcAft>
            </a:pPr>
            <a:r>
              <a:rPr sz="1300" b="1">
                <a:solidFill>
                  <a:srgbClr val="1A365D"/>
                </a:solidFill>
                <a:latin typeface="Calibri"/>
              </a:rPr>
              <a:t>• |h_ps|² :</a:t>
            </a:r>
            <a:r>
              <a:rPr sz="1300">
                <a:solidFill>
                  <a:srgbClr val="333333"/>
                </a:solidFill>
                <a:latin typeface="Calibri"/>
              </a:rPr>
              <a:t> PT → SR  (PU interference on SU)</a:t>
            </a:r>
          </a:p>
          <a:p>
            <a:pPr>
              <a:lnSpc>
                <a:spcPct val="115000"/>
              </a:lnSpc>
              <a:spcBef>
                <a:spcPts val="400"/>
              </a:spcBef>
              <a:spcAft>
                <a:spcPts val="200"/>
              </a:spcAft>
            </a:pPr>
            <a:r>
              <a:rPr sz="1400" b="1">
                <a:solidFill>
                  <a:srgbClr val="2C5F8D"/>
                </a:solidFill>
                <a:latin typeface="Calibri"/>
              </a:rPr>
              <a:t>Nakagami-m Block-Fading</a:t>
            </a:r>
          </a:p>
          <a:p>
            <a:pPr algn="l">
              <a:lnSpc>
                <a:spcPct val="115000"/>
              </a:lnSpc>
              <a:spcBef>
                <a:spcPts val="200"/>
              </a:spcBef>
              <a:spcAft>
                <a:spcPts val="400"/>
              </a:spcAft>
            </a:pPr>
            <a:r>
              <a:rPr sz="1300" i="0">
                <a:solidFill>
                  <a:srgbClr val="1A365D"/>
                </a:solidFill>
                <a:latin typeface="Cambria Math"/>
              </a:rPr>
              <a:t>|h|² ~ Gamma(shape = m, scale = Ω / m)</a:t>
            </a:r>
          </a:p>
          <a:p>
            <a:pPr>
              <a:lnSpc>
                <a:spcPct val="115000"/>
              </a:lnSpc>
              <a:spcAft>
                <a:spcPts val="200"/>
              </a:spcAft>
            </a:pPr>
            <a:r>
              <a:rPr sz="1300">
                <a:solidFill>
                  <a:srgbClr val="333333"/>
                </a:solidFill>
                <a:latin typeface="Calibri"/>
              </a:rPr>
              <a:t>• m = 1 → Rayleigh fading (severe)</a:t>
            </a:r>
          </a:p>
          <a:p>
            <a:pPr>
              <a:lnSpc>
                <a:spcPct val="115000"/>
              </a:lnSpc>
              <a:spcAft>
                <a:spcPts val="200"/>
              </a:spcAft>
            </a:pPr>
            <a:r>
              <a:rPr sz="1300">
                <a:solidFill>
                  <a:srgbClr val="333333"/>
                </a:solidFill>
                <a:latin typeface="Calibri"/>
              </a:rPr>
              <a:t>• m = 3 → moderate fading (used as default)</a:t>
            </a:r>
          </a:p>
          <a:p>
            <a:pPr>
              <a:lnSpc>
                <a:spcPct val="115000"/>
              </a:lnSpc>
              <a:spcAft>
                <a:spcPts val="200"/>
              </a:spcAft>
            </a:pPr>
            <a:r>
              <a:rPr sz="1300">
                <a:solidFill>
                  <a:srgbClr val="333333"/>
                </a:solidFill>
                <a:latin typeface="Calibri"/>
              </a:rPr>
              <a:t>• m → ∞ → AWGN (no fading)</a:t>
            </a:r>
          </a:p>
          <a:p>
            <a:pPr>
              <a:lnSpc>
                <a:spcPct val="115000"/>
              </a:lnSpc>
              <a:spcAft>
                <a:spcPts val="200"/>
              </a:spcAft>
            </a:pPr>
            <a:r>
              <a:rPr sz="1300">
                <a:solidFill>
                  <a:srgbClr val="333333"/>
                </a:solidFill>
                <a:latin typeface="Calibri"/>
              </a:rPr>
              <a:t>• Ω = 1.0 (mean link power), σ² = 10⁻³ W (AWGN noise)</a:t>
            </a:r>
          </a:p>
        </p:txBody>
      </p:sp>
      <p:sp>
        <p:nvSpPr>
          <p:cNvPr id="5" name="Rectangle 4"/>
          <p:cNvSpPr/>
          <p:nvPr/>
        </p:nvSpPr>
        <p:spPr>
          <a:xfrm>
            <a:off x="5852160" y="1097280"/>
            <a:ext cx="3017520" cy="3291840"/>
          </a:xfrm>
          <a:prstGeom prst="rect">
            <a:avLst/>
          </a:prstGeom>
          <a:solidFill>
            <a:srgbClr val="F5F7FA"/>
          </a:solidFill>
          <a:ln w="12700">
            <a:solidFill>
              <a:srgbClr val="2C5F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i="1">
                <a:solidFill>
                  <a:srgbClr val="2C5F8D"/>
                </a:solidFill>
                <a:latin typeface="Calibri"/>
              </a:rPr>
              <a:t>[Diagram placeholder]</a:t>
            </a:r>
          </a:p>
          <a:p>
            <a:pPr algn="ctr"/>
            <a:r>
              <a:rPr sz="1200" i="1">
                <a:solidFill>
                  <a:srgbClr val="2C5F8D"/>
                </a:solidFill>
                <a:latin typeface="Calibri"/>
              </a:rPr>
              <a:t>4-node CRN topology</a:t>
            </a:r>
          </a:p>
          <a:p>
            <a:pPr algn="ctr"/>
            <a:r>
              <a:rPr sz="1200" i="1">
                <a:solidFill>
                  <a:srgbClr val="2C5F8D"/>
                </a:solidFill>
                <a:latin typeface="Calibri"/>
              </a:rPr>
              <a:t>PT ←→ PR  ;  ST ←→ SR</a:t>
            </a:r>
          </a:p>
          <a:p>
            <a:pPr algn="ctr"/>
            <a:r>
              <a:rPr sz="1200" i="1">
                <a:solidFill>
                  <a:srgbClr val="2C5F8D"/>
                </a:solidFill>
                <a:latin typeface="Calibri"/>
              </a:rPr>
              <a:t>with interference links</a:t>
            </a:r>
          </a:p>
          <a:p>
            <a:pPr algn="ctr"/>
            <a:r>
              <a:rPr sz="1200" i="1">
                <a:solidFill>
                  <a:srgbClr val="2C5F8D"/>
                </a:solidFill>
                <a:latin typeface="Calibri"/>
              </a:rPr>
              <a:t>h_sp and h_ps</a:t>
            </a:r>
          </a:p>
        </p:txBody>
      </p:sp>
      <p:sp>
        <p:nvSpPr>
          <p:cNvPr id="6" name="TextBox 5"/>
          <p:cNvSpPr txBox="1"/>
          <p:nvPr/>
        </p:nvSpPr>
        <p:spPr>
          <a:xfrm>
            <a:off x="5852160" y="4526280"/>
            <a:ext cx="3017520" cy="173736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The block-fading model assumes that each channel gain stays constant for one channel use (one RL time step) and is re-drawn independently each step — a worst-case temporal-correlation assumption.</a:t>
            </a:r>
          </a:p>
        </p:txBody>
      </p:sp>
      <p:sp>
        <p:nvSpPr>
          <p:cNvPr id="7" name="TextBox 6"/>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SINR, Throughput and Reward Formulation</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SINR at Each Receiver</a:t>
            </a:r>
          </a:p>
          <a:p>
            <a:pPr algn="l">
              <a:lnSpc>
                <a:spcPct val="115000"/>
              </a:lnSpc>
              <a:spcBef>
                <a:spcPts val="200"/>
              </a:spcBef>
              <a:spcAft>
                <a:spcPts val="400"/>
              </a:spcAft>
            </a:pPr>
            <a:r>
              <a:rPr sz="1300" i="0">
                <a:solidFill>
                  <a:srgbClr val="1A365D"/>
                </a:solidFill>
                <a:latin typeface="Cambria Math"/>
              </a:rPr>
              <a:t>SINR_p  =  ( P_p · |h_pp|² ) / ( P_s · |h_sp|² + σ² )      [Primary]</a:t>
            </a:r>
          </a:p>
          <a:p>
            <a:pPr algn="l">
              <a:lnSpc>
                <a:spcPct val="115000"/>
              </a:lnSpc>
              <a:spcBef>
                <a:spcPts val="200"/>
              </a:spcBef>
              <a:spcAft>
                <a:spcPts val="400"/>
              </a:spcAft>
            </a:pPr>
            <a:r>
              <a:rPr sz="1300" i="0">
                <a:solidFill>
                  <a:srgbClr val="1A365D"/>
                </a:solidFill>
                <a:latin typeface="Cambria Math"/>
              </a:rPr>
              <a:t>SINR_s  =  ( P_s · |h_ss|² ) / ( P_p · |h_ps|² + σ² )      [Secondary]</a:t>
            </a:r>
          </a:p>
          <a:p>
            <a:pPr>
              <a:lnSpc>
                <a:spcPct val="115000"/>
              </a:lnSpc>
              <a:spcBef>
                <a:spcPts val="400"/>
              </a:spcBef>
              <a:spcAft>
                <a:spcPts val="200"/>
              </a:spcAft>
            </a:pPr>
            <a:r>
              <a:rPr sz="1400" b="1">
                <a:solidFill>
                  <a:srgbClr val="2C5F8D"/>
                </a:solidFill>
                <a:latin typeface="Calibri"/>
              </a:rPr>
              <a:t>Shannon Throughput</a:t>
            </a:r>
          </a:p>
          <a:p>
            <a:pPr algn="l">
              <a:lnSpc>
                <a:spcPct val="115000"/>
              </a:lnSpc>
              <a:spcBef>
                <a:spcPts val="200"/>
              </a:spcBef>
              <a:spcAft>
                <a:spcPts val="400"/>
              </a:spcAft>
            </a:pPr>
            <a:r>
              <a:rPr sz="1300" i="0">
                <a:solidFill>
                  <a:srgbClr val="1A365D"/>
                </a:solidFill>
                <a:latin typeface="Cambria Math"/>
              </a:rPr>
              <a:t>R_s = log₂( 1 + SINR_s )      R_p = log₂( 1 + SINR_p )      [bits / s / Hz]</a:t>
            </a:r>
          </a:p>
          <a:p>
            <a:pPr>
              <a:lnSpc>
                <a:spcPct val="115000"/>
              </a:lnSpc>
              <a:spcBef>
                <a:spcPts val="400"/>
              </a:spcBef>
              <a:spcAft>
                <a:spcPts val="200"/>
              </a:spcAft>
            </a:pPr>
            <a:r>
              <a:rPr sz="1400" b="1">
                <a:solidFill>
                  <a:srgbClr val="2C5F8D"/>
                </a:solidFill>
                <a:latin typeface="Calibri"/>
              </a:rPr>
              <a:t>Bit Error Rate (BPSK)</a:t>
            </a:r>
          </a:p>
          <a:p>
            <a:pPr algn="l">
              <a:lnSpc>
                <a:spcPct val="115000"/>
              </a:lnSpc>
              <a:spcBef>
                <a:spcPts val="200"/>
              </a:spcBef>
              <a:spcAft>
                <a:spcPts val="400"/>
              </a:spcAft>
            </a:pPr>
            <a:r>
              <a:rPr sz="1300" i="0">
                <a:solidFill>
                  <a:srgbClr val="1A365D"/>
                </a:solidFill>
                <a:latin typeface="Cambria Math"/>
              </a:rPr>
              <a:t>BER  =  ½ · erfc(√SINR )</a:t>
            </a:r>
          </a:p>
          <a:p>
            <a:pPr>
              <a:lnSpc>
                <a:spcPct val="115000"/>
              </a:lnSpc>
              <a:spcBef>
                <a:spcPts val="400"/>
              </a:spcBef>
              <a:spcAft>
                <a:spcPts val="200"/>
              </a:spcAft>
            </a:pPr>
            <a:r>
              <a:rPr sz="1400" b="1">
                <a:solidFill>
                  <a:srgbClr val="2C5F8D"/>
                </a:solidFill>
                <a:latin typeface="Calibri"/>
              </a:rPr>
              <a:t>Scalar Reward Function (used by DDPG / TD3 baselines)</a:t>
            </a:r>
          </a:p>
          <a:p>
            <a:pPr algn="l">
              <a:lnSpc>
                <a:spcPct val="115000"/>
              </a:lnSpc>
              <a:spcBef>
                <a:spcPts val="200"/>
              </a:spcBef>
              <a:spcAft>
                <a:spcPts val="400"/>
              </a:spcAft>
            </a:pPr>
            <a:r>
              <a:rPr sz="1300" i="0">
                <a:solidFill>
                  <a:srgbClr val="1A365D"/>
                </a:solidFill>
                <a:latin typeface="Cambria Math"/>
              </a:rPr>
              <a:t>r_t  =  α · R_s  −  β · max(0, γ_th − SINR_p)  −  γ_e · ( P_s / P_max )</a:t>
            </a:r>
          </a:p>
          <a:p>
            <a:pPr>
              <a:lnSpc>
                <a:spcPct val="115000"/>
              </a:lnSpc>
              <a:spcAft>
                <a:spcPts val="200"/>
              </a:spcAft>
            </a:pPr>
            <a:r>
              <a:rPr sz="1300" b="1">
                <a:solidFill>
                  <a:srgbClr val="1A365D"/>
                </a:solidFill>
                <a:latin typeface="Calibri"/>
              </a:rPr>
              <a:t>• Term 1 :</a:t>
            </a:r>
            <a:r>
              <a:rPr sz="1300">
                <a:solidFill>
                  <a:srgbClr val="333333"/>
                </a:solidFill>
                <a:latin typeface="Calibri"/>
              </a:rPr>
              <a:t> α · R_s  — SU throughput reward  (α = 1.0)</a:t>
            </a:r>
          </a:p>
          <a:p>
            <a:pPr>
              <a:lnSpc>
                <a:spcPct val="115000"/>
              </a:lnSpc>
              <a:spcAft>
                <a:spcPts val="200"/>
              </a:spcAft>
            </a:pPr>
            <a:r>
              <a:rPr sz="1300" b="1">
                <a:solidFill>
                  <a:srgbClr val="1A365D"/>
                </a:solidFill>
                <a:latin typeface="Calibri"/>
              </a:rPr>
              <a:t>• Term 2 :</a:t>
            </a:r>
            <a:r>
              <a:rPr sz="1300">
                <a:solidFill>
                  <a:srgbClr val="333333"/>
                </a:solidFill>
                <a:latin typeface="Calibri"/>
              </a:rPr>
              <a:t> β · max(0, γ_th − SINR_p)  — PU constraint hinge penalty  (β = 1.5)</a:t>
            </a:r>
          </a:p>
          <a:p>
            <a:pPr>
              <a:lnSpc>
                <a:spcPct val="115000"/>
              </a:lnSpc>
              <a:spcAft>
                <a:spcPts val="200"/>
              </a:spcAft>
            </a:pPr>
            <a:r>
              <a:rPr sz="1300" b="1">
                <a:solidFill>
                  <a:srgbClr val="1A365D"/>
                </a:solidFill>
                <a:latin typeface="Calibri"/>
              </a:rPr>
              <a:t>• Term 3 :</a:t>
            </a:r>
            <a:r>
              <a:rPr sz="1300">
                <a:solidFill>
                  <a:srgbClr val="333333"/>
                </a:solidFill>
                <a:latin typeface="Calibri"/>
              </a:rPr>
              <a:t> γ_e · ( P_s / P_max ) — energy efficiency penalty  (γ_e = 0.005)</a:t>
            </a:r>
          </a:p>
          <a:p>
            <a:pPr>
              <a:lnSpc>
                <a:spcPct val="115000"/>
              </a:lnSpc>
              <a:spcAft>
                <a:spcPts val="200"/>
              </a:spcAft>
            </a:pPr>
            <a:r>
              <a:rPr sz="1300">
                <a:solidFill>
                  <a:srgbClr val="333333"/>
                </a:solidFill>
                <a:latin typeface="Calibri"/>
              </a:rPr>
              <a:t>This scalar reward is the standard formulation our DDPG and TD3 agents optimise. In the proposed algorithm it is decomposed into three separate signals (see Section 4).</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MDP Formulation for Power Control</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State  s_t  (7-dimensional, continuous)</a:t>
            </a:r>
          </a:p>
          <a:p>
            <a:pPr algn="l">
              <a:lnSpc>
                <a:spcPct val="115000"/>
              </a:lnSpc>
              <a:spcBef>
                <a:spcPts val="200"/>
              </a:spcBef>
              <a:spcAft>
                <a:spcPts val="400"/>
              </a:spcAft>
            </a:pPr>
            <a:r>
              <a:rPr sz="1300" i="0">
                <a:solidFill>
                  <a:srgbClr val="1A365D"/>
                </a:solidFill>
                <a:latin typeface="Cambria Math"/>
              </a:rPr>
              <a:t>s_t  =  [ |h_pp|², |h_sp|², |h_ss|², |h_ps|², SINR_p, SINR_s, P_s(t−1) ]</a:t>
            </a:r>
          </a:p>
          <a:p>
            <a:pPr>
              <a:lnSpc>
                <a:spcPct val="115000"/>
              </a:lnSpc>
              <a:spcAft>
                <a:spcPts val="200"/>
              </a:spcAft>
            </a:pPr>
            <a:r>
              <a:rPr sz="1300">
                <a:solidFill>
                  <a:srgbClr val="333333"/>
                </a:solidFill>
                <a:latin typeface="Calibri"/>
              </a:rPr>
              <a:t>The four instantaneous channel gains describe the propagation environment; the two SINRs give immediate feedback on the previous action; P_s(t−1) provides action-continuity / momentum.</a:t>
            </a:r>
          </a:p>
          <a:p>
            <a:pPr>
              <a:lnSpc>
                <a:spcPct val="115000"/>
              </a:lnSpc>
              <a:spcBef>
                <a:spcPts val="400"/>
              </a:spcBef>
              <a:spcAft>
                <a:spcPts val="200"/>
              </a:spcAft>
            </a:pPr>
            <a:r>
              <a:rPr sz="1400" b="1">
                <a:solidFill>
                  <a:srgbClr val="2C5F8D"/>
                </a:solidFill>
                <a:latin typeface="Calibri"/>
              </a:rPr>
              <a:t>Action  a_t  (1-dimensional, continuous)</a:t>
            </a:r>
          </a:p>
          <a:p>
            <a:pPr algn="l">
              <a:lnSpc>
                <a:spcPct val="115000"/>
              </a:lnSpc>
              <a:spcBef>
                <a:spcPts val="200"/>
              </a:spcBef>
              <a:spcAft>
                <a:spcPts val="400"/>
              </a:spcAft>
            </a:pPr>
            <a:r>
              <a:rPr sz="1300" i="0">
                <a:solidFill>
                  <a:srgbClr val="1A365D"/>
                </a:solidFill>
                <a:latin typeface="Cambria Math"/>
              </a:rPr>
              <a:t>a_t  =  P_s ∈ [0, P_max]            P_max = 3.0 W,  P_p = 1.0 W</a:t>
            </a:r>
          </a:p>
          <a:p>
            <a:pPr>
              <a:lnSpc>
                <a:spcPct val="115000"/>
              </a:lnSpc>
              <a:spcAft>
                <a:spcPts val="200"/>
              </a:spcAft>
            </a:pPr>
            <a:r>
              <a:rPr sz="1300">
                <a:solidFill>
                  <a:srgbClr val="333333"/>
                </a:solidFill>
                <a:latin typeface="Calibri"/>
              </a:rPr>
              <a:t>The actor outputs a single bounded scalar via a sigmoid activation followed by scaling — no clipping required.</a:t>
            </a:r>
          </a:p>
          <a:p>
            <a:pPr>
              <a:lnSpc>
                <a:spcPct val="115000"/>
              </a:lnSpc>
              <a:spcBef>
                <a:spcPts val="400"/>
              </a:spcBef>
              <a:spcAft>
                <a:spcPts val="200"/>
              </a:spcAft>
            </a:pPr>
            <a:r>
              <a:rPr sz="1400" b="1">
                <a:solidFill>
                  <a:srgbClr val="2C5F8D"/>
                </a:solidFill>
                <a:latin typeface="Calibri"/>
              </a:rPr>
              <a:t>Episode Structure</a:t>
            </a:r>
          </a:p>
          <a:p>
            <a:pPr>
              <a:lnSpc>
                <a:spcPct val="115000"/>
              </a:lnSpc>
              <a:spcAft>
                <a:spcPts val="200"/>
              </a:spcAft>
            </a:pPr>
            <a:r>
              <a:rPr sz="1300">
                <a:solidFill>
                  <a:srgbClr val="333333"/>
                </a:solidFill>
                <a:latin typeface="Calibri"/>
              </a:rPr>
              <a:t>• Episode length: 200 time steps (200 channel uses)</a:t>
            </a:r>
          </a:p>
          <a:p>
            <a:pPr>
              <a:lnSpc>
                <a:spcPct val="115000"/>
              </a:lnSpc>
              <a:spcAft>
                <a:spcPts val="200"/>
              </a:spcAft>
            </a:pPr>
            <a:r>
              <a:rPr sz="1300">
                <a:solidFill>
                  <a:srgbClr val="333333"/>
                </a:solidFill>
                <a:latin typeface="Calibri"/>
              </a:rPr>
              <a:t>• Training horizon: 1 500 – 3 500 episodes per algorithm (3 × 10⁵ – 7 × 10⁵ steps)</a:t>
            </a:r>
          </a:p>
          <a:p>
            <a:pPr>
              <a:lnSpc>
                <a:spcPct val="115000"/>
              </a:lnSpc>
              <a:spcAft>
                <a:spcPts val="200"/>
              </a:spcAft>
            </a:pPr>
            <a:r>
              <a:rPr sz="1300">
                <a:solidFill>
                  <a:srgbClr val="333333"/>
                </a:solidFill>
                <a:latin typeface="Calibri"/>
              </a:rPr>
              <a:t>• At t = 0 the channels and P_s(t−1) are reset and a new fading realisation begins.</a:t>
            </a:r>
          </a:p>
          <a:p>
            <a:pPr>
              <a:lnSpc>
                <a:spcPct val="115000"/>
              </a:lnSpc>
              <a:spcBef>
                <a:spcPts val="400"/>
              </a:spcBef>
              <a:spcAft>
                <a:spcPts val="200"/>
              </a:spcAft>
            </a:pPr>
            <a:r>
              <a:rPr sz="1400" b="1">
                <a:solidFill>
                  <a:srgbClr val="2C5F8D"/>
                </a:solidFill>
                <a:latin typeface="Calibri"/>
              </a:rPr>
              <a:t>Markov Property</a:t>
            </a:r>
          </a:p>
          <a:p>
            <a:pPr>
              <a:lnSpc>
                <a:spcPct val="115000"/>
              </a:lnSpc>
              <a:spcAft>
                <a:spcPts val="200"/>
              </a:spcAft>
            </a:pPr>
            <a:r>
              <a:rPr sz="1300">
                <a:solidFill>
                  <a:srgbClr val="333333"/>
                </a:solidFill>
                <a:latin typeface="Calibri"/>
              </a:rPr>
              <a:t>Channels are drawn i.i.d. per step ⇒ future state depends only on current state, satisfying the Markov property required by Q-learning theory.</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0"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0" y="2377440"/>
            <a:ext cx="5760720" cy="1097280"/>
          </a:xfrm>
          <a:prstGeom prst="rect">
            <a:avLst/>
          </a:prstGeom>
          <a:noFill/>
        </p:spPr>
        <p:txBody>
          <a:bodyPr wrap="square">
            <a:spAutoFit/>
          </a:bodyPr>
          <a:lstStyle/>
          <a:p>
            <a:r>
              <a:rPr sz="3600" b="1">
                <a:solidFill>
                  <a:srgbClr val="1A365D"/>
                </a:solidFill>
                <a:latin typeface="Calibri"/>
              </a:rPr>
              <a:t>Proposed Algorithm</a:t>
            </a:r>
          </a:p>
          <a:p>
            <a:r>
              <a:rPr sz="1600" i="1">
                <a:solidFill>
                  <a:srgbClr val="555555"/>
                </a:solidFill>
                <a:latin typeface="Calibri"/>
              </a:rPr>
              <a:t>From DDPG → TD3 → Proposed (CAMO-TD3)</a:t>
            </a:r>
          </a:p>
        </p:txBody>
      </p:sp>
      <p:sp>
        <p:nvSpPr>
          <p:cNvPr id="4" name="Rectangle 3"/>
          <p:cNvSpPr/>
          <p:nvPr/>
        </p:nvSpPr>
        <p:spPr>
          <a:xfrm>
            <a:off x="2788920" y="2377440"/>
            <a:ext cx="73152" cy="137160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365760"/>
            <a:ext cx="2286000" cy="457200"/>
          </a:xfrm>
          <a:prstGeom prst="rect">
            <a:avLst/>
          </a:prstGeom>
          <a:noFill/>
        </p:spPr>
        <p:txBody>
          <a:bodyPr wrap="none">
            <a:spAutoFit/>
          </a:bodyPr>
          <a:lstStyle/>
          <a:p>
            <a:r>
              <a:rPr sz="1100" i="1">
                <a:solidFill>
                  <a:srgbClr val="FFFFFF"/>
                </a:solidFill>
                <a:latin typeface="Calibri"/>
              </a:rPr>
              <a:t>SECTION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Algorithm Evolution — DDPG → TD3 → Proposed</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64008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We progressively addressed limitations of each baseline. The Proposed Algorithm (internally CAMO-TD3) is a constrained, adaptive, multi-objective extension of TD3.</a:t>
            </a:r>
          </a:p>
        </p:txBody>
      </p:sp>
      <p:sp>
        <p:nvSpPr>
          <p:cNvPr id="5" name="Rounded Rectangle 4"/>
          <p:cNvSpPr/>
          <p:nvPr/>
        </p:nvSpPr>
        <p:spPr>
          <a:xfrm>
            <a:off x="457200" y="1828800"/>
            <a:ext cx="2743200" cy="4206240"/>
          </a:xfrm>
          <a:prstGeom prst="roundRect">
            <a:avLst/>
          </a:prstGeom>
          <a:solidFill>
            <a:srgbClr val="F5F7FA"/>
          </a:solidFill>
          <a:ln w="25400">
            <a:solidFill>
              <a:srgbClr val="1A365D"/>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wrap="square"/>
          <a:lstStyle/>
          <a:p>
            <a:pPr algn="ctr"/>
            <a:r>
              <a:rPr sz="1600" b="1">
                <a:solidFill>
                  <a:srgbClr val="1A365D"/>
                </a:solidFill>
                <a:latin typeface="Calibri"/>
              </a:rPr>
              <a:t>DDPG</a:t>
            </a:r>
          </a:p>
          <a:p>
            <a:pPr algn="ctr">
              <a:spcAft>
                <a:spcPts val="800"/>
              </a:spcAft>
            </a:pPr>
            <a:r>
              <a:rPr sz="1200" b="1">
                <a:solidFill>
                  <a:srgbClr val="1A365D"/>
                </a:solidFill>
                <a:latin typeface="Calibri"/>
              </a:rPr>
              <a:t>(Baseline 1)</a:t>
            </a:r>
          </a:p>
          <a:p>
            <a:pPr>
              <a:lnSpc>
                <a:spcPct val="115000"/>
              </a:lnSpc>
              <a:spcAft>
                <a:spcPts val="300"/>
              </a:spcAft>
            </a:pPr>
            <a:r>
              <a:rPr sz="1100">
                <a:solidFill>
                  <a:srgbClr val="333333"/>
                </a:solidFill>
                <a:latin typeface="Calibri"/>
              </a:rPr>
              <a:t>• Single critic</a:t>
            </a:r>
          </a:p>
          <a:p>
            <a:pPr>
              <a:lnSpc>
                <a:spcPct val="115000"/>
              </a:lnSpc>
              <a:spcAft>
                <a:spcPts val="300"/>
              </a:spcAft>
            </a:pPr>
            <a:r>
              <a:rPr sz="1100">
                <a:solidFill>
                  <a:srgbClr val="333333"/>
                </a:solidFill>
                <a:latin typeface="Calibri"/>
              </a:rPr>
              <a:t>• Symmetric OU noise</a:t>
            </a:r>
          </a:p>
          <a:p>
            <a:pPr>
              <a:lnSpc>
                <a:spcPct val="115000"/>
              </a:lnSpc>
              <a:spcAft>
                <a:spcPts val="300"/>
              </a:spcAft>
            </a:pPr>
            <a:r>
              <a:rPr sz="1100">
                <a:solidFill>
                  <a:srgbClr val="333333"/>
                </a:solidFill>
                <a:latin typeface="Calibri"/>
              </a:rPr>
              <a:t>• Actor updated every step</a:t>
            </a:r>
          </a:p>
          <a:p>
            <a:pPr>
              <a:lnSpc>
                <a:spcPct val="115000"/>
              </a:lnSpc>
              <a:spcAft>
                <a:spcPts val="300"/>
              </a:spcAft>
            </a:pPr>
            <a:r>
              <a:rPr sz="1100">
                <a:solidFill>
                  <a:srgbClr val="333333"/>
                </a:solidFill>
                <a:latin typeface="Calibri"/>
              </a:rPr>
              <a:t>• Memoryless 7-D state</a:t>
            </a:r>
          </a:p>
          <a:p>
            <a:pPr>
              <a:lnSpc>
                <a:spcPct val="115000"/>
              </a:lnSpc>
              <a:spcAft>
                <a:spcPts val="300"/>
              </a:spcAft>
            </a:pPr>
            <a:r>
              <a:rPr sz="1100">
                <a:solidFill>
                  <a:srgbClr val="333333"/>
                </a:solidFill>
                <a:latin typeface="Calibri"/>
              </a:rPr>
              <a:t>• Suffers from Q-value overestimation</a:t>
            </a:r>
          </a:p>
          <a:p>
            <a:pPr>
              <a:lnSpc>
                <a:spcPct val="115000"/>
              </a:lnSpc>
              <a:spcAft>
                <a:spcPts val="300"/>
              </a:spcAft>
            </a:pPr>
            <a:r>
              <a:rPr sz="1100">
                <a:solidFill>
                  <a:srgbClr val="333333"/>
                </a:solidFill>
                <a:latin typeface="Calibri"/>
              </a:rPr>
              <a:t>• → noisy training, often unstable on Nakagami-m=3</a:t>
            </a:r>
          </a:p>
        </p:txBody>
      </p:sp>
      <p:sp>
        <p:nvSpPr>
          <p:cNvPr id="6" name="Rounded Rectangle 5"/>
          <p:cNvSpPr/>
          <p:nvPr/>
        </p:nvSpPr>
        <p:spPr>
          <a:xfrm>
            <a:off x="3337560" y="1828800"/>
            <a:ext cx="2743200" cy="4206240"/>
          </a:xfrm>
          <a:prstGeom prst="roundRect">
            <a:avLst/>
          </a:prstGeom>
          <a:solidFill>
            <a:srgbClr val="F5F7FA"/>
          </a:solidFill>
          <a:ln w="25400">
            <a:solidFill>
              <a:srgbClr val="2C5F8D"/>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wrap="square"/>
          <a:lstStyle/>
          <a:p>
            <a:pPr algn="ctr"/>
            <a:r>
              <a:rPr sz="1600" b="1">
                <a:solidFill>
                  <a:srgbClr val="2C5F8D"/>
                </a:solidFill>
                <a:latin typeface="Calibri"/>
              </a:rPr>
              <a:t>TD3</a:t>
            </a:r>
          </a:p>
          <a:p>
            <a:pPr algn="ctr">
              <a:spcAft>
                <a:spcPts val="800"/>
              </a:spcAft>
            </a:pPr>
            <a:r>
              <a:rPr sz="1200" b="1">
                <a:solidFill>
                  <a:srgbClr val="2C5F8D"/>
                </a:solidFill>
                <a:latin typeface="Calibri"/>
              </a:rPr>
              <a:t>(Baseline 2)</a:t>
            </a:r>
          </a:p>
          <a:p>
            <a:pPr>
              <a:lnSpc>
                <a:spcPct val="115000"/>
              </a:lnSpc>
              <a:spcAft>
                <a:spcPts val="300"/>
              </a:spcAft>
            </a:pPr>
            <a:r>
              <a:rPr sz="1100">
                <a:solidFill>
                  <a:srgbClr val="333333"/>
                </a:solidFill>
                <a:latin typeface="Calibri"/>
              </a:rPr>
              <a:t>• Twin critics → take min of Q1, Q2</a:t>
            </a:r>
          </a:p>
          <a:p>
            <a:pPr>
              <a:lnSpc>
                <a:spcPct val="115000"/>
              </a:lnSpc>
              <a:spcAft>
                <a:spcPts val="300"/>
              </a:spcAft>
            </a:pPr>
            <a:r>
              <a:rPr sz="1100">
                <a:solidFill>
                  <a:srgbClr val="333333"/>
                </a:solidFill>
                <a:latin typeface="Calibri"/>
              </a:rPr>
              <a:t>• Delayed policy updates (every 2 critic steps)</a:t>
            </a:r>
          </a:p>
          <a:p>
            <a:pPr>
              <a:lnSpc>
                <a:spcPct val="115000"/>
              </a:lnSpc>
              <a:spcAft>
                <a:spcPts val="300"/>
              </a:spcAft>
            </a:pPr>
            <a:r>
              <a:rPr sz="1100">
                <a:solidFill>
                  <a:srgbClr val="333333"/>
                </a:solidFill>
                <a:latin typeface="Calibri"/>
              </a:rPr>
              <a:t>• Target policy smoothing (clipped Gaussian noise)</a:t>
            </a:r>
          </a:p>
          <a:p>
            <a:pPr>
              <a:lnSpc>
                <a:spcPct val="115000"/>
              </a:lnSpc>
              <a:spcAft>
                <a:spcPts val="300"/>
              </a:spcAft>
            </a:pPr>
            <a:r>
              <a:rPr sz="1100">
                <a:solidFill>
                  <a:srgbClr val="333333"/>
                </a:solidFill>
                <a:latin typeface="Calibri"/>
              </a:rPr>
              <a:t>• Polyak target updates (τ = 0.005)</a:t>
            </a:r>
          </a:p>
          <a:p>
            <a:pPr>
              <a:lnSpc>
                <a:spcPct val="115000"/>
              </a:lnSpc>
              <a:spcAft>
                <a:spcPts val="300"/>
              </a:spcAft>
            </a:pPr>
            <a:r>
              <a:rPr sz="1100">
                <a:solidFill>
                  <a:srgbClr val="333333"/>
                </a:solidFill>
                <a:latin typeface="Calibri"/>
              </a:rPr>
              <a:t>• Reduces overestimation bias</a:t>
            </a:r>
          </a:p>
          <a:p>
            <a:pPr>
              <a:lnSpc>
                <a:spcPct val="115000"/>
              </a:lnSpc>
              <a:spcAft>
                <a:spcPts val="300"/>
              </a:spcAft>
            </a:pPr>
            <a:r>
              <a:rPr sz="1100">
                <a:solidFill>
                  <a:srgbClr val="333333"/>
                </a:solidFill>
                <a:latin typeface="Calibri"/>
              </a:rPr>
              <a:t>• → stronger, more stable than DDPG but still scalar reward</a:t>
            </a:r>
          </a:p>
        </p:txBody>
      </p:sp>
      <p:sp>
        <p:nvSpPr>
          <p:cNvPr id="7" name="Rounded Rectangle 6"/>
          <p:cNvSpPr/>
          <p:nvPr/>
        </p:nvSpPr>
        <p:spPr>
          <a:xfrm>
            <a:off x="6217920" y="1828800"/>
            <a:ext cx="2743200" cy="4206240"/>
          </a:xfrm>
          <a:prstGeom prst="roundRect">
            <a:avLst/>
          </a:prstGeom>
          <a:solidFill>
            <a:srgbClr val="F5F7FA"/>
          </a:solidFill>
          <a:ln w="25400">
            <a:solidFill>
              <a:srgbClr val="0B7A75"/>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wrap="square"/>
          <a:lstStyle/>
          <a:p>
            <a:pPr algn="ctr"/>
            <a:r>
              <a:rPr sz="1600" b="1">
                <a:solidFill>
                  <a:srgbClr val="0B7A75"/>
                </a:solidFill>
                <a:latin typeface="Calibri"/>
              </a:rPr>
              <a:t>Proposed Algorithm</a:t>
            </a:r>
          </a:p>
          <a:p>
            <a:pPr algn="ctr">
              <a:spcAft>
                <a:spcPts val="800"/>
              </a:spcAft>
            </a:pPr>
            <a:r>
              <a:rPr sz="1200" b="1">
                <a:solidFill>
                  <a:srgbClr val="0B7A75"/>
                </a:solidFill>
                <a:latin typeface="Calibri"/>
              </a:rPr>
              <a:t>(CAMO-TD3)</a:t>
            </a:r>
          </a:p>
          <a:p>
            <a:pPr>
              <a:lnSpc>
                <a:spcPct val="115000"/>
              </a:lnSpc>
              <a:spcAft>
                <a:spcPts val="300"/>
              </a:spcAft>
            </a:pPr>
            <a:r>
              <a:rPr sz="1100">
                <a:solidFill>
                  <a:srgbClr val="333333"/>
                </a:solidFill>
                <a:latin typeface="Calibri"/>
              </a:rPr>
              <a:t>• GRU belief encoder — 8-step history</a:t>
            </a:r>
          </a:p>
          <a:p>
            <a:pPr>
              <a:lnSpc>
                <a:spcPct val="115000"/>
              </a:lnSpc>
              <a:spcAft>
                <a:spcPts val="300"/>
              </a:spcAft>
            </a:pPr>
            <a:r>
              <a:rPr sz="1100">
                <a:solidFill>
                  <a:srgbClr val="333333"/>
                </a:solidFill>
                <a:latin typeface="Calibri"/>
              </a:rPr>
              <a:t>• Decomposed multi-objective critics (6 critics)</a:t>
            </a:r>
          </a:p>
          <a:p>
            <a:pPr>
              <a:lnSpc>
                <a:spcPct val="115000"/>
              </a:lnSpc>
              <a:spcAft>
                <a:spcPts val="300"/>
              </a:spcAft>
            </a:pPr>
            <a:r>
              <a:rPr sz="1100">
                <a:solidFill>
                  <a:srgbClr val="333333"/>
                </a:solidFill>
                <a:latin typeface="Calibri"/>
              </a:rPr>
              <a:t>• Adaptive Lagrangian weights (λ₁, λ₂, λ₃)</a:t>
            </a:r>
          </a:p>
          <a:p>
            <a:pPr>
              <a:lnSpc>
                <a:spcPct val="115000"/>
              </a:lnSpc>
              <a:spcAft>
                <a:spcPts val="300"/>
              </a:spcAft>
            </a:pPr>
            <a:r>
              <a:rPr sz="1100">
                <a:solidFill>
                  <a:srgbClr val="333333"/>
                </a:solidFill>
                <a:latin typeface="Calibri"/>
              </a:rPr>
              <a:t>• Directional exploration noise (safe bias)</a:t>
            </a:r>
          </a:p>
          <a:p>
            <a:pPr>
              <a:lnSpc>
                <a:spcPct val="115000"/>
              </a:lnSpc>
              <a:spcAft>
                <a:spcPts val="300"/>
              </a:spcAft>
            </a:pPr>
            <a:r>
              <a:rPr sz="1100">
                <a:solidFill>
                  <a:srgbClr val="333333"/>
                </a:solidFill>
                <a:latin typeface="Calibri"/>
              </a:rPr>
              <a:t>• Explicit constrained optimisation framework</a:t>
            </a:r>
          </a:p>
          <a:p>
            <a:pPr>
              <a:lnSpc>
                <a:spcPct val="115000"/>
              </a:lnSpc>
              <a:spcAft>
                <a:spcPts val="300"/>
              </a:spcAft>
            </a:pPr>
            <a:r>
              <a:rPr sz="1100">
                <a:solidFill>
                  <a:srgbClr val="333333"/>
                </a:solidFill>
                <a:latin typeface="Calibri"/>
              </a:rPr>
              <a:t>• → better PU protection without losing SU throughput</a:t>
            </a:r>
          </a:p>
        </p:txBody>
      </p:sp>
      <p:sp>
        <p:nvSpPr>
          <p:cNvPr id="8" name="Right Arrow 7"/>
          <p:cNvSpPr/>
          <p:nvPr/>
        </p:nvSpPr>
        <p:spPr>
          <a:xfrm>
            <a:off x="3200400" y="3657600"/>
            <a:ext cx="164592" cy="457200"/>
          </a:xfrm>
          <a:prstGeom prst="rightArrow">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6080760" y="3657600"/>
            <a:ext cx="164592" cy="457200"/>
          </a:xfrm>
          <a:prstGeom prst="rightArrow">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172200"/>
            <a:ext cx="8229600" cy="36576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Each subsequent algorithm directly addresses a specific failure mode of the previous one.</a:t>
            </a:r>
          </a:p>
        </p:txBody>
      </p:sp>
      <p:sp>
        <p:nvSpPr>
          <p:cNvPr id="11" name="TextBox 10"/>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600" b="1">
                <a:solidFill>
                  <a:srgbClr val="1A365D"/>
                </a:solidFill>
                <a:latin typeface="Calibri"/>
              </a:rPr>
              <a:t>Background — DDPG (Deep Deterministic Policy Gradient)</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493776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Core Idea</a:t>
            </a:r>
          </a:p>
          <a:p>
            <a:pPr>
              <a:lnSpc>
                <a:spcPct val="115000"/>
              </a:lnSpc>
              <a:spcAft>
                <a:spcPts val="200"/>
              </a:spcAft>
            </a:pPr>
            <a:r>
              <a:rPr sz="1300">
                <a:solidFill>
                  <a:srgbClr val="333333"/>
                </a:solidFill>
                <a:latin typeface="Calibri"/>
              </a:rPr>
              <a:t>DDPG (Lillicrap et al., 2015) is an actor-critic algorithm for continuous-action MDPs. It pairs a deterministic policy π_φ(s) with a Q-function critic Q_θ(s, a).</a:t>
            </a:r>
          </a:p>
          <a:p>
            <a:pPr>
              <a:lnSpc>
                <a:spcPct val="115000"/>
              </a:lnSpc>
              <a:spcBef>
                <a:spcPts val="400"/>
              </a:spcBef>
              <a:spcAft>
                <a:spcPts val="200"/>
              </a:spcAft>
            </a:pPr>
            <a:r>
              <a:rPr sz="1400" b="1">
                <a:solidFill>
                  <a:srgbClr val="2C5F8D"/>
                </a:solidFill>
                <a:latin typeface="Calibri"/>
              </a:rPr>
              <a:t>Update Equations</a:t>
            </a:r>
          </a:p>
          <a:p>
            <a:pPr algn="l">
              <a:lnSpc>
                <a:spcPct val="115000"/>
              </a:lnSpc>
              <a:spcBef>
                <a:spcPts val="200"/>
              </a:spcBef>
              <a:spcAft>
                <a:spcPts val="400"/>
              </a:spcAft>
            </a:pPr>
            <a:r>
              <a:rPr sz="1300" i="0">
                <a:solidFill>
                  <a:srgbClr val="1A365D"/>
                </a:solidFill>
                <a:latin typeface="Cambria Math"/>
              </a:rPr>
              <a:t>Critic :  L(θ) = E[ (Q_θ(s,a) − y)² ],  y = r + γ Q_θ′(s′, π_φ′(s′))</a:t>
            </a:r>
          </a:p>
          <a:p>
            <a:pPr algn="l">
              <a:lnSpc>
                <a:spcPct val="115000"/>
              </a:lnSpc>
              <a:spcBef>
                <a:spcPts val="200"/>
              </a:spcBef>
              <a:spcAft>
                <a:spcPts val="400"/>
              </a:spcAft>
            </a:pPr>
            <a:r>
              <a:rPr sz="1300" i="0">
                <a:solidFill>
                  <a:srgbClr val="1A365D"/>
                </a:solidFill>
                <a:latin typeface="Cambria Math"/>
              </a:rPr>
              <a:t>Actor  :  ∇_φ J ≈ E[ ∇_a Q_θ(s,a)|_{a=π_φ(s)} · ∇_φ π_φ(s) ]</a:t>
            </a:r>
          </a:p>
          <a:p>
            <a:pPr algn="l">
              <a:lnSpc>
                <a:spcPct val="115000"/>
              </a:lnSpc>
              <a:spcBef>
                <a:spcPts val="200"/>
              </a:spcBef>
              <a:spcAft>
                <a:spcPts val="400"/>
              </a:spcAft>
            </a:pPr>
            <a:r>
              <a:rPr sz="1300" i="0">
                <a:solidFill>
                  <a:srgbClr val="1A365D"/>
                </a:solidFill>
                <a:latin typeface="Cambria Math"/>
              </a:rPr>
              <a:t>Targets:  θ′ ← τθ + (1−τ)θ′,    φ′ ← τφ + (1−τ)φ′</a:t>
            </a:r>
          </a:p>
          <a:p>
            <a:pPr>
              <a:lnSpc>
                <a:spcPct val="115000"/>
              </a:lnSpc>
              <a:spcBef>
                <a:spcPts val="400"/>
              </a:spcBef>
              <a:spcAft>
                <a:spcPts val="200"/>
              </a:spcAft>
            </a:pPr>
            <a:r>
              <a:rPr sz="1400" b="1">
                <a:solidFill>
                  <a:srgbClr val="2C5F8D"/>
                </a:solidFill>
                <a:latin typeface="Calibri"/>
              </a:rPr>
              <a:t>Exploration</a:t>
            </a:r>
          </a:p>
          <a:p>
            <a:pPr>
              <a:lnSpc>
                <a:spcPct val="115000"/>
              </a:lnSpc>
              <a:spcAft>
                <a:spcPts val="200"/>
              </a:spcAft>
            </a:pPr>
            <a:r>
              <a:rPr sz="1300">
                <a:solidFill>
                  <a:srgbClr val="333333"/>
                </a:solidFill>
                <a:latin typeface="Calibri"/>
              </a:rPr>
              <a:t>Ornstein–Uhlenbeck noise — temporally correlated for momentum-rich exploration:</a:t>
            </a:r>
          </a:p>
          <a:p>
            <a:pPr algn="l">
              <a:lnSpc>
                <a:spcPct val="115000"/>
              </a:lnSpc>
              <a:spcBef>
                <a:spcPts val="200"/>
              </a:spcBef>
              <a:spcAft>
                <a:spcPts val="400"/>
              </a:spcAft>
            </a:pPr>
            <a:r>
              <a:rPr sz="1300" i="0">
                <a:solidFill>
                  <a:srgbClr val="1A365D"/>
                </a:solidFill>
                <a:latin typeface="Cambria Math"/>
              </a:rPr>
              <a:t>dx_t = θ(μ − x_t) dt + σ dW_t</a:t>
            </a:r>
          </a:p>
        </p:txBody>
      </p:sp>
      <p:sp>
        <p:nvSpPr>
          <p:cNvPr id="5" name="TextBox 4"/>
          <p:cNvSpPr txBox="1"/>
          <p:nvPr/>
        </p:nvSpPr>
        <p:spPr>
          <a:xfrm>
            <a:off x="5577840" y="1097280"/>
            <a:ext cx="329184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Limitations Observed in CRN</a:t>
            </a:r>
          </a:p>
          <a:p>
            <a:pPr>
              <a:lnSpc>
                <a:spcPct val="115000"/>
              </a:lnSpc>
              <a:spcAft>
                <a:spcPts val="200"/>
              </a:spcAft>
            </a:pPr>
            <a:r>
              <a:rPr sz="1300">
                <a:solidFill>
                  <a:srgbClr val="333333"/>
                </a:solidFill>
                <a:latin typeface="Calibri"/>
              </a:rPr>
              <a:t>• Single critic suffers from Q-value overestimation → unstable updates.</a:t>
            </a:r>
          </a:p>
          <a:p>
            <a:pPr>
              <a:lnSpc>
                <a:spcPct val="115000"/>
              </a:lnSpc>
              <a:spcAft>
                <a:spcPts val="200"/>
              </a:spcAft>
            </a:pPr>
            <a:r>
              <a:rPr sz="1300">
                <a:solidFill>
                  <a:srgbClr val="333333"/>
                </a:solidFill>
                <a:latin typeface="Calibri"/>
              </a:rPr>
              <a:t>• OU noise occasionally drives Pₛ to extreme values → high outage early in training.</a:t>
            </a:r>
          </a:p>
          <a:p>
            <a:pPr>
              <a:lnSpc>
                <a:spcPct val="115000"/>
              </a:lnSpc>
              <a:spcAft>
                <a:spcPts val="200"/>
              </a:spcAft>
            </a:pPr>
            <a:r>
              <a:rPr sz="1300">
                <a:solidFill>
                  <a:srgbClr val="333333"/>
                </a:solidFill>
                <a:latin typeface="Calibri"/>
              </a:rPr>
              <a:t>• No mechanism to enforce constraint — relies on penalty term in reward.</a:t>
            </a:r>
          </a:p>
          <a:p>
            <a:pPr>
              <a:lnSpc>
                <a:spcPct val="115000"/>
              </a:lnSpc>
              <a:spcAft>
                <a:spcPts val="200"/>
              </a:spcAft>
            </a:pPr>
            <a:r>
              <a:rPr sz="1300">
                <a:solidFill>
                  <a:srgbClr val="333333"/>
                </a:solidFill>
                <a:latin typeface="Calibri"/>
              </a:rPr>
              <a:t>• Sensitive to learning rate and weight choice (α, β, γ).</a:t>
            </a:r>
          </a:p>
          <a:p>
            <a:pPr>
              <a:lnSpc>
                <a:spcPct val="115000"/>
              </a:lnSpc>
              <a:spcBef>
                <a:spcPts val="400"/>
              </a:spcBef>
              <a:spcAft>
                <a:spcPts val="200"/>
              </a:spcAft>
            </a:pPr>
            <a:r>
              <a:rPr sz="1400" b="1">
                <a:solidFill>
                  <a:srgbClr val="2C5F8D"/>
                </a:solidFill>
                <a:latin typeface="Calibri"/>
              </a:rPr>
              <a:t>Inference</a:t>
            </a:r>
          </a:p>
          <a:p>
            <a:pPr>
              <a:lnSpc>
                <a:spcPct val="115000"/>
              </a:lnSpc>
              <a:spcAft>
                <a:spcPts val="200"/>
              </a:spcAft>
            </a:pPr>
            <a:r>
              <a:rPr sz="1300">
                <a:solidFill>
                  <a:srgbClr val="333333"/>
                </a:solidFill>
                <a:latin typeface="Calibri"/>
              </a:rPr>
              <a:t>DDPG is a valid baseline but its instability under Nakagami-m fading motivated the move to TD3.</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600" b="1">
                <a:solidFill>
                  <a:srgbClr val="1A365D"/>
                </a:solidFill>
                <a:latin typeface="Calibri"/>
              </a:rPr>
              <a:t>TD3 — Twin Delayed Deep Deterministic Policy Gradient</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493776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Three Key Tricks (Fujimoto et al., 2018)</a:t>
            </a:r>
          </a:p>
          <a:p>
            <a:pPr>
              <a:lnSpc>
                <a:spcPct val="115000"/>
              </a:lnSpc>
              <a:spcAft>
                <a:spcPts val="200"/>
              </a:spcAft>
            </a:pPr>
            <a:r>
              <a:rPr sz="1300" b="1">
                <a:solidFill>
                  <a:srgbClr val="1A365D"/>
                </a:solidFill>
                <a:latin typeface="Calibri"/>
              </a:rPr>
              <a:t>• 1. Twin critics —</a:t>
            </a:r>
            <a:r>
              <a:rPr sz="1300">
                <a:solidFill>
                  <a:srgbClr val="333333"/>
                </a:solidFill>
                <a:latin typeface="Calibri"/>
              </a:rPr>
              <a:t> two independent Q-networks; use the smaller of the two for the target.</a:t>
            </a:r>
          </a:p>
          <a:p>
            <a:pPr>
              <a:lnSpc>
                <a:spcPct val="115000"/>
              </a:lnSpc>
              <a:spcAft>
                <a:spcPts val="200"/>
              </a:spcAft>
            </a:pPr>
            <a:r>
              <a:rPr sz="1300" b="1">
                <a:solidFill>
                  <a:srgbClr val="1A365D"/>
                </a:solidFill>
                <a:latin typeface="Calibri"/>
              </a:rPr>
              <a:t>• 2. Delayed policy updates —</a:t>
            </a:r>
            <a:r>
              <a:rPr sz="1300">
                <a:solidFill>
                  <a:srgbClr val="333333"/>
                </a:solidFill>
                <a:latin typeface="Calibri"/>
              </a:rPr>
              <a:t> actor is updated every d = 2 critic steps.</a:t>
            </a:r>
          </a:p>
          <a:p>
            <a:pPr>
              <a:lnSpc>
                <a:spcPct val="115000"/>
              </a:lnSpc>
              <a:spcAft>
                <a:spcPts val="200"/>
              </a:spcAft>
            </a:pPr>
            <a:r>
              <a:rPr sz="1300" b="1">
                <a:solidFill>
                  <a:srgbClr val="1A365D"/>
                </a:solidFill>
                <a:latin typeface="Calibri"/>
              </a:rPr>
              <a:t>• 3. Target policy smoothing —</a:t>
            </a:r>
            <a:r>
              <a:rPr sz="1300">
                <a:solidFill>
                  <a:srgbClr val="333333"/>
                </a:solidFill>
                <a:latin typeface="Calibri"/>
              </a:rPr>
              <a:t> add clipped Gaussian noise ε to the target action a′.</a:t>
            </a:r>
          </a:p>
          <a:p>
            <a:pPr>
              <a:lnSpc>
                <a:spcPct val="115000"/>
              </a:lnSpc>
              <a:spcBef>
                <a:spcPts val="400"/>
              </a:spcBef>
              <a:spcAft>
                <a:spcPts val="200"/>
              </a:spcAft>
            </a:pPr>
            <a:r>
              <a:rPr sz="1400" b="1">
                <a:solidFill>
                  <a:srgbClr val="2C5F8D"/>
                </a:solidFill>
                <a:latin typeface="Calibri"/>
              </a:rPr>
              <a:t>Update Equations</a:t>
            </a:r>
          </a:p>
          <a:p>
            <a:pPr algn="l">
              <a:lnSpc>
                <a:spcPct val="115000"/>
              </a:lnSpc>
              <a:spcBef>
                <a:spcPts val="200"/>
              </a:spcBef>
              <a:spcAft>
                <a:spcPts val="400"/>
              </a:spcAft>
            </a:pPr>
            <a:r>
              <a:rPr sz="1300" i="0">
                <a:solidFill>
                  <a:srgbClr val="1A365D"/>
                </a:solidFill>
                <a:latin typeface="Cambria Math"/>
              </a:rPr>
              <a:t>a′  =  clip( π_φ′(s′) + ε, 0, P_max ),   ε ~ clip( N(0, σ²), −c, +c )</a:t>
            </a:r>
          </a:p>
          <a:p>
            <a:pPr algn="l">
              <a:lnSpc>
                <a:spcPct val="115000"/>
              </a:lnSpc>
              <a:spcBef>
                <a:spcPts val="200"/>
              </a:spcBef>
              <a:spcAft>
                <a:spcPts val="400"/>
              </a:spcAft>
            </a:pPr>
            <a:r>
              <a:rPr sz="1300" i="0">
                <a:solidFill>
                  <a:srgbClr val="1A365D"/>
                </a:solidFill>
                <a:latin typeface="Cambria Math"/>
              </a:rPr>
              <a:t>y   =  r  +  γ ·  min_{i=1,2}  Q_{θ_i′}( s′, a′ )</a:t>
            </a:r>
          </a:p>
          <a:p>
            <a:pPr algn="l">
              <a:lnSpc>
                <a:spcPct val="115000"/>
              </a:lnSpc>
              <a:spcBef>
                <a:spcPts val="200"/>
              </a:spcBef>
              <a:spcAft>
                <a:spcPts val="400"/>
              </a:spcAft>
            </a:pPr>
            <a:r>
              <a:rPr sz="1300" i="0">
                <a:solidFill>
                  <a:srgbClr val="1A365D"/>
                </a:solidFill>
                <a:latin typeface="Cambria Math"/>
              </a:rPr>
              <a:t>L(θ_i)  =  E [ ( Q_{θ_i}(s, a) − y )² ]</a:t>
            </a:r>
          </a:p>
          <a:p>
            <a:pPr algn="l">
              <a:lnSpc>
                <a:spcPct val="115000"/>
              </a:lnSpc>
              <a:spcBef>
                <a:spcPts val="200"/>
              </a:spcBef>
              <a:spcAft>
                <a:spcPts val="400"/>
              </a:spcAft>
            </a:pPr>
            <a:r>
              <a:rPr sz="1300" i="0">
                <a:solidFill>
                  <a:srgbClr val="1A365D"/>
                </a:solidFill>
                <a:latin typeface="Cambria Math"/>
              </a:rPr>
              <a:t>∇_φ J  ≈  E [ ∇_a  Q_{θ_1}(s, a) |_{a = π_φ(s)} · ∇_φ π_φ(s) ]</a:t>
            </a:r>
          </a:p>
        </p:txBody>
      </p:sp>
      <p:sp>
        <p:nvSpPr>
          <p:cNvPr id="5" name="TextBox 4"/>
          <p:cNvSpPr txBox="1"/>
          <p:nvPr/>
        </p:nvSpPr>
        <p:spPr>
          <a:xfrm>
            <a:off x="5577840" y="1097280"/>
            <a:ext cx="329184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Why TD3 Beats DDPG Here</a:t>
            </a:r>
          </a:p>
          <a:p>
            <a:pPr>
              <a:lnSpc>
                <a:spcPct val="115000"/>
              </a:lnSpc>
              <a:spcAft>
                <a:spcPts val="200"/>
              </a:spcAft>
            </a:pPr>
            <a:r>
              <a:rPr sz="1300">
                <a:solidFill>
                  <a:srgbClr val="333333"/>
                </a:solidFill>
                <a:latin typeface="Calibri"/>
              </a:rPr>
              <a:t>• min(Q₁, Q₂) eliminates the systematic positive bias of DDPG.</a:t>
            </a:r>
          </a:p>
          <a:p>
            <a:pPr>
              <a:lnSpc>
                <a:spcPct val="115000"/>
              </a:lnSpc>
              <a:spcAft>
                <a:spcPts val="200"/>
              </a:spcAft>
            </a:pPr>
            <a:r>
              <a:rPr sz="1300">
                <a:solidFill>
                  <a:srgbClr val="333333"/>
                </a:solidFill>
                <a:latin typeface="Calibri"/>
              </a:rPr>
              <a:t>• Delayed actor updates → fewer noisy gradients.</a:t>
            </a:r>
          </a:p>
          <a:p>
            <a:pPr>
              <a:lnSpc>
                <a:spcPct val="115000"/>
              </a:lnSpc>
              <a:spcAft>
                <a:spcPts val="200"/>
              </a:spcAft>
            </a:pPr>
            <a:r>
              <a:rPr sz="1300">
                <a:solidFill>
                  <a:srgbClr val="333333"/>
                </a:solidFill>
                <a:latin typeface="Calibri"/>
              </a:rPr>
              <a:t>• Smoothing noise → robustness to function-approximation error.</a:t>
            </a:r>
          </a:p>
          <a:p>
            <a:pPr>
              <a:lnSpc>
                <a:spcPct val="115000"/>
              </a:lnSpc>
              <a:spcBef>
                <a:spcPts val="400"/>
              </a:spcBef>
              <a:spcAft>
                <a:spcPts val="200"/>
              </a:spcAft>
            </a:pPr>
            <a:r>
              <a:rPr sz="1400" b="1">
                <a:solidFill>
                  <a:srgbClr val="2C5F8D"/>
                </a:solidFill>
                <a:latin typeface="Calibri"/>
              </a:rPr>
              <a:t>Remaining Limitations</a:t>
            </a:r>
          </a:p>
          <a:p>
            <a:pPr>
              <a:lnSpc>
                <a:spcPct val="115000"/>
              </a:lnSpc>
              <a:spcAft>
                <a:spcPts val="200"/>
              </a:spcAft>
            </a:pPr>
            <a:r>
              <a:rPr sz="1300">
                <a:solidFill>
                  <a:srgbClr val="333333"/>
                </a:solidFill>
                <a:latin typeface="Calibri"/>
              </a:rPr>
              <a:t>• Still scalar reward — α, β, γ_e are fixed hyper-parameters.</a:t>
            </a:r>
          </a:p>
          <a:p>
            <a:pPr>
              <a:lnSpc>
                <a:spcPct val="115000"/>
              </a:lnSpc>
              <a:spcAft>
                <a:spcPts val="200"/>
              </a:spcAft>
            </a:pPr>
            <a:r>
              <a:rPr sz="1300">
                <a:solidFill>
                  <a:srgbClr val="333333"/>
                </a:solidFill>
                <a:latin typeface="Calibri"/>
              </a:rPr>
              <a:t>• Cannot guarantee constraint satisfaction (only soft penalty).</a:t>
            </a:r>
          </a:p>
          <a:p>
            <a:pPr>
              <a:lnSpc>
                <a:spcPct val="115000"/>
              </a:lnSpc>
              <a:spcAft>
                <a:spcPts val="200"/>
              </a:spcAft>
            </a:pPr>
            <a:r>
              <a:rPr sz="1300">
                <a:solidFill>
                  <a:srgbClr val="333333"/>
                </a:solidFill>
                <a:latin typeface="Calibri"/>
              </a:rPr>
              <a:t>• Memoryless 7-D state — ignores temporal fading correlations.</a:t>
            </a:r>
          </a:p>
          <a:p>
            <a:pPr>
              <a:lnSpc>
                <a:spcPct val="115000"/>
              </a:lnSpc>
              <a:spcAft>
                <a:spcPts val="200"/>
              </a:spcAft>
            </a:pPr>
            <a:r>
              <a:rPr sz="1300">
                <a:solidFill>
                  <a:srgbClr val="333333"/>
                </a:solidFill>
                <a:latin typeface="Calibri"/>
              </a:rPr>
              <a:t>• Symmetric exploration noise wastes time on unsafe actions.</a:t>
            </a:r>
          </a:p>
          <a:p>
            <a:pPr>
              <a:lnSpc>
                <a:spcPct val="115000"/>
              </a:lnSpc>
              <a:spcBef>
                <a:spcPts val="400"/>
              </a:spcBef>
              <a:spcAft>
                <a:spcPts val="200"/>
              </a:spcAft>
            </a:pPr>
            <a:r>
              <a:rPr sz="1400" b="1">
                <a:solidFill>
                  <a:srgbClr val="2C5F8D"/>
                </a:solidFill>
                <a:latin typeface="Calibri"/>
              </a:rPr>
              <a:t>Inference</a:t>
            </a:r>
          </a:p>
          <a:p>
            <a:pPr>
              <a:lnSpc>
                <a:spcPct val="115000"/>
              </a:lnSpc>
              <a:spcAft>
                <a:spcPts val="200"/>
              </a:spcAft>
            </a:pPr>
            <a:r>
              <a:rPr sz="1300">
                <a:solidFill>
                  <a:srgbClr val="333333"/>
                </a:solidFill>
                <a:latin typeface="Calibri"/>
              </a:rPr>
              <a:t>TD3 gave us stable convergence and good throughput, but constraint adherence remained weight-dependent.</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Proposed Algorithm — Overview</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82296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The Proposed Algorithm (CAMO-TD3 — Constrained Adaptive Multi-Objective TD3) modifies the standard TD3 in four orthogonal ways to specifically address the CRN power-control problem.</a:t>
            </a:r>
          </a:p>
        </p:txBody>
      </p:sp>
      <p:sp>
        <p:nvSpPr>
          <p:cNvPr id="5" name="Rounded Rectangle 4"/>
          <p:cNvSpPr/>
          <p:nvPr/>
        </p:nvSpPr>
        <p:spPr>
          <a:xfrm>
            <a:off x="457200" y="2011680"/>
            <a:ext cx="4023360" cy="2194560"/>
          </a:xfrm>
          <a:prstGeom prst="roundRect">
            <a:avLst/>
          </a:prstGeom>
          <a:solidFill>
            <a:srgbClr val="F5F7FA"/>
          </a:solidFill>
          <a:ln w="19050">
            <a:solidFill>
              <a:srgbClr val="0B7A75"/>
            </a:solidFill>
          </a:ln>
          <a:effectLst/>
        </p:spPr>
        <p:style>
          <a:lnRef idx="1">
            <a:schemeClr val="accent1"/>
          </a:lnRef>
          <a:fillRef idx="3">
            <a:schemeClr val="accent1"/>
          </a:fillRef>
          <a:effectRef idx="2">
            <a:schemeClr val="accent1"/>
          </a:effectRef>
          <a:fontRef idx="minor">
            <a:schemeClr val="lt1"/>
          </a:fontRef>
        </p:style>
        <p:txBody>
          <a:bodyPr rtlCol="0" anchor="t" lIns="164592" rIns="164592" tIns="164592" wrap="square"/>
          <a:lstStyle/>
          <a:p>
            <a:pPr algn="ctr"/>
            <a:r>
              <a:rPr sz="1600" b="1">
                <a:solidFill>
                  <a:srgbClr val="0B7A75"/>
                </a:solidFill>
                <a:latin typeface="Calibri"/>
              </a:rPr>
              <a:t>1. GRU Belief Encoder</a:t>
            </a:r>
          </a:p>
          <a:p>
            <a:pPr>
              <a:spcBef>
                <a:spcPts val="800"/>
              </a:spcBef>
            </a:pPr>
            <a:r>
              <a:rPr sz="1300">
                <a:solidFill>
                  <a:srgbClr val="333333"/>
                </a:solidFill>
                <a:latin typeface="Calibri"/>
              </a:rPr>
              <a:t>Encodes the last 8 observations with a 2-layer GRU into a 16-D belief vector. Provides temporal context that the standard 7-D Markov state cannot.</a:t>
            </a:r>
          </a:p>
        </p:txBody>
      </p:sp>
      <p:sp>
        <p:nvSpPr>
          <p:cNvPr id="6" name="Rounded Rectangle 5"/>
          <p:cNvSpPr/>
          <p:nvPr/>
        </p:nvSpPr>
        <p:spPr>
          <a:xfrm>
            <a:off x="4663440" y="2011680"/>
            <a:ext cx="4023360" cy="2194560"/>
          </a:xfrm>
          <a:prstGeom prst="roundRect">
            <a:avLst/>
          </a:prstGeom>
          <a:solidFill>
            <a:srgbClr val="F5F7FA"/>
          </a:solidFill>
          <a:ln w="19050">
            <a:solidFill>
              <a:srgbClr val="2C5F8D"/>
            </a:solidFill>
          </a:ln>
          <a:effectLst/>
        </p:spPr>
        <p:style>
          <a:lnRef idx="1">
            <a:schemeClr val="accent1"/>
          </a:lnRef>
          <a:fillRef idx="3">
            <a:schemeClr val="accent1"/>
          </a:fillRef>
          <a:effectRef idx="2">
            <a:schemeClr val="accent1"/>
          </a:effectRef>
          <a:fontRef idx="minor">
            <a:schemeClr val="lt1"/>
          </a:fontRef>
        </p:style>
        <p:txBody>
          <a:bodyPr rtlCol="0" anchor="t" lIns="164592" rIns="164592" tIns="164592" wrap="square"/>
          <a:lstStyle/>
          <a:p>
            <a:pPr algn="ctr"/>
            <a:r>
              <a:rPr sz="1600" b="1">
                <a:solidFill>
                  <a:srgbClr val="2C5F8D"/>
                </a:solidFill>
                <a:latin typeface="Calibri"/>
              </a:rPr>
              <a:t>2. Decomposed Multi-Objective Critics</a:t>
            </a:r>
          </a:p>
          <a:p>
            <a:pPr>
              <a:spcBef>
                <a:spcPts val="800"/>
              </a:spcBef>
            </a:pPr>
            <a:r>
              <a:rPr sz="1300">
                <a:solidFill>
                  <a:srgbClr val="333333"/>
                </a:solidFill>
                <a:latin typeface="Calibri"/>
              </a:rPr>
              <a:t>Twin critics per objective (throughput, interference, energy) → 6 critics in total. Each learns a clean per-objective Q-value, enabling explicit trade-offs.</a:t>
            </a:r>
          </a:p>
        </p:txBody>
      </p:sp>
      <p:sp>
        <p:nvSpPr>
          <p:cNvPr id="7" name="Rounded Rectangle 6"/>
          <p:cNvSpPr/>
          <p:nvPr/>
        </p:nvSpPr>
        <p:spPr>
          <a:xfrm>
            <a:off x="457200" y="4389120"/>
            <a:ext cx="4023360" cy="2194560"/>
          </a:xfrm>
          <a:prstGeom prst="roundRect">
            <a:avLst/>
          </a:prstGeom>
          <a:solidFill>
            <a:srgbClr val="F5F7FA"/>
          </a:solidFill>
          <a:ln w="19050">
            <a:solidFill>
              <a:srgbClr val="1A365D"/>
            </a:solidFill>
          </a:ln>
          <a:effectLst/>
        </p:spPr>
        <p:style>
          <a:lnRef idx="1">
            <a:schemeClr val="accent1"/>
          </a:lnRef>
          <a:fillRef idx="3">
            <a:schemeClr val="accent1"/>
          </a:fillRef>
          <a:effectRef idx="2">
            <a:schemeClr val="accent1"/>
          </a:effectRef>
          <a:fontRef idx="minor">
            <a:schemeClr val="lt1"/>
          </a:fontRef>
        </p:style>
        <p:txBody>
          <a:bodyPr rtlCol="0" anchor="t" lIns="164592" rIns="164592" tIns="164592" wrap="square"/>
          <a:lstStyle/>
          <a:p>
            <a:pPr algn="ctr"/>
            <a:r>
              <a:rPr sz="1600" b="1">
                <a:solidFill>
                  <a:srgbClr val="1A365D"/>
                </a:solidFill>
                <a:latin typeface="Calibri"/>
              </a:rPr>
              <a:t>3. Adaptive Lagrangian Weights</a:t>
            </a:r>
          </a:p>
          <a:p>
            <a:pPr>
              <a:spcBef>
                <a:spcPts val="800"/>
              </a:spcBef>
            </a:pPr>
            <a:r>
              <a:rPr sz="1300">
                <a:solidFill>
                  <a:srgbClr val="333333"/>
                </a:solidFill>
                <a:latin typeface="Calibri"/>
              </a:rPr>
              <a:t>λ₁, λ₂, λ₃ are learned by dual gradient descent — no more manual tuning of α, β, γ. Clamped to [0.1, 20.0] for stability.</a:t>
            </a:r>
          </a:p>
        </p:txBody>
      </p:sp>
      <p:sp>
        <p:nvSpPr>
          <p:cNvPr id="8" name="Rounded Rectangle 7"/>
          <p:cNvSpPr/>
          <p:nvPr/>
        </p:nvSpPr>
        <p:spPr>
          <a:xfrm>
            <a:off x="4663440" y="4389120"/>
            <a:ext cx="4023360" cy="2194560"/>
          </a:xfrm>
          <a:prstGeom prst="roundRect">
            <a:avLst/>
          </a:prstGeom>
          <a:solidFill>
            <a:srgbClr val="F5F7FA"/>
          </a:solidFill>
          <a:ln w="19050">
            <a:solidFill>
              <a:srgbClr val="C88B00"/>
            </a:solidFill>
          </a:ln>
          <a:effectLst/>
        </p:spPr>
        <p:style>
          <a:lnRef idx="1">
            <a:schemeClr val="accent1"/>
          </a:lnRef>
          <a:fillRef idx="3">
            <a:schemeClr val="accent1"/>
          </a:fillRef>
          <a:effectRef idx="2">
            <a:schemeClr val="accent1"/>
          </a:effectRef>
          <a:fontRef idx="minor">
            <a:schemeClr val="lt1"/>
          </a:fontRef>
        </p:style>
        <p:txBody>
          <a:bodyPr rtlCol="0" anchor="t" lIns="164592" rIns="164592" tIns="164592" wrap="square"/>
          <a:lstStyle/>
          <a:p>
            <a:pPr algn="ctr"/>
            <a:r>
              <a:rPr sz="1600" b="1">
                <a:solidFill>
                  <a:srgbClr val="C88B00"/>
                </a:solidFill>
                <a:latin typeface="Calibri"/>
              </a:rPr>
              <a:t>4. Directional Exploration Noise</a:t>
            </a:r>
          </a:p>
          <a:p>
            <a:pPr>
              <a:spcBef>
                <a:spcPts val="800"/>
              </a:spcBef>
            </a:pPr>
            <a:r>
              <a:rPr sz="1300">
                <a:solidFill>
                  <a:srgbClr val="333333"/>
                </a:solidFill>
                <a:latin typeface="Calibri"/>
              </a:rPr>
              <a:t>Replaces zero-mean Gaussian with a biased Gaussian whose mean μ pushes actions toward safer (lower-power) regions when violations are frequent.</a:t>
            </a:r>
          </a:p>
        </p:txBody>
      </p:sp>
      <p:sp>
        <p:nvSpPr>
          <p:cNvPr id="9" name="TextBox 8"/>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Innovation 1 — GRU Belief Encoder</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521208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Why a Recurrent Encoder?</a:t>
            </a:r>
          </a:p>
          <a:p>
            <a:pPr>
              <a:lnSpc>
                <a:spcPct val="115000"/>
              </a:lnSpc>
              <a:spcAft>
                <a:spcPts val="200"/>
              </a:spcAft>
            </a:pPr>
            <a:r>
              <a:rPr sz="1300">
                <a:solidFill>
                  <a:srgbClr val="333333"/>
                </a:solidFill>
                <a:latin typeface="Calibri"/>
              </a:rPr>
              <a:t>The standard 7-D state is Markov only under perfect block-fading. In practice, the agent benefits from the recent observation history (own actions, recent SINRs, deep-fade indicators).</a:t>
            </a:r>
          </a:p>
          <a:p>
            <a:pPr>
              <a:lnSpc>
                <a:spcPct val="115000"/>
              </a:lnSpc>
              <a:spcBef>
                <a:spcPts val="400"/>
              </a:spcBef>
              <a:spcAft>
                <a:spcPts val="200"/>
              </a:spcAft>
            </a:pPr>
            <a:r>
              <a:rPr sz="1400" b="1">
                <a:solidFill>
                  <a:srgbClr val="2C5F8D"/>
                </a:solidFill>
                <a:latin typeface="Calibri"/>
              </a:rPr>
              <a:t>Architecture</a:t>
            </a:r>
          </a:p>
          <a:p>
            <a:pPr>
              <a:lnSpc>
                <a:spcPct val="115000"/>
              </a:lnSpc>
              <a:spcAft>
                <a:spcPts val="200"/>
              </a:spcAft>
            </a:pPr>
            <a:r>
              <a:rPr sz="1300">
                <a:solidFill>
                  <a:srgbClr val="333333"/>
                </a:solidFill>
                <a:latin typeface="Calibri"/>
              </a:rPr>
              <a:t>• Input: O_t = [s_{t−7}, … , s_{t−1}, s_t]  (shape 8 × 7)</a:t>
            </a:r>
          </a:p>
          <a:p>
            <a:pPr>
              <a:lnSpc>
                <a:spcPct val="115000"/>
              </a:lnSpc>
              <a:spcAft>
                <a:spcPts val="200"/>
              </a:spcAft>
            </a:pPr>
            <a:r>
              <a:rPr sz="1300">
                <a:solidFill>
                  <a:srgbClr val="333333"/>
                </a:solidFill>
                <a:latin typeface="Calibri"/>
              </a:rPr>
              <a:t>• GRU: 2 stacked layers, hidden size 64</a:t>
            </a:r>
          </a:p>
          <a:p>
            <a:pPr>
              <a:lnSpc>
                <a:spcPct val="115000"/>
              </a:lnSpc>
              <a:spcAft>
                <a:spcPts val="200"/>
              </a:spcAft>
            </a:pPr>
            <a:r>
              <a:rPr sz="1300">
                <a:solidFill>
                  <a:srgbClr val="333333"/>
                </a:solidFill>
                <a:latin typeface="Calibri"/>
              </a:rPr>
              <a:t>• Projection: linear layer to belief dimension B = 16</a:t>
            </a:r>
          </a:p>
          <a:p>
            <a:pPr>
              <a:lnSpc>
                <a:spcPct val="115000"/>
              </a:lnSpc>
              <a:spcBef>
                <a:spcPts val="400"/>
              </a:spcBef>
              <a:spcAft>
                <a:spcPts val="200"/>
              </a:spcAft>
            </a:pPr>
            <a:r>
              <a:rPr sz="1400" b="1">
                <a:solidFill>
                  <a:srgbClr val="2C5F8D"/>
                </a:solidFill>
                <a:latin typeface="Calibri"/>
              </a:rPr>
              <a:t>Equations (GRU cell, simplified)</a:t>
            </a:r>
          </a:p>
          <a:p>
            <a:pPr algn="l">
              <a:lnSpc>
                <a:spcPct val="115000"/>
              </a:lnSpc>
              <a:spcBef>
                <a:spcPts val="200"/>
              </a:spcBef>
              <a:spcAft>
                <a:spcPts val="400"/>
              </a:spcAft>
            </a:pPr>
            <a:r>
              <a:rPr sz="1300" i="0">
                <a:solidFill>
                  <a:srgbClr val="1A365D"/>
                </a:solidFill>
                <a:latin typeface="Cambria Math"/>
              </a:rPr>
              <a:t>z_i = σ( W_z[h_{i−1}, x_i] ),   r_i = σ( W_r[h_{i−1}, x_i] )</a:t>
            </a:r>
          </a:p>
          <a:p>
            <a:pPr algn="l">
              <a:lnSpc>
                <a:spcPct val="115000"/>
              </a:lnSpc>
              <a:spcBef>
                <a:spcPts val="200"/>
              </a:spcBef>
              <a:spcAft>
                <a:spcPts val="400"/>
              </a:spcAft>
            </a:pPr>
            <a:r>
              <a:rPr sz="1300" i="0">
                <a:solidFill>
                  <a:srgbClr val="1A365D"/>
                </a:solidFill>
                <a:latin typeface="Cambria Math"/>
              </a:rPr>
              <a:t>ñ_i = tanh( W_n[ r_i ⊙ h_{i−1}, x_i ] )</a:t>
            </a:r>
          </a:p>
          <a:p>
            <a:pPr algn="l">
              <a:lnSpc>
                <a:spcPct val="115000"/>
              </a:lnSpc>
              <a:spcBef>
                <a:spcPts val="200"/>
              </a:spcBef>
              <a:spcAft>
                <a:spcPts val="400"/>
              </a:spcAft>
            </a:pPr>
            <a:r>
              <a:rPr sz="1300" i="0">
                <a:solidFill>
                  <a:srgbClr val="1A365D"/>
                </a:solidFill>
                <a:latin typeface="Cambria Math"/>
              </a:rPr>
              <a:t>h_i = (1 − z_i) ⊙ h_{i−1}  +  z_i ⊙ ñ_i</a:t>
            </a:r>
          </a:p>
          <a:p>
            <a:pPr algn="l">
              <a:lnSpc>
                <a:spcPct val="115000"/>
              </a:lnSpc>
              <a:spcBef>
                <a:spcPts val="200"/>
              </a:spcBef>
              <a:spcAft>
                <a:spcPts val="400"/>
              </a:spcAft>
            </a:pPr>
            <a:r>
              <a:rPr sz="1300" i="0">
                <a:solidFill>
                  <a:srgbClr val="1A365D"/>
                </a:solidFill>
                <a:latin typeface="Cambria Math"/>
              </a:rPr>
              <a:t>b_t = W_proj · h_L + c_proj           ∈ ℝ^{16}</a:t>
            </a:r>
          </a:p>
        </p:txBody>
      </p:sp>
      <p:sp>
        <p:nvSpPr>
          <p:cNvPr id="5" name="TextBox 4"/>
          <p:cNvSpPr txBox="1"/>
          <p:nvPr/>
        </p:nvSpPr>
        <p:spPr>
          <a:xfrm>
            <a:off x="5852160" y="1097280"/>
            <a:ext cx="301752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Design Choices</a:t>
            </a:r>
          </a:p>
          <a:p>
            <a:pPr>
              <a:lnSpc>
                <a:spcPct val="115000"/>
              </a:lnSpc>
              <a:spcAft>
                <a:spcPts val="200"/>
              </a:spcAft>
            </a:pPr>
            <a:r>
              <a:rPr sz="1300" b="1">
                <a:solidFill>
                  <a:srgbClr val="1A365D"/>
                </a:solidFill>
                <a:latin typeface="Calibri"/>
              </a:rPr>
              <a:t>• SEQ_LEN = 8 :</a:t>
            </a:r>
            <a:r>
              <a:rPr sz="1300">
                <a:solidFill>
                  <a:srgbClr val="333333"/>
                </a:solidFill>
                <a:latin typeface="Calibri"/>
              </a:rPr>
              <a:t> ≈ 4 % of an episode — captures short-term trends without huge memory cost.</a:t>
            </a:r>
          </a:p>
          <a:p>
            <a:pPr>
              <a:lnSpc>
                <a:spcPct val="115000"/>
              </a:lnSpc>
              <a:spcAft>
                <a:spcPts val="200"/>
              </a:spcAft>
            </a:pPr>
            <a:r>
              <a:rPr sz="1300" b="1">
                <a:solidFill>
                  <a:srgbClr val="1A365D"/>
                </a:solidFill>
                <a:latin typeface="Calibri"/>
              </a:rPr>
              <a:t>• BELIEF_DIM = 16 :</a:t>
            </a:r>
            <a:r>
              <a:rPr sz="1300">
                <a:solidFill>
                  <a:srgbClr val="333333"/>
                </a:solidFill>
                <a:latin typeface="Calibri"/>
              </a:rPr>
              <a:t> forces compression of 56-D raw history into 16-D feature; encourages abstraction over memorisation.</a:t>
            </a:r>
          </a:p>
          <a:p>
            <a:pPr>
              <a:lnSpc>
                <a:spcPct val="115000"/>
              </a:lnSpc>
              <a:spcAft>
                <a:spcPts val="200"/>
              </a:spcAft>
            </a:pPr>
            <a:r>
              <a:rPr sz="1300" b="1">
                <a:solidFill>
                  <a:srgbClr val="1A365D"/>
                </a:solidFill>
                <a:latin typeface="Calibri"/>
              </a:rPr>
              <a:t>• GRU vs LSTM :</a:t>
            </a:r>
            <a:r>
              <a:rPr sz="1300">
                <a:solidFill>
                  <a:srgbClr val="333333"/>
                </a:solidFill>
                <a:latin typeface="Calibri"/>
              </a:rPr>
              <a:t> fewer parameters, comparable performance at L = 8.</a:t>
            </a:r>
          </a:p>
          <a:p>
            <a:pPr>
              <a:lnSpc>
                <a:spcPct val="115000"/>
              </a:lnSpc>
              <a:spcBef>
                <a:spcPts val="400"/>
              </a:spcBef>
              <a:spcAft>
                <a:spcPts val="200"/>
              </a:spcAft>
            </a:pPr>
            <a:r>
              <a:rPr sz="1400" b="1">
                <a:solidFill>
                  <a:srgbClr val="2C5F8D"/>
                </a:solidFill>
                <a:latin typeface="Calibri"/>
              </a:rPr>
              <a:t>Inputs to Downstream Networks</a:t>
            </a:r>
          </a:p>
          <a:p>
            <a:pPr>
              <a:lnSpc>
                <a:spcPct val="115000"/>
              </a:lnSpc>
              <a:spcAft>
                <a:spcPts val="200"/>
              </a:spcAft>
            </a:pPr>
            <a:r>
              <a:rPr sz="1300">
                <a:solidFill>
                  <a:srgbClr val="333333"/>
                </a:solidFill>
                <a:latin typeface="Calibri"/>
              </a:rPr>
              <a:t>The belief vector b_t is concatenated with the current state s_t and passed to both actor and critic networks:</a:t>
            </a:r>
          </a:p>
          <a:p>
            <a:pPr algn="l">
              <a:lnSpc>
                <a:spcPct val="115000"/>
              </a:lnSpc>
              <a:spcBef>
                <a:spcPts val="200"/>
              </a:spcBef>
              <a:spcAft>
                <a:spcPts val="400"/>
              </a:spcAft>
            </a:pPr>
            <a:r>
              <a:rPr sz="1300" i="0">
                <a:solidFill>
                  <a:srgbClr val="1A365D"/>
                </a:solidFill>
                <a:latin typeface="Cambria Math"/>
              </a:rPr>
              <a:t>π( [s_t , b_t] )  ;   Q( [s_t , b_t] , a )</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600" b="1">
                <a:solidFill>
                  <a:srgbClr val="1A365D"/>
                </a:solidFill>
                <a:latin typeface="Calibri"/>
              </a:rPr>
              <a:t>Innovation 2 — Decomposed Multi-Objective Critics</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Problem with a Single Scalar Critic</a:t>
            </a:r>
          </a:p>
          <a:p>
            <a:pPr>
              <a:lnSpc>
                <a:spcPct val="115000"/>
              </a:lnSpc>
              <a:spcAft>
                <a:spcPts val="200"/>
              </a:spcAft>
            </a:pPr>
            <a:r>
              <a:rPr sz="1300">
                <a:solidFill>
                  <a:srgbClr val="333333"/>
                </a:solidFill>
                <a:latin typeface="Calibri"/>
              </a:rPr>
              <a:t>A single Q(s, a) approximates E[Σ_t γ^t r_t] where r is the weighted scalar. Throughput contributions (~+2) and interference penalties (~−15) collapse into one signal — making it hard to distinguish "low reward because of constraint" from "low reward because channel was bad".</a:t>
            </a:r>
          </a:p>
          <a:p>
            <a:pPr>
              <a:lnSpc>
                <a:spcPct val="115000"/>
              </a:lnSpc>
              <a:spcBef>
                <a:spcPts val="400"/>
              </a:spcBef>
              <a:spcAft>
                <a:spcPts val="200"/>
              </a:spcAft>
            </a:pPr>
            <a:r>
              <a:rPr sz="1400" b="1">
                <a:solidFill>
                  <a:srgbClr val="2C5F8D"/>
                </a:solidFill>
                <a:latin typeface="Calibri"/>
              </a:rPr>
              <a:t>Decomposed Reward Vector</a:t>
            </a:r>
          </a:p>
          <a:p>
            <a:pPr algn="l">
              <a:lnSpc>
                <a:spcPct val="115000"/>
              </a:lnSpc>
              <a:spcBef>
                <a:spcPts val="200"/>
              </a:spcBef>
              <a:spcAft>
                <a:spcPts val="400"/>
              </a:spcAft>
            </a:pPr>
            <a:r>
              <a:rPr sz="1300" i="0">
                <a:solidFill>
                  <a:srgbClr val="1A365D"/>
                </a:solidFill>
                <a:latin typeface="Cambria Math"/>
              </a:rPr>
              <a:t>r_t  =  ( r_t^{tput} , r_t^{intf} , r_t^{energy} )</a:t>
            </a:r>
          </a:p>
          <a:p>
            <a:pPr>
              <a:lnSpc>
                <a:spcPct val="115000"/>
              </a:lnSpc>
              <a:spcAft>
                <a:spcPts val="200"/>
              </a:spcAft>
            </a:pPr>
            <a:r>
              <a:rPr sz="1300">
                <a:solidFill>
                  <a:srgbClr val="333333"/>
                </a:solidFill>
                <a:latin typeface="Calibri"/>
              </a:rPr>
              <a:t>• r_t^{tput}    =  α · log₂(1 + SINR_s)                  ≥ 0   (maximise)</a:t>
            </a:r>
          </a:p>
          <a:p>
            <a:pPr>
              <a:lnSpc>
                <a:spcPct val="115000"/>
              </a:lnSpc>
              <a:spcAft>
                <a:spcPts val="200"/>
              </a:spcAft>
            </a:pPr>
            <a:r>
              <a:rPr sz="1300">
                <a:solidFill>
                  <a:srgbClr val="333333"/>
                </a:solidFill>
                <a:latin typeface="Calibri"/>
              </a:rPr>
              <a:t>• r_t^{intf}    = − β · max(0, γ_th − SINR_p)              ≤ 0   (keep near zero)</a:t>
            </a:r>
          </a:p>
          <a:p>
            <a:pPr>
              <a:lnSpc>
                <a:spcPct val="115000"/>
              </a:lnSpc>
              <a:spcAft>
                <a:spcPts val="200"/>
              </a:spcAft>
            </a:pPr>
            <a:r>
              <a:rPr sz="1300">
                <a:solidFill>
                  <a:srgbClr val="333333"/>
                </a:solidFill>
                <a:latin typeface="Calibri"/>
              </a:rPr>
              <a:t>• r_t^{energy} = − γ_e · (P_s / P_max)                       ≤ 0   (minimise magnitude)</a:t>
            </a:r>
          </a:p>
          <a:p>
            <a:pPr>
              <a:lnSpc>
                <a:spcPct val="115000"/>
              </a:lnSpc>
              <a:spcBef>
                <a:spcPts val="400"/>
              </a:spcBef>
              <a:spcAft>
                <a:spcPts val="200"/>
              </a:spcAft>
            </a:pPr>
            <a:r>
              <a:rPr sz="1400" b="1">
                <a:solidFill>
                  <a:srgbClr val="2C5F8D"/>
                </a:solidFill>
                <a:latin typeface="Calibri"/>
              </a:rPr>
              <a:t>Per-Objective Twin Critics</a:t>
            </a:r>
          </a:p>
          <a:p>
            <a:pPr algn="l">
              <a:lnSpc>
                <a:spcPct val="115000"/>
              </a:lnSpc>
              <a:spcBef>
                <a:spcPts val="200"/>
              </a:spcBef>
              <a:spcAft>
                <a:spcPts val="400"/>
              </a:spcAft>
            </a:pPr>
            <a:r>
              <a:rPr sz="1300" i="0">
                <a:solidFill>
                  <a:srgbClr val="1A365D"/>
                </a:solidFill>
                <a:latin typeface="Cambria Math"/>
              </a:rPr>
              <a:t>For each objective k ∈ {tput, intf, energy} and twin index i ∈ {1, 2}:</a:t>
            </a:r>
          </a:p>
          <a:p>
            <a:pPr algn="l">
              <a:lnSpc>
                <a:spcPct val="115000"/>
              </a:lnSpc>
              <a:spcBef>
                <a:spcPts val="200"/>
              </a:spcBef>
              <a:spcAft>
                <a:spcPts val="400"/>
              </a:spcAft>
            </a:pPr>
            <a:r>
              <a:rPr sz="1300" i="0">
                <a:solidFill>
                  <a:srgbClr val="1A365D"/>
                </a:solidFill>
                <a:latin typeface="Cambria Math"/>
              </a:rPr>
              <a:t>y_k  =  r_t^{k} + γ · min_{j=1,2} Q_{θ_j,k}′( s′, b′, ã′ )</a:t>
            </a:r>
          </a:p>
          <a:p>
            <a:pPr algn="l">
              <a:lnSpc>
                <a:spcPct val="115000"/>
              </a:lnSpc>
              <a:spcBef>
                <a:spcPts val="200"/>
              </a:spcBef>
              <a:spcAft>
                <a:spcPts val="400"/>
              </a:spcAft>
            </a:pPr>
            <a:r>
              <a:rPr sz="1300" i="0">
                <a:solidFill>
                  <a:srgbClr val="1A365D"/>
                </a:solidFill>
                <a:latin typeface="Cambria Math"/>
              </a:rPr>
              <a:t>L_k  =  Σ_i  E [ ( Q_{θ_i,k}(s,b,a)  −  y_k )² ]</a:t>
            </a:r>
          </a:p>
          <a:p>
            <a:pPr>
              <a:lnSpc>
                <a:spcPct val="115000"/>
              </a:lnSpc>
              <a:spcAft>
                <a:spcPts val="200"/>
              </a:spcAft>
            </a:pPr>
            <a:r>
              <a:rPr sz="1300">
                <a:solidFill>
                  <a:srgbClr val="333333"/>
                </a:solidFill>
                <a:latin typeface="Calibri"/>
              </a:rPr>
              <a:t>Total: 6 critic networks (twin pair × three objectives) + their target copies — but each learns a clean per-objective signal.</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Innovation 3 — Adaptive Lagrangian Weights</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Primal Constrained Problem</a:t>
            </a:r>
          </a:p>
          <a:p>
            <a:pPr algn="l">
              <a:lnSpc>
                <a:spcPct val="115000"/>
              </a:lnSpc>
              <a:spcBef>
                <a:spcPts val="200"/>
              </a:spcBef>
              <a:spcAft>
                <a:spcPts val="400"/>
              </a:spcAft>
            </a:pPr>
            <a:r>
              <a:rPr sz="1300" i="0">
                <a:solidFill>
                  <a:srgbClr val="1A365D"/>
                </a:solidFill>
                <a:latin typeface="Cambria Math"/>
              </a:rPr>
              <a:t>max_π  E[ Σ_t  R_s(s_t,a_t) ]</a:t>
            </a:r>
          </a:p>
          <a:p>
            <a:pPr algn="l">
              <a:lnSpc>
                <a:spcPct val="115000"/>
              </a:lnSpc>
              <a:spcBef>
                <a:spcPts val="200"/>
              </a:spcBef>
              <a:spcAft>
                <a:spcPts val="400"/>
              </a:spcAft>
            </a:pPr>
            <a:r>
              <a:rPr sz="1300" i="0">
                <a:solidFill>
                  <a:srgbClr val="1A365D"/>
                </a:solidFill>
                <a:latin typeface="Cambria Math"/>
              </a:rPr>
              <a:t>s.t.   E[ Σ_t max(0, γ_th − SINR_p) ] ≤ δ   ,   E[ Σ_t P_s ] ≤ P_budget</a:t>
            </a:r>
          </a:p>
          <a:p>
            <a:pPr>
              <a:lnSpc>
                <a:spcPct val="115000"/>
              </a:lnSpc>
              <a:spcBef>
                <a:spcPts val="400"/>
              </a:spcBef>
              <a:spcAft>
                <a:spcPts val="200"/>
              </a:spcAft>
            </a:pPr>
            <a:r>
              <a:rPr sz="1400" b="1">
                <a:solidFill>
                  <a:srgbClr val="2C5F8D"/>
                </a:solidFill>
                <a:latin typeface="Calibri"/>
              </a:rPr>
              <a:t>Lagrangian (Dual) Formulation</a:t>
            </a:r>
          </a:p>
          <a:p>
            <a:pPr algn="l">
              <a:lnSpc>
                <a:spcPct val="115000"/>
              </a:lnSpc>
              <a:spcBef>
                <a:spcPts val="200"/>
              </a:spcBef>
              <a:spcAft>
                <a:spcPts val="400"/>
              </a:spcAft>
            </a:pPr>
            <a:r>
              <a:rPr sz="1300" i="0">
                <a:solidFill>
                  <a:srgbClr val="1A365D"/>
                </a:solidFill>
                <a:latin typeface="Cambria Math"/>
              </a:rPr>
              <a:t>L(π, λ₁, λ₂, λ₃) = λ₁·E[Σ R_s] − λ₂·(E[Σ max(0, γ_th−SINR_p)] − δ) − λ₃·(E[Σ P_s] − P_budget)</a:t>
            </a:r>
          </a:p>
          <a:p>
            <a:pPr>
              <a:lnSpc>
                <a:spcPct val="115000"/>
              </a:lnSpc>
              <a:spcBef>
                <a:spcPts val="400"/>
              </a:spcBef>
              <a:spcAft>
                <a:spcPts val="200"/>
              </a:spcAft>
            </a:pPr>
            <a:r>
              <a:rPr sz="1400" b="1">
                <a:solidFill>
                  <a:srgbClr val="2C5F8D"/>
                </a:solidFill>
                <a:latin typeface="Calibri"/>
              </a:rPr>
              <a:t>Actor Update — Weighted Sum of Per-Objective Q-Values</a:t>
            </a:r>
          </a:p>
          <a:p>
            <a:pPr algn="l">
              <a:lnSpc>
                <a:spcPct val="115000"/>
              </a:lnSpc>
              <a:spcBef>
                <a:spcPts val="200"/>
              </a:spcBef>
              <a:spcAft>
                <a:spcPts val="400"/>
              </a:spcAft>
            </a:pPr>
            <a:r>
              <a:rPr sz="1300" i="0">
                <a:solidFill>
                  <a:srgbClr val="1A365D"/>
                </a:solidFill>
                <a:latin typeface="Cambria Math"/>
              </a:rPr>
              <a:t>L_actor  =  − E [ λ₁ · Q^{tput} + λ₂ · Q^{intf} + λ₃ · Q^{energy} ]</a:t>
            </a:r>
          </a:p>
          <a:p>
            <a:pPr>
              <a:lnSpc>
                <a:spcPct val="115000"/>
              </a:lnSpc>
              <a:spcBef>
                <a:spcPts val="400"/>
              </a:spcBef>
              <a:spcAft>
                <a:spcPts val="200"/>
              </a:spcAft>
            </a:pPr>
            <a:r>
              <a:rPr sz="1400" b="1">
                <a:solidFill>
                  <a:srgbClr val="2C5F8D"/>
                </a:solidFill>
                <a:latin typeface="Calibri"/>
              </a:rPr>
              <a:t>Dual Gradient Ascent on the Multipliers</a:t>
            </a:r>
          </a:p>
          <a:p>
            <a:pPr algn="l">
              <a:lnSpc>
                <a:spcPct val="115000"/>
              </a:lnSpc>
              <a:spcBef>
                <a:spcPts val="200"/>
              </a:spcBef>
              <a:spcAft>
                <a:spcPts val="400"/>
              </a:spcAft>
            </a:pPr>
            <a:r>
              <a:rPr sz="1300" i="0">
                <a:solidFill>
                  <a:srgbClr val="1A365D"/>
                </a:solidFill>
                <a:latin typeface="Cambria Math"/>
              </a:rPr>
              <a:t>λ_k  ←  clip(  λ_k  +  η_λ · ∇_{λ_k} L   ,   λ_min ,  λ_max )</a:t>
            </a:r>
          </a:p>
          <a:p>
            <a:pPr>
              <a:lnSpc>
                <a:spcPct val="115000"/>
              </a:lnSpc>
              <a:spcAft>
                <a:spcPts val="200"/>
              </a:spcAft>
            </a:pPr>
            <a:r>
              <a:rPr sz="1300">
                <a:solidFill>
                  <a:srgbClr val="333333"/>
                </a:solidFill>
                <a:latin typeface="Calibri"/>
              </a:rPr>
              <a:t>Softplus parameterisation enforces positivity: λ_k = log(1 + exp(log_λ_k)).</a:t>
            </a:r>
          </a:p>
          <a:p>
            <a:pPr>
              <a:lnSpc>
                <a:spcPct val="115000"/>
              </a:lnSpc>
              <a:spcBef>
                <a:spcPts val="400"/>
              </a:spcBef>
              <a:spcAft>
                <a:spcPts val="200"/>
              </a:spcAft>
            </a:pPr>
            <a:r>
              <a:rPr sz="1400" b="1">
                <a:solidFill>
                  <a:srgbClr val="2C5F8D"/>
                </a:solidFill>
                <a:latin typeface="Calibri"/>
              </a:rPr>
              <a:t>Why This Helps</a:t>
            </a:r>
          </a:p>
          <a:p>
            <a:pPr>
              <a:lnSpc>
                <a:spcPct val="115000"/>
              </a:lnSpc>
              <a:spcAft>
                <a:spcPts val="200"/>
              </a:spcAft>
            </a:pPr>
            <a:r>
              <a:rPr sz="1300">
                <a:solidFill>
                  <a:srgbClr val="333333"/>
                </a:solidFill>
                <a:latin typeface="Calibri"/>
              </a:rPr>
              <a:t>• If PU violations become frequent, λ₂ automatically grows → actor penalises interference more.</a:t>
            </a:r>
          </a:p>
          <a:p>
            <a:pPr>
              <a:lnSpc>
                <a:spcPct val="115000"/>
              </a:lnSpc>
              <a:spcAft>
                <a:spcPts val="200"/>
              </a:spcAft>
            </a:pPr>
            <a:r>
              <a:rPr sz="1300">
                <a:solidFill>
                  <a:srgbClr val="333333"/>
                </a:solidFill>
                <a:latin typeface="Calibri"/>
              </a:rPr>
              <a:t>• If throughput drops too low, λ₁ recovers → policy pushes for higher rate.</a:t>
            </a:r>
          </a:p>
          <a:p>
            <a:pPr>
              <a:lnSpc>
                <a:spcPct val="115000"/>
              </a:lnSpc>
              <a:spcAft>
                <a:spcPts val="200"/>
              </a:spcAft>
            </a:pPr>
            <a:r>
              <a:rPr sz="1300">
                <a:solidFill>
                  <a:srgbClr val="333333"/>
                </a:solidFill>
                <a:latin typeface="Calibri"/>
              </a:rPr>
              <a:t>• Removes manual scaling of α, β, γ_e — the agent discovers them itself.</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Innovation 4 — Directional Exploration Noise</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493776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Standard TD3 Exploration</a:t>
            </a:r>
          </a:p>
          <a:p>
            <a:pPr algn="l">
              <a:lnSpc>
                <a:spcPct val="115000"/>
              </a:lnSpc>
              <a:spcBef>
                <a:spcPts val="200"/>
              </a:spcBef>
              <a:spcAft>
                <a:spcPts val="400"/>
              </a:spcAft>
            </a:pPr>
            <a:r>
              <a:rPr sz="1300" i="0">
                <a:solidFill>
                  <a:srgbClr val="1A365D"/>
                </a:solidFill>
                <a:latin typeface="Cambria Math"/>
              </a:rPr>
              <a:t>ε ~ N(0, σ²),    a_explore  =  π(s) + ε</a:t>
            </a:r>
          </a:p>
          <a:p>
            <a:pPr>
              <a:lnSpc>
                <a:spcPct val="115000"/>
              </a:lnSpc>
              <a:spcAft>
                <a:spcPts val="200"/>
              </a:spcAft>
            </a:pPr>
            <a:r>
              <a:rPr sz="1300">
                <a:solidFill>
                  <a:srgbClr val="333333"/>
                </a:solidFill>
                <a:latin typeface="Calibri"/>
              </a:rPr>
              <a:t>Symmetric noise wastes 50 % of exploration on unsafe (higher-power) actions during the early phase, causing many PU violations.</a:t>
            </a:r>
          </a:p>
          <a:p>
            <a:pPr>
              <a:lnSpc>
                <a:spcPct val="115000"/>
              </a:lnSpc>
              <a:spcBef>
                <a:spcPts val="400"/>
              </a:spcBef>
              <a:spcAft>
                <a:spcPts val="200"/>
              </a:spcAft>
            </a:pPr>
            <a:r>
              <a:rPr sz="1400" b="1">
                <a:solidFill>
                  <a:srgbClr val="2C5F8D"/>
                </a:solidFill>
                <a:latin typeface="Calibri"/>
              </a:rPr>
              <a:t>Biased Gaussian Noise (CAMO-TD3)</a:t>
            </a:r>
          </a:p>
          <a:p>
            <a:pPr algn="l">
              <a:lnSpc>
                <a:spcPct val="115000"/>
              </a:lnSpc>
              <a:spcBef>
                <a:spcPts val="200"/>
              </a:spcBef>
              <a:spcAft>
                <a:spcPts val="400"/>
              </a:spcAft>
            </a:pPr>
            <a:r>
              <a:rPr sz="1300" i="0">
                <a:solidFill>
                  <a:srgbClr val="1A365D"/>
                </a:solidFill>
                <a:latin typeface="Cambria Math"/>
              </a:rPr>
              <a:t>μ_t  =  μ_bias · decay(t) · (1 + v_t)</a:t>
            </a:r>
          </a:p>
          <a:p>
            <a:pPr algn="l">
              <a:lnSpc>
                <a:spcPct val="115000"/>
              </a:lnSpc>
              <a:spcBef>
                <a:spcPts val="200"/>
              </a:spcBef>
              <a:spcAft>
                <a:spcPts val="400"/>
              </a:spcAft>
            </a:pPr>
            <a:r>
              <a:rPr sz="1300" i="0">
                <a:solidFill>
                  <a:srgbClr val="1A365D"/>
                </a:solidFill>
                <a:latin typeface="Cambria Math"/>
              </a:rPr>
              <a:t>decay(t) = max(0, 1 − t / T_decay )</a:t>
            </a:r>
          </a:p>
          <a:p>
            <a:pPr algn="l">
              <a:lnSpc>
                <a:spcPct val="115000"/>
              </a:lnSpc>
              <a:spcBef>
                <a:spcPts val="200"/>
              </a:spcBef>
              <a:spcAft>
                <a:spcPts val="400"/>
              </a:spcAft>
            </a:pPr>
            <a:r>
              <a:rPr sz="1300" i="0">
                <a:solidFill>
                  <a:srgbClr val="1A365D"/>
                </a:solidFill>
                <a:latin typeface="Cambria Math"/>
              </a:rPr>
              <a:t>ε ~ N(μ_t, σ²)</a:t>
            </a:r>
          </a:p>
          <a:p>
            <a:pPr>
              <a:lnSpc>
                <a:spcPct val="115000"/>
              </a:lnSpc>
              <a:spcAft>
                <a:spcPts val="200"/>
              </a:spcAft>
            </a:pPr>
            <a:r>
              <a:rPr sz="1300">
                <a:solidFill>
                  <a:srgbClr val="333333"/>
                </a:solidFill>
                <a:latin typeface="Calibri"/>
              </a:rPr>
              <a:t>where v_t is the rolling violation rate over the last 100 steps and μ_bias = −0.05 (negative ⇒ lower power).</a:t>
            </a:r>
          </a:p>
        </p:txBody>
      </p:sp>
      <p:sp>
        <p:nvSpPr>
          <p:cNvPr id="5" name="TextBox 4"/>
          <p:cNvSpPr txBox="1"/>
          <p:nvPr/>
        </p:nvSpPr>
        <p:spPr>
          <a:xfrm>
            <a:off x="5577840" y="1097280"/>
            <a:ext cx="329184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Properties</a:t>
            </a:r>
          </a:p>
          <a:p>
            <a:pPr>
              <a:lnSpc>
                <a:spcPct val="115000"/>
              </a:lnSpc>
              <a:spcAft>
                <a:spcPts val="200"/>
              </a:spcAft>
            </a:pPr>
            <a:r>
              <a:rPr sz="1300">
                <a:solidFill>
                  <a:srgbClr val="333333"/>
                </a:solidFill>
                <a:latin typeface="Calibri"/>
              </a:rPr>
              <a:t>• Bias is adaptive — strengthens when violations spike, vanishes once the policy is competent.</a:t>
            </a:r>
          </a:p>
          <a:p>
            <a:pPr>
              <a:lnSpc>
                <a:spcPct val="115000"/>
              </a:lnSpc>
              <a:spcAft>
                <a:spcPts val="200"/>
              </a:spcAft>
            </a:pPr>
            <a:r>
              <a:rPr sz="1300">
                <a:solidFill>
                  <a:srgbClr val="333333"/>
                </a:solidFill>
                <a:latin typeface="Calibri"/>
              </a:rPr>
              <a:t>• decay(t) ensures the bias disappears after T_decay ≈ 1 000 episodes so it does not distort the final policy.</a:t>
            </a:r>
          </a:p>
          <a:p>
            <a:pPr>
              <a:lnSpc>
                <a:spcPct val="115000"/>
              </a:lnSpc>
              <a:spcAft>
                <a:spcPts val="200"/>
              </a:spcAft>
            </a:pPr>
            <a:r>
              <a:rPr sz="1300">
                <a:solidFill>
                  <a:srgbClr val="333333"/>
                </a:solidFill>
                <a:latin typeface="Calibri"/>
              </a:rPr>
              <a:t>• Conceptually similar to "safe exploration" in the robotics literature (García &amp; Fernández, 2015).</a:t>
            </a:r>
          </a:p>
          <a:p>
            <a:pPr>
              <a:lnSpc>
                <a:spcPct val="115000"/>
              </a:lnSpc>
              <a:spcBef>
                <a:spcPts val="400"/>
              </a:spcBef>
              <a:spcAft>
                <a:spcPts val="200"/>
              </a:spcAft>
            </a:pPr>
            <a:r>
              <a:rPr sz="1400" b="1">
                <a:solidFill>
                  <a:srgbClr val="2C5F8D"/>
                </a:solidFill>
                <a:latin typeface="Calibri"/>
              </a:rPr>
              <a:t>Effect Observed</a:t>
            </a:r>
          </a:p>
          <a:p>
            <a:pPr>
              <a:lnSpc>
                <a:spcPct val="115000"/>
              </a:lnSpc>
              <a:spcAft>
                <a:spcPts val="200"/>
              </a:spcAft>
            </a:pPr>
            <a:r>
              <a:rPr sz="1300">
                <a:solidFill>
                  <a:srgbClr val="333333"/>
                </a:solidFill>
                <a:latin typeface="Calibri"/>
              </a:rPr>
              <a:t>• Lower early-training PU outage.</a:t>
            </a:r>
          </a:p>
          <a:p>
            <a:pPr>
              <a:lnSpc>
                <a:spcPct val="115000"/>
              </a:lnSpc>
              <a:spcAft>
                <a:spcPts val="200"/>
              </a:spcAft>
            </a:pPr>
            <a:r>
              <a:rPr sz="1300">
                <a:solidFill>
                  <a:srgbClr val="333333"/>
                </a:solidFill>
                <a:latin typeface="Calibri"/>
              </a:rPr>
              <a:t>• Faster convergence to the constraint-satisfying region.</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Proposed Algorithm — End-to-End Architecture</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97280"/>
            <a:ext cx="8046720" cy="4206240"/>
          </a:xfrm>
          <a:prstGeom prst="rect">
            <a:avLst/>
          </a:prstGeom>
          <a:solidFill>
            <a:srgbClr val="F5F7FA"/>
          </a:solidFill>
          <a:ln w="12700">
            <a:solidFill>
              <a:srgbClr val="2C5F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i="1">
                <a:solidFill>
                  <a:srgbClr val="2C5F8D"/>
                </a:solidFill>
                <a:latin typeface="Calibri"/>
              </a:rPr>
              <a:t>[Diagram placeholder]</a:t>
            </a:r>
          </a:p>
          <a:p>
            <a:pPr algn="ctr"/>
            <a:r>
              <a:rPr sz="1200" i="1">
                <a:solidFill>
                  <a:srgbClr val="2C5F8D"/>
                </a:solidFill>
                <a:latin typeface="Calibri"/>
              </a:rPr>
              <a:t>Architecture diagram —</a:t>
            </a:r>
          </a:p>
          <a:p>
            <a:pPr algn="ctr"/>
            <a:r>
              <a:rPr sz="1200" i="1">
                <a:solidFill>
                  <a:srgbClr val="2C5F8D"/>
                </a:solidFill>
                <a:latin typeface="Calibri"/>
              </a:rPr>
              <a:t>Replay Buffer → GRU Belief Encoder → Actor π(s, b)</a:t>
            </a:r>
          </a:p>
          <a:p>
            <a:pPr algn="ctr"/>
            <a:r>
              <a:rPr sz="1200" i="1">
                <a:solidFill>
                  <a:srgbClr val="2C5F8D"/>
                </a:solidFill>
                <a:latin typeface="Calibri"/>
              </a:rPr>
              <a:t>                                ↘  6 Critics Q^k(s, b, a)</a:t>
            </a:r>
          </a:p>
          <a:p>
            <a:pPr algn="ctr"/>
            <a:r>
              <a:rPr sz="1200" i="1">
                <a:solidFill>
                  <a:srgbClr val="2C5F8D"/>
                </a:solidFill>
                <a:latin typeface="Calibri"/>
              </a:rPr>
              <a:t>Lagrangian (λ₁, λ₂, λ₃) ↻ Dual gradient updates</a:t>
            </a:r>
          </a:p>
          <a:p>
            <a:pPr algn="ctr"/>
            <a:r>
              <a:rPr sz="1200" i="1">
                <a:solidFill>
                  <a:srgbClr val="2C5F8D"/>
                </a:solidFill>
                <a:latin typeface="Calibri"/>
              </a:rPr>
              <a:t>Directional Noise → Action a ∈ [0, P_max] → CRN Environment</a:t>
            </a:r>
          </a:p>
        </p:txBody>
      </p:sp>
      <p:sp>
        <p:nvSpPr>
          <p:cNvPr id="5" name="TextBox 4"/>
          <p:cNvSpPr txBox="1"/>
          <p:nvPr/>
        </p:nvSpPr>
        <p:spPr>
          <a:xfrm>
            <a:off x="548640" y="5394960"/>
            <a:ext cx="8046720" cy="100584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Data flow: environment produces (s_t, r_t^{tput}, r_t^{intf}, r_t^{energy}); the sequence replay buffer keeps the last 8 observations per transition; the GRU encodes them to b_t; the actor outputs P_s with directional noise added during training; six critics learn per-objective Q-values; adaptive Lagrangian weights combine them for the actor loss.</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Proposed Algorithm — Training Pseudocode</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5212080"/>
          </a:xfrm>
          <a:prstGeom prst="rect">
            <a:avLst/>
          </a:prstGeom>
          <a:noFill/>
        </p:spPr>
        <p:txBody>
          <a:bodyPr wrap="square" lIns="45720" rIns="45720">
            <a:spAutoFit/>
          </a:bodyPr>
          <a:lstStyle/>
          <a:p>
            <a:pPr>
              <a:lnSpc>
                <a:spcPct val="115000"/>
              </a:lnSpc>
            </a:pPr>
            <a:r>
              <a:rPr sz="1200">
                <a:solidFill>
                  <a:srgbClr val="1A365D"/>
                </a:solidFill>
                <a:latin typeface="Consolas"/>
              </a:rPr>
              <a:t>Initialise actor π_φ, six critics Q_{θ_{i,k}}, GRU encoder g_ψ</a:t>
            </a:r>
          </a:p>
          <a:p>
            <a:pPr>
              <a:lnSpc>
                <a:spcPct val="115000"/>
              </a:lnSpc>
            </a:pPr>
            <a:r>
              <a:rPr sz="1200">
                <a:solidFill>
                  <a:srgbClr val="1A365D"/>
                </a:solidFill>
                <a:latin typeface="Consolas"/>
              </a:rPr>
              <a:t>Initialise target nets: φ′ ← φ, θ_{i,k}′ ← θ_{i,k}</a:t>
            </a:r>
          </a:p>
          <a:p>
            <a:pPr>
              <a:lnSpc>
                <a:spcPct val="115000"/>
              </a:lnSpc>
            </a:pPr>
            <a:r>
              <a:rPr sz="1200">
                <a:solidFill>
                  <a:srgbClr val="1A365D"/>
                </a:solidFill>
                <a:latin typeface="Consolas"/>
              </a:rPr>
              <a:t>Initialise Lagrangian log-params: log_λ₁ = log(3.0), log_λ₂ = log(1.0), log_λ₃ = log(0.01)</a:t>
            </a:r>
          </a:p>
          <a:p>
            <a:pPr>
              <a:lnSpc>
                <a:spcPct val="115000"/>
              </a:lnSpc>
            </a:pPr>
            <a:r>
              <a:rPr sz="1200">
                <a:solidFill>
                  <a:srgbClr val="1A365D"/>
                </a:solidFill>
                <a:latin typeface="Consolas"/>
              </a:rPr>
              <a:t>Initialise sequence replay buffer D, violation queue v_queue</a:t>
            </a:r>
          </a:p>
          <a:p>
            <a:pPr>
              <a:lnSpc>
                <a:spcPct val="115000"/>
              </a:lnSpc>
            </a:pPr>
            <a:r>
              <a:rPr sz="1200">
                <a:solidFill>
                  <a:srgbClr val="1A365D"/>
                </a:solidFill>
                <a:latin typeface="Consolas"/>
              </a:rPr>
              <a:t/>
            </a:r>
          </a:p>
          <a:p>
            <a:pPr>
              <a:lnSpc>
                <a:spcPct val="115000"/>
              </a:lnSpc>
            </a:pPr>
            <a:r>
              <a:rPr sz="1200">
                <a:solidFill>
                  <a:srgbClr val="1A365D"/>
                </a:solidFill>
                <a:latin typeface="Consolas"/>
              </a:rPr>
              <a:t>for episode = 1 .. N:</a:t>
            </a:r>
          </a:p>
          <a:p>
            <a:pPr>
              <a:lnSpc>
                <a:spcPct val="115000"/>
              </a:lnSpc>
            </a:pPr>
            <a:r>
              <a:rPr sz="1200">
                <a:solidFill>
                  <a:srgbClr val="1A365D"/>
                </a:solidFill>
                <a:latin typeface="Consolas"/>
              </a:rPr>
              <a:t>    reset env, observation history O = deque(maxlen = 8)</a:t>
            </a:r>
          </a:p>
          <a:p>
            <a:pPr>
              <a:lnSpc>
                <a:spcPct val="115000"/>
              </a:lnSpc>
            </a:pPr>
            <a:r>
              <a:rPr sz="1200">
                <a:solidFill>
                  <a:srgbClr val="1A365D"/>
                </a:solidFill>
                <a:latin typeface="Consolas"/>
              </a:rPr>
              <a:t>    for step t = 1 .. 200:</a:t>
            </a:r>
          </a:p>
          <a:p>
            <a:pPr>
              <a:lnSpc>
                <a:spcPct val="115000"/>
              </a:lnSpc>
            </a:pPr>
            <a:r>
              <a:rPr sz="1200">
                <a:solidFill>
                  <a:srgbClr val="1A365D"/>
                </a:solidFill>
                <a:latin typeface="Consolas"/>
              </a:rPr>
              <a:t>        b_t = g_ψ(O)</a:t>
            </a:r>
          </a:p>
          <a:p>
            <a:pPr>
              <a:lnSpc>
                <a:spcPct val="115000"/>
              </a:lnSpc>
            </a:pPr>
            <a:r>
              <a:rPr sz="1200">
                <a:solidFill>
                  <a:srgbClr val="1A365D"/>
                </a:solidFill>
                <a:latin typeface="Consolas"/>
              </a:rPr>
              <a:t>        a_t = clip( π_φ(s_t, b_t) + ε_t, 0, P_max )       # ε_t ~ N(μ_t, σ²)</a:t>
            </a:r>
          </a:p>
          <a:p>
            <a:pPr>
              <a:lnSpc>
                <a:spcPct val="115000"/>
              </a:lnSpc>
            </a:pPr>
            <a:r>
              <a:rPr sz="1200">
                <a:solidFill>
                  <a:srgbClr val="1A365D"/>
                </a:solidFill>
                <a:latin typeface="Consolas"/>
              </a:rPr>
              <a:t>        observe (r^{tput}, r^{intf}, r^{energy}, s_{t+1}, done)</a:t>
            </a:r>
          </a:p>
          <a:p>
            <a:pPr>
              <a:lnSpc>
                <a:spcPct val="115000"/>
              </a:lnSpc>
            </a:pPr>
            <a:r>
              <a:rPr sz="1200">
                <a:solidFill>
                  <a:srgbClr val="1A365D"/>
                </a:solidFill>
                <a:latin typeface="Consolas"/>
              </a:rPr>
              <a:t>        store transition with 8-step history into D</a:t>
            </a:r>
          </a:p>
          <a:p>
            <a:pPr>
              <a:lnSpc>
                <a:spcPct val="115000"/>
              </a:lnSpc>
            </a:pPr>
            <a:r>
              <a:rPr sz="1200">
                <a:solidFill>
                  <a:srgbClr val="1A365D"/>
                </a:solidFill>
                <a:latin typeface="Consolas"/>
              </a:rPr>
              <a:t>        sample mini-batch from D</a:t>
            </a:r>
          </a:p>
          <a:p>
            <a:pPr>
              <a:lnSpc>
                <a:spcPct val="115000"/>
              </a:lnSpc>
            </a:pPr>
            <a:r>
              <a:rPr sz="1200">
                <a:solidFill>
                  <a:srgbClr val="1A365D"/>
                </a:solidFill>
                <a:latin typeface="Consolas"/>
              </a:rPr>
              <a:t>        for k in {tput, intf, energy}:</a:t>
            </a:r>
          </a:p>
          <a:p>
            <a:pPr>
              <a:lnSpc>
                <a:spcPct val="115000"/>
              </a:lnSpc>
            </a:pPr>
            <a:r>
              <a:rPr sz="1200">
                <a:solidFill>
                  <a:srgbClr val="1A365D"/>
                </a:solidFill>
                <a:latin typeface="Consolas"/>
              </a:rPr>
              <a:t>            update twin critics Q_{θ_{1,k}}, Q_{θ_{2,k}} on TD3 target y_k</a:t>
            </a:r>
          </a:p>
          <a:p>
            <a:pPr>
              <a:lnSpc>
                <a:spcPct val="115000"/>
              </a:lnSpc>
            </a:pPr>
            <a:r>
              <a:rPr sz="1200">
                <a:solidFill>
                  <a:srgbClr val="1A365D"/>
                </a:solidFill>
                <a:latin typeface="Consolas"/>
              </a:rPr>
              <a:t>        if t mod 2 == 0:                                    # delayed update</a:t>
            </a:r>
          </a:p>
          <a:p>
            <a:pPr>
              <a:lnSpc>
                <a:spcPct val="115000"/>
              </a:lnSpc>
            </a:pPr>
            <a:r>
              <a:rPr sz="1200">
                <a:solidFill>
                  <a:srgbClr val="1A365D"/>
                </a:solidFill>
                <a:latin typeface="Consolas"/>
              </a:rPr>
              <a:t>            actor loss = − E[ λ₁ Q^{tput} + λ₂ Q^{intf} + λ₃ Q^{energy} ]</a:t>
            </a:r>
          </a:p>
          <a:p>
            <a:pPr>
              <a:lnSpc>
                <a:spcPct val="115000"/>
              </a:lnSpc>
            </a:pPr>
            <a:r>
              <a:rPr sz="1200">
                <a:solidFill>
                  <a:srgbClr val="1A365D"/>
                </a:solidFill>
                <a:latin typeface="Consolas"/>
              </a:rPr>
              <a:t>            update φ and ψ by gradient descent</a:t>
            </a:r>
          </a:p>
          <a:p>
            <a:pPr>
              <a:lnSpc>
                <a:spcPct val="115000"/>
              </a:lnSpc>
            </a:pPr>
            <a:r>
              <a:rPr sz="1200">
                <a:solidFill>
                  <a:srgbClr val="1A365D"/>
                </a:solidFill>
                <a:latin typeface="Consolas"/>
              </a:rPr>
              <a:t>            update Lagrangian: λ_k ← clip(λ_k + η_λ · ∇λ_k L, λ_min, λ_max)</a:t>
            </a:r>
          </a:p>
          <a:p>
            <a:pPr>
              <a:lnSpc>
                <a:spcPct val="115000"/>
              </a:lnSpc>
            </a:pPr>
            <a:r>
              <a:rPr sz="1200">
                <a:solidFill>
                  <a:srgbClr val="1A365D"/>
                </a:solidFill>
                <a:latin typeface="Consolas"/>
              </a:rPr>
              <a:t>            soft-update target networks: φ′, θ′_{i,k}</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0"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0" y="2377440"/>
            <a:ext cx="5760720" cy="1097280"/>
          </a:xfrm>
          <a:prstGeom prst="rect">
            <a:avLst/>
          </a:prstGeom>
          <a:noFill/>
        </p:spPr>
        <p:txBody>
          <a:bodyPr wrap="square">
            <a:spAutoFit/>
          </a:bodyPr>
          <a:lstStyle/>
          <a:p>
            <a:r>
              <a:rPr sz="3600" b="1">
                <a:solidFill>
                  <a:srgbClr val="1A365D"/>
                </a:solidFill>
                <a:latin typeface="Calibri"/>
              </a:rPr>
              <a:t>Implementation &amp; Methodology</a:t>
            </a:r>
          </a:p>
          <a:p>
            <a:r>
              <a:rPr sz="1600" i="1">
                <a:solidFill>
                  <a:srgbClr val="555555"/>
                </a:solidFill>
                <a:latin typeface="Calibri"/>
              </a:rPr>
              <a:t>Software stack, training pipeline, and progression of experiments</a:t>
            </a:r>
          </a:p>
        </p:txBody>
      </p:sp>
      <p:sp>
        <p:nvSpPr>
          <p:cNvPr id="4" name="Rectangle 3"/>
          <p:cNvSpPr/>
          <p:nvPr/>
        </p:nvSpPr>
        <p:spPr>
          <a:xfrm>
            <a:off x="2788920" y="2377440"/>
            <a:ext cx="73152" cy="137160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365760"/>
            <a:ext cx="2286000" cy="457200"/>
          </a:xfrm>
          <a:prstGeom prst="rect">
            <a:avLst/>
          </a:prstGeom>
          <a:noFill/>
        </p:spPr>
        <p:txBody>
          <a:bodyPr wrap="none">
            <a:spAutoFit/>
          </a:bodyPr>
          <a:lstStyle/>
          <a:p>
            <a:r>
              <a:rPr sz="1100" i="1">
                <a:solidFill>
                  <a:srgbClr val="FFFFFF"/>
                </a:solidFill>
                <a:latin typeface="Calibri"/>
              </a:rPr>
              <a:t>SECTION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Implementation Stack</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402336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Languages &amp; Frameworks</a:t>
            </a:r>
          </a:p>
          <a:p>
            <a:pPr>
              <a:lnSpc>
                <a:spcPct val="115000"/>
              </a:lnSpc>
              <a:spcAft>
                <a:spcPts val="200"/>
              </a:spcAft>
            </a:pPr>
            <a:r>
              <a:rPr sz="1300">
                <a:solidFill>
                  <a:srgbClr val="333333"/>
                </a:solidFill>
                <a:latin typeface="Calibri"/>
              </a:rPr>
              <a:t>• Python 3.10 (PyTorch 2.x, NumPy, SciPy)</a:t>
            </a:r>
          </a:p>
          <a:p>
            <a:pPr>
              <a:lnSpc>
                <a:spcPct val="115000"/>
              </a:lnSpc>
              <a:spcAft>
                <a:spcPts val="200"/>
              </a:spcAft>
            </a:pPr>
            <a:r>
              <a:rPr sz="1300">
                <a:solidFill>
                  <a:srgbClr val="333333"/>
                </a:solidFill>
                <a:latin typeface="Calibri"/>
              </a:rPr>
              <a:t>• FastAPI + WebSocket — backend streaming server</a:t>
            </a:r>
          </a:p>
          <a:p>
            <a:pPr>
              <a:lnSpc>
                <a:spcPct val="115000"/>
              </a:lnSpc>
              <a:spcAft>
                <a:spcPts val="200"/>
              </a:spcAft>
            </a:pPr>
            <a:r>
              <a:rPr sz="1300">
                <a:solidFill>
                  <a:srgbClr val="333333"/>
                </a:solidFill>
                <a:latin typeface="Calibri"/>
              </a:rPr>
              <a:t>• React 19 + Vite + Recharts — frontend dashboard</a:t>
            </a:r>
          </a:p>
          <a:p>
            <a:pPr>
              <a:lnSpc>
                <a:spcPct val="115000"/>
              </a:lnSpc>
              <a:spcAft>
                <a:spcPts val="200"/>
              </a:spcAft>
            </a:pPr>
            <a:r>
              <a:rPr sz="1300">
                <a:solidFill>
                  <a:srgbClr val="333333"/>
                </a:solidFill>
                <a:latin typeface="Calibri"/>
              </a:rPr>
              <a:t>• Matplotlib + PDFPages — automated PDF reports</a:t>
            </a:r>
          </a:p>
          <a:p>
            <a:pPr>
              <a:lnSpc>
                <a:spcPct val="115000"/>
              </a:lnSpc>
              <a:spcBef>
                <a:spcPts val="400"/>
              </a:spcBef>
              <a:spcAft>
                <a:spcPts val="200"/>
              </a:spcAft>
            </a:pPr>
            <a:r>
              <a:rPr sz="1400" b="1">
                <a:solidFill>
                  <a:srgbClr val="2C5F8D"/>
                </a:solidFill>
                <a:latin typeface="Calibri"/>
              </a:rPr>
              <a:t>Hardware</a:t>
            </a:r>
          </a:p>
          <a:p>
            <a:pPr>
              <a:lnSpc>
                <a:spcPct val="115000"/>
              </a:lnSpc>
              <a:spcAft>
                <a:spcPts val="200"/>
              </a:spcAft>
            </a:pPr>
            <a:r>
              <a:rPr sz="1300">
                <a:solidFill>
                  <a:srgbClr val="333333"/>
                </a:solidFill>
                <a:latin typeface="Calibri"/>
              </a:rPr>
              <a:t>• Local: NVIDIA RTX 4060 (laptop, CUDA + TF32)</a:t>
            </a:r>
          </a:p>
          <a:p>
            <a:pPr>
              <a:lnSpc>
                <a:spcPct val="115000"/>
              </a:lnSpc>
              <a:spcAft>
                <a:spcPts val="200"/>
              </a:spcAft>
            </a:pPr>
            <a:r>
              <a:rPr sz="1300">
                <a:solidFill>
                  <a:srgbClr val="333333"/>
                </a:solidFill>
                <a:latin typeface="Calibri"/>
              </a:rPr>
              <a:t>• Cloud: Kaggle / Colab T4 GPU for long runs (10 000 episodes)</a:t>
            </a:r>
          </a:p>
        </p:txBody>
      </p:sp>
      <p:sp>
        <p:nvSpPr>
          <p:cNvPr id="5" name="TextBox 4"/>
          <p:cNvSpPr txBox="1"/>
          <p:nvPr/>
        </p:nvSpPr>
        <p:spPr>
          <a:xfrm>
            <a:off x="4663440" y="1097280"/>
            <a:ext cx="420624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Repository Layout</a:t>
            </a:r>
          </a:p>
          <a:p>
            <a:pPr>
              <a:lnSpc>
                <a:spcPct val="115000"/>
              </a:lnSpc>
              <a:spcAft>
                <a:spcPts val="200"/>
              </a:spcAft>
            </a:pPr>
            <a:r>
              <a:rPr sz="1300">
                <a:solidFill>
                  <a:srgbClr val="333333"/>
                </a:solidFill>
                <a:latin typeface="Calibri"/>
              </a:rPr>
              <a:t>• config.py — all hyper-parameters (single source of truth)</a:t>
            </a:r>
          </a:p>
          <a:p>
            <a:pPr>
              <a:lnSpc>
                <a:spcPct val="115000"/>
              </a:lnSpc>
              <a:spcAft>
                <a:spcPts val="200"/>
              </a:spcAft>
            </a:pPr>
            <a:r>
              <a:rPr sz="1300">
                <a:solidFill>
                  <a:srgbClr val="333333"/>
                </a:solidFill>
                <a:latin typeface="Calibri"/>
              </a:rPr>
              <a:t>• environment.py — CRN environment (Gym-like API)</a:t>
            </a:r>
          </a:p>
          <a:p>
            <a:pPr>
              <a:lnSpc>
                <a:spcPct val="115000"/>
              </a:lnSpc>
              <a:spcAft>
                <a:spcPts val="200"/>
              </a:spcAft>
            </a:pPr>
            <a:r>
              <a:rPr sz="1300">
                <a:solidFill>
                  <a:srgbClr val="333333"/>
                </a:solidFill>
                <a:latin typeface="Calibri"/>
              </a:rPr>
              <a:t>• ddpg.py — DDPG agent + OU noise</a:t>
            </a:r>
          </a:p>
          <a:p>
            <a:pPr>
              <a:lnSpc>
                <a:spcPct val="115000"/>
              </a:lnSpc>
              <a:spcAft>
                <a:spcPts val="200"/>
              </a:spcAft>
            </a:pPr>
            <a:r>
              <a:rPr sz="1300">
                <a:solidFill>
                  <a:srgbClr val="333333"/>
                </a:solidFill>
                <a:latin typeface="Calibri"/>
              </a:rPr>
              <a:t>• td3.py — TD3 agent (twin critics, smoothing)</a:t>
            </a:r>
          </a:p>
          <a:p>
            <a:pPr>
              <a:lnSpc>
                <a:spcPct val="115000"/>
              </a:lnSpc>
              <a:spcAft>
                <a:spcPts val="200"/>
              </a:spcAft>
            </a:pPr>
            <a:r>
              <a:rPr sz="1300">
                <a:solidFill>
                  <a:srgbClr val="333333"/>
                </a:solidFill>
                <a:latin typeface="Calibri"/>
              </a:rPr>
              <a:t>• camo_td3.py — Proposed Algorithm (CAMO-TD3)</a:t>
            </a:r>
          </a:p>
          <a:p>
            <a:pPr>
              <a:lnSpc>
                <a:spcPct val="115000"/>
              </a:lnSpc>
              <a:spcAft>
                <a:spcPts val="200"/>
              </a:spcAft>
            </a:pPr>
            <a:r>
              <a:rPr sz="1300">
                <a:solidFill>
                  <a:srgbClr val="333333"/>
                </a:solidFill>
                <a:latin typeface="Calibri"/>
              </a:rPr>
              <a:t>• train_compare.py — multi-algorithm experiment driver</a:t>
            </a:r>
          </a:p>
          <a:p>
            <a:pPr>
              <a:lnSpc>
                <a:spcPct val="115000"/>
              </a:lnSpc>
              <a:spcAft>
                <a:spcPts val="200"/>
              </a:spcAft>
            </a:pPr>
            <a:r>
              <a:rPr sz="1300">
                <a:solidFill>
                  <a:srgbClr val="333333"/>
                </a:solidFill>
                <a:latin typeface="Calibri"/>
              </a:rPr>
              <a:t>• crn_10k_training.ipynb — Kaggle notebook (10 k ep)</a:t>
            </a:r>
          </a:p>
          <a:p>
            <a:pPr>
              <a:lnSpc>
                <a:spcPct val="115000"/>
              </a:lnSpc>
              <a:spcAft>
                <a:spcPts val="200"/>
              </a:spcAft>
            </a:pPr>
            <a:r>
              <a:rPr sz="1300">
                <a:solidFill>
                  <a:srgbClr val="333333"/>
                </a:solidFill>
                <a:latin typeface="Calibri"/>
              </a:rPr>
              <a:t>• server.py / frontend/ — live dashboard</a:t>
            </a:r>
          </a:p>
          <a:p>
            <a:pPr>
              <a:lnSpc>
                <a:spcPct val="115000"/>
              </a:lnSpc>
              <a:spcAft>
                <a:spcPts val="200"/>
              </a:spcAft>
            </a:pPr>
            <a:r>
              <a:rPr sz="1300">
                <a:solidFill>
                  <a:srgbClr val="333333"/>
                </a:solidFill>
                <a:latin typeface="Calibri"/>
              </a:rPr>
              <a:t>• results/ — generated PDFs, PNG checkpoints, logs</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Methodology — Experimental Pipeline</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Step 1 — Environment Setup</a:t>
            </a:r>
          </a:p>
          <a:p>
            <a:pPr>
              <a:lnSpc>
                <a:spcPct val="115000"/>
              </a:lnSpc>
              <a:spcAft>
                <a:spcPts val="200"/>
              </a:spcAft>
            </a:pPr>
            <a:r>
              <a:rPr sz="1300">
                <a:solidFill>
                  <a:srgbClr val="333333"/>
                </a:solidFill>
                <a:latin typeface="Calibri"/>
              </a:rPr>
              <a:t>• Implement the 4-node CRN with Nakagami-m sampler |h|² ~ Gamma(m, Ω/m).</a:t>
            </a:r>
          </a:p>
          <a:p>
            <a:pPr>
              <a:lnSpc>
                <a:spcPct val="115000"/>
              </a:lnSpc>
              <a:spcAft>
                <a:spcPts val="200"/>
              </a:spcAft>
            </a:pPr>
            <a:r>
              <a:rPr sz="1300">
                <a:solidFill>
                  <a:srgbClr val="333333"/>
                </a:solidFill>
                <a:latin typeface="Calibri"/>
              </a:rPr>
              <a:t>• Vectorised SINR / reward computation on GPU tensors.</a:t>
            </a:r>
          </a:p>
          <a:p>
            <a:pPr>
              <a:lnSpc>
                <a:spcPct val="115000"/>
              </a:lnSpc>
              <a:spcBef>
                <a:spcPts val="400"/>
              </a:spcBef>
              <a:spcAft>
                <a:spcPts val="200"/>
              </a:spcAft>
            </a:pPr>
            <a:r>
              <a:rPr sz="1400" b="1">
                <a:solidFill>
                  <a:srgbClr val="2C5F8D"/>
                </a:solidFill>
                <a:latin typeface="Calibri"/>
              </a:rPr>
              <a:t>Step 2 — Baseline (DDPG)</a:t>
            </a:r>
          </a:p>
          <a:p>
            <a:pPr>
              <a:lnSpc>
                <a:spcPct val="115000"/>
              </a:lnSpc>
              <a:spcAft>
                <a:spcPts val="200"/>
              </a:spcAft>
            </a:pPr>
            <a:r>
              <a:rPr sz="1300">
                <a:solidFill>
                  <a:srgbClr val="333333"/>
                </a:solidFill>
                <a:latin typeface="Calibri"/>
              </a:rPr>
              <a:t>• Implement actor + critic + replay buffer + OU noise.</a:t>
            </a:r>
          </a:p>
          <a:p>
            <a:pPr>
              <a:lnSpc>
                <a:spcPct val="115000"/>
              </a:lnSpc>
              <a:spcAft>
                <a:spcPts val="200"/>
              </a:spcAft>
            </a:pPr>
            <a:r>
              <a:rPr sz="1300">
                <a:solidFill>
                  <a:srgbClr val="333333"/>
                </a:solidFill>
                <a:latin typeface="Calibri"/>
              </a:rPr>
              <a:t>• Train 3 500 episodes × 200 steps; log episode reward, throughput, outage, BER.</a:t>
            </a:r>
          </a:p>
          <a:p>
            <a:pPr>
              <a:lnSpc>
                <a:spcPct val="115000"/>
              </a:lnSpc>
              <a:spcAft>
                <a:spcPts val="200"/>
              </a:spcAft>
            </a:pPr>
            <a:r>
              <a:rPr sz="1300">
                <a:solidFill>
                  <a:srgbClr val="333333"/>
                </a:solidFill>
                <a:latin typeface="Calibri"/>
              </a:rPr>
              <a:t>• Inference: convergence reached but high variance, sensitive to seed.</a:t>
            </a:r>
          </a:p>
          <a:p>
            <a:pPr>
              <a:lnSpc>
                <a:spcPct val="115000"/>
              </a:lnSpc>
              <a:spcBef>
                <a:spcPts val="400"/>
              </a:spcBef>
              <a:spcAft>
                <a:spcPts val="200"/>
              </a:spcAft>
            </a:pPr>
            <a:r>
              <a:rPr sz="1400" b="1">
                <a:solidFill>
                  <a:srgbClr val="2C5F8D"/>
                </a:solidFill>
                <a:latin typeface="Calibri"/>
              </a:rPr>
              <a:t>Step 3 — Upgrade to TD3</a:t>
            </a:r>
          </a:p>
          <a:p>
            <a:pPr>
              <a:lnSpc>
                <a:spcPct val="115000"/>
              </a:lnSpc>
              <a:spcAft>
                <a:spcPts val="200"/>
              </a:spcAft>
            </a:pPr>
            <a:r>
              <a:rPr sz="1300">
                <a:solidFill>
                  <a:srgbClr val="333333"/>
                </a:solidFill>
                <a:latin typeface="Calibri"/>
              </a:rPr>
              <a:t>• Add twin critics, delayed actor update (d = 2), target smoothing (σ = 0.2, c = 0.5).</a:t>
            </a:r>
          </a:p>
          <a:p>
            <a:pPr>
              <a:lnSpc>
                <a:spcPct val="115000"/>
              </a:lnSpc>
              <a:spcAft>
                <a:spcPts val="200"/>
              </a:spcAft>
            </a:pPr>
            <a:r>
              <a:rPr sz="1300">
                <a:solidFill>
                  <a:srgbClr val="333333"/>
                </a:solidFill>
                <a:latin typeface="Calibri"/>
              </a:rPr>
              <a:t>• Retrain 3 500 episodes — convergence faster, smoother, higher final reward.</a:t>
            </a:r>
          </a:p>
          <a:p>
            <a:pPr>
              <a:lnSpc>
                <a:spcPct val="115000"/>
              </a:lnSpc>
              <a:spcAft>
                <a:spcPts val="200"/>
              </a:spcAft>
            </a:pPr>
            <a:r>
              <a:rPr sz="1300">
                <a:solidFill>
                  <a:srgbClr val="333333"/>
                </a:solidFill>
                <a:latin typeface="Calibri"/>
              </a:rPr>
              <a:t>• Inference: still scalar reward → cannot guarantee SINR_p ≥ γ_th in deep fades.</a:t>
            </a:r>
          </a:p>
          <a:p>
            <a:pPr>
              <a:lnSpc>
                <a:spcPct val="115000"/>
              </a:lnSpc>
              <a:spcBef>
                <a:spcPts val="400"/>
              </a:spcBef>
              <a:spcAft>
                <a:spcPts val="200"/>
              </a:spcAft>
            </a:pPr>
            <a:r>
              <a:rPr sz="1400" b="1">
                <a:solidFill>
                  <a:srgbClr val="2C5F8D"/>
                </a:solidFill>
                <a:latin typeface="Calibri"/>
              </a:rPr>
              <a:t>Step 4 — Proposed Algorithm (CAMO-TD3)</a:t>
            </a:r>
          </a:p>
          <a:p>
            <a:pPr>
              <a:lnSpc>
                <a:spcPct val="115000"/>
              </a:lnSpc>
              <a:spcAft>
                <a:spcPts val="200"/>
              </a:spcAft>
            </a:pPr>
            <a:r>
              <a:rPr sz="1300">
                <a:solidFill>
                  <a:srgbClr val="333333"/>
                </a:solidFill>
                <a:latin typeface="Calibri"/>
              </a:rPr>
              <a:t>• Add GRU belief encoder over SEQ_LEN = 8 observations.</a:t>
            </a:r>
          </a:p>
          <a:p>
            <a:pPr>
              <a:lnSpc>
                <a:spcPct val="115000"/>
              </a:lnSpc>
              <a:spcAft>
                <a:spcPts val="200"/>
              </a:spcAft>
            </a:pPr>
            <a:r>
              <a:rPr sz="1300">
                <a:solidFill>
                  <a:srgbClr val="333333"/>
                </a:solidFill>
                <a:latin typeface="Calibri"/>
              </a:rPr>
              <a:t>• Decompose reward → 6 critics.</a:t>
            </a:r>
          </a:p>
          <a:p>
            <a:pPr>
              <a:lnSpc>
                <a:spcPct val="115000"/>
              </a:lnSpc>
              <a:spcAft>
                <a:spcPts val="200"/>
              </a:spcAft>
            </a:pPr>
            <a:r>
              <a:rPr sz="1300">
                <a:solidFill>
                  <a:srgbClr val="333333"/>
                </a:solidFill>
                <a:latin typeface="Calibri"/>
              </a:rPr>
              <a:t>• Replace fixed weights with adaptive Lagrangian (λ_init = 3.0 / 1.0 / 0.01, η_λ = 5 × 10⁻⁴).</a:t>
            </a:r>
          </a:p>
          <a:p>
            <a:pPr>
              <a:lnSpc>
                <a:spcPct val="115000"/>
              </a:lnSpc>
              <a:spcAft>
                <a:spcPts val="200"/>
              </a:spcAft>
            </a:pPr>
            <a:r>
              <a:rPr sz="1300">
                <a:solidFill>
                  <a:srgbClr val="333333"/>
                </a:solidFill>
                <a:latin typeface="Calibri"/>
              </a:rPr>
              <a:t>• Replace Gaussian noise with directional noise (μ_bias = −0.05, decay over 200 k steps).</a:t>
            </a:r>
          </a:p>
          <a:p>
            <a:pPr>
              <a:lnSpc>
                <a:spcPct val="115000"/>
              </a:lnSpc>
              <a:spcBef>
                <a:spcPts val="400"/>
              </a:spcBef>
              <a:spcAft>
                <a:spcPts val="200"/>
              </a:spcAft>
            </a:pPr>
            <a:r>
              <a:rPr sz="1400" b="1">
                <a:solidFill>
                  <a:srgbClr val="2C5F8D"/>
                </a:solidFill>
                <a:latin typeface="Calibri"/>
              </a:rPr>
              <a:t>Step 5 — Comparative Reporting</a:t>
            </a:r>
          </a:p>
          <a:p>
            <a:pPr>
              <a:lnSpc>
                <a:spcPct val="115000"/>
              </a:lnSpc>
              <a:spcAft>
                <a:spcPts val="200"/>
              </a:spcAft>
            </a:pPr>
            <a:r>
              <a:rPr sz="1300">
                <a:solidFill>
                  <a:srgbClr val="333333"/>
                </a:solidFill>
                <a:latin typeface="Calibri"/>
              </a:rPr>
              <a:t>• Run all three under identical seeds &amp; Nakagami-m settings; generate multi-page PDFs.</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Hyper-parameters Summary</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45720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All hyper-parameters live in config.py — kept identical across algorithms for fair comparison.</a:t>
            </a:r>
          </a:p>
        </p:txBody>
      </p:sp>
      <p:graphicFrame>
        <p:nvGraphicFramePr>
          <p:cNvPr id="5" name="Table 4"/>
          <p:cNvGraphicFramePr>
            <a:graphicFrameLocks noGrp="1"/>
          </p:cNvGraphicFramePr>
          <p:nvPr/>
        </p:nvGraphicFramePr>
        <p:xfrm>
          <a:off x="457200" y="1645920"/>
          <a:ext cx="8229600" cy="4663440"/>
        </p:xfrm>
        <a:graphic>
          <a:graphicData uri="http://schemas.openxmlformats.org/drawingml/2006/table">
            <a:tbl>
              <a:tblPr firstRow="1" bandRow="1">
                <a:tableStyleId>{5C22544A-7EE6-4342-B048-85BDC9FD1C3A}</a:tableStyleId>
              </a:tblPr>
              <a:tblGrid>
                <a:gridCol w="2743200"/>
                <a:gridCol w="2011680"/>
                <a:gridCol w="3474720"/>
              </a:tblGrid>
              <a:tr h="233172">
                <a:tc>
                  <a:txBody>
                    <a:bodyPr/>
                    <a:lstStyle/>
                    <a:p>
                      <a:pPr algn="l"/>
                      <a:r>
                        <a:rPr sz="1100" b="1">
                          <a:solidFill>
                            <a:srgbClr val="FFFFFF"/>
                          </a:solidFill>
                          <a:latin typeface="Calibri"/>
                        </a:rPr>
                        <a:t>Parameter</a:t>
                      </a:r>
                    </a:p>
                  </a:txBody>
                  <a:tcPr marL="73152" marR="73152" marT="18288" marB="18288">
                    <a:solidFill>
                      <a:srgbClr val="1A365D"/>
                    </a:solidFill>
                  </a:tcPr>
                </a:tc>
                <a:tc>
                  <a:txBody>
                    <a:bodyPr/>
                    <a:lstStyle/>
                    <a:p>
                      <a:pPr algn="l"/>
                      <a:r>
                        <a:rPr sz="1100" b="1">
                          <a:solidFill>
                            <a:srgbClr val="FFFFFF"/>
                          </a:solidFill>
                          <a:latin typeface="Calibri"/>
                        </a:rPr>
                        <a:t>Value</a:t>
                      </a:r>
                    </a:p>
                  </a:txBody>
                  <a:tcPr marL="73152" marR="73152" marT="18288" marB="18288">
                    <a:solidFill>
                      <a:srgbClr val="1A365D"/>
                    </a:solidFill>
                  </a:tcPr>
                </a:tc>
                <a:tc>
                  <a:txBody>
                    <a:bodyPr/>
                    <a:lstStyle/>
                    <a:p>
                      <a:pPr algn="l"/>
                      <a:r>
                        <a:rPr sz="1100" b="1">
                          <a:solidFill>
                            <a:srgbClr val="FFFFFF"/>
                          </a:solidFill>
                          <a:latin typeface="Calibri"/>
                        </a:rPr>
                        <a:t>Notes</a:t>
                      </a:r>
                    </a:p>
                  </a:txBody>
                  <a:tcPr marL="73152" marR="73152" marT="18288" marB="18288">
                    <a:solidFill>
                      <a:srgbClr val="1A365D"/>
                    </a:solidFill>
                  </a:tcPr>
                </a:tc>
              </a:tr>
              <a:tr h="233172">
                <a:tc>
                  <a:txBody>
                    <a:bodyPr/>
                    <a:lstStyle/>
                    <a:p>
                      <a:pPr algn="l"/>
                      <a:r>
                        <a:rPr sz="1100">
                          <a:solidFill>
                            <a:srgbClr val="333333"/>
                          </a:solidFill>
                          <a:latin typeface="Calibri"/>
                        </a:rPr>
                        <a:t>HIDDEN_DIM</a:t>
                      </a:r>
                    </a:p>
                  </a:txBody>
                  <a:tcPr marL="73152" marR="73152" marT="18288" marB="18288">
                    <a:solidFill>
                      <a:srgbClr val="FFFFFF"/>
                    </a:solidFill>
                  </a:tcPr>
                </a:tc>
                <a:tc>
                  <a:txBody>
                    <a:bodyPr/>
                    <a:lstStyle/>
                    <a:p>
                      <a:pPr algn="l"/>
                      <a:r>
                        <a:rPr sz="1100">
                          <a:solidFill>
                            <a:srgbClr val="333333"/>
                          </a:solidFill>
                          <a:latin typeface="Calibri"/>
                        </a:rPr>
                        <a:t>512</a:t>
                      </a:r>
                    </a:p>
                  </a:txBody>
                  <a:tcPr marL="73152" marR="73152" marT="18288" marB="18288">
                    <a:solidFill>
                      <a:srgbClr val="FFFFFF"/>
                    </a:solidFill>
                  </a:tcPr>
                </a:tc>
                <a:tc>
                  <a:txBody>
                    <a:bodyPr/>
                    <a:lstStyle/>
                    <a:p>
                      <a:pPr algn="l"/>
                      <a:r>
                        <a:rPr sz="1100">
                          <a:solidFill>
                            <a:srgbClr val="333333"/>
                          </a:solidFill>
                          <a:latin typeface="Calibri"/>
                        </a:rPr>
                        <a:t>Actor / critic hidden width</a:t>
                      </a:r>
                    </a:p>
                  </a:txBody>
                  <a:tcPr marL="73152" marR="73152" marT="18288" marB="18288">
                    <a:solidFill>
                      <a:srgbClr val="FFFFFF"/>
                    </a:solidFill>
                  </a:tcPr>
                </a:tc>
              </a:tr>
              <a:tr h="233172">
                <a:tc>
                  <a:txBody>
                    <a:bodyPr/>
                    <a:lstStyle/>
                    <a:p>
                      <a:pPr algn="l"/>
                      <a:r>
                        <a:rPr sz="1100">
                          <a:solidFill>
                            <a:srgbClr val="333333"/>
                          </a:solidFill>
                          <a:latin typeface="Calibri"/>
                        </a:rPr>
                        <a:t>BATCH_SIZE</a:t>
                      </a:r>
                    </a:p>
                  </a:txBody>
                  <a:tcPr marL="73152" marR="73152" marT="18288" marB="18288">
                    <a:solidFill>
                      <a:srgbClr val="F5F7FA"/>
                    </a:solidFill>
                  </a:tcPr>
                </a:tc>
                <a:tc>
                  <a:txBody>
                    <a:bodyPr/>
                    <a:lstStyle/>
                    <a:p>
                      <a:pPr algn="l"/>
                      <a:r>
                        <a:rPr sz="1100">
                          <a:solidFill>
                            <a:srgbClr val="333333"/>
                          </a:solidFill>
                          <a:latin typeface="Calibri"/>
                        </a:rPr>
                        <a:t>256</a:t>
                      </a:r>
                    </a:p>
                  </a:txBody>
                  <a:tcPr marL="73152" marR="73152" marT="18288" marB="18288">
                    <a:solidFill>
                      <a:srgbClr val="F5F7FA"/>
                    </a:solidFill>
                  </a:tcPr>
                </a:tc>
                <a:tc>
                  <a:txBody>
                    <a:bodyPr/>
                    <a:lstStyle/>
                    <a:p>
                      <a:pPr algn="l"/>
                      <a:r>
                        <a:rPr sz="1100">
                          <a:solidFill>
                            <a:srgbClr val="333333"/>
                          </a:solidFill>
                          <a:latin typeface="Calibri"/>
                        </a:rPr>
                        <a:t>GPU-efficient mini-batch</a:t>
                      </a:r>
                    </a:p>
                  </a:txBody>
                  <a:tcPr marL="73152" marR="73152" marT="18288" marB="18288">
                    <a:solidFill>
                      <a:srgbClr val="F5F7FA"/>
                    </a:solidFill>
                  </a:tcPr>
                </a:tc>
              </a:tr>
              <a:tr h="233172">
                <a:tc>
                  <a:txBody>
                    <a:bodyPr/>
                    <a:lstStyle/>
                    <a:p>
                      <a:pPr algn="l"/>
                      <a:r>
                        <a:rPr sz="1100">
                          <a:solidFill>
                            <a:srgbClr val="333333"/>
                          </a:solidFill>
                          <a:latin typeface="Calibri"/>
                        </a:rPr>
                        <a:t>LR_ACTOR / LR_CRITIC</a:t>
                      </a:r>
                    </a:p>
                  </a:txBody>
                  <a:tcPr marL="73152" marR="73152" marT="18288" marB="18288">
                    <a:solidFill>
                      <a:srgbClr val="FFFFFF"/>
                    </a:solidFill>
                  </a:tcPr>
                </a:tc>
                <a:tc>
                  <a:txBody>
                    <a:bodyPr/>
                    <a:lstStyle/>
                    <a:p>
                      <a:pPr algn="l"/>
                      <a:r>
                        <a:rPr sz="1100">
                          <a:solidFill>
                            <a:srgbClr val="333333"/>
                          </a:solidFill>
                          <a:latin typeface="Calibri"/>
                        </a:rPr>
                        <a:t>3 × 10⁻⁴</a:t>
                      </a:r>
                    </a:p>
                  </a:txBody>
                  <a:tcPr marL="73152" marR="73152" marT="18288" marB="18288">
                    <a:solidFill>
                      <a:srgbClr val="FFFFFF"/>
                    </a:solidFill>
                  </a:tcPr>
                </a:tc>
                <a:tc>
                  <a:txBody>
                    <a:bodyPr/>
                    <a:lstStyle/>
                    <a:p>
                      <a:pPr algn="l"/>
                      <a:r>
                        <a:rPr sz="1100">
                          <a:solidFill>
                            <a:srgbClr val="333333"/>
                          </a:solidFill>
                          <a:latin typeface="Calibri"/>
                        </a:rPr>
                        <a:t>Adam optimiser</a:t>
                      </a:r>
                    </a:p>
                  </a:txBody>
                  <a:tcPr marL="73152" marR="73152" marT="18288" marB="18288">
                    <a:solidFill>
                      <a:srgbClr val="FFFFFF"/>
                    </a:solidFill>
                  </a:tcPr>
                </a:tc>
              </a:tr>
              <a:tr h="233172">
                <a:tc>
                  <a:txBody>
                    <a:bodyPr/>
                    <a:lstStyle/>
                    <a:p>
                      <a:pPr algn="l"/>
                      <a:r>
                        <a:rPr sz="1100">
                          <a:solidFill>
                            <a:srgbClr val="333333"/>
                          </a:solidFill>
                          <a:latin typeface="Calibri"/>
                        </a:rPr>
                        <a:t>GAMMA_DISCOUNT</a:t>
                      </a:r>
                    </a:p>
                  </a:txBody>
                  <a:tcPr marL="73152" marR="73152" marT="18288" marB="18288">
                    <a:solidFill>
                      <a:srgbClr val="F5F7FA"/>
                    </a:solidFill>
                  </a:tcPr>
                </a:tc>
                <a:tc>
                  <a:txBody>
                    <a:bodyPr/>
                    <a:lstStyle/>
                    <a:p>
                      <a:pPr algn="l"/>
                      <a:r>
                        <a:rPr sz="1100">
                          <a:solidFill>
                            <a:srgbClr val="333333"/>
                          </a:solidFill>
                          <a:latin typeface="Calibri"/>
                        </a:rPr>
                        <a:t>0.99</a:t>
                      </a:r>
                    </a:p>
                  </a:txBody>
                  <a:tcPr marL="73152" marR="73152" marT="18288" marB="18288">
                    <a:solidFill>
                      <a:srgbClr val="F5F7FA"/>
                    </a:solidFill>
                  </a:tcPr>
                </a:tc>
                <a:tc>
                  <a:txBody>
                    <a:bodyPr/>
                    <a:lstStyle/>
                    <a:p>
                      <a:pPr algn="l"/>
                      <a:r>
                        <a:rPr sz="1100">
                          <a:solidFill>
                            <a:srgbClr val="333333"/>
                          </a:solidFill>
                          <a:latin typeface="Calibri"/>
                        </a:rPr>
                        <a:t>Discount factor</a:t>
                      </a:r>
                    </a:p>
                  </a:txBody>
                  <a:tcPr marL="73152" marR="73152" marT="18288" marB="18288">
                    <a:solidFill>
                      <a:srgbClr val="F5F7FA"/>
                    </a:solidFill>
                  </a:tcPr>
                </a:tc>
              </a:tr>
              <a:tr h="233172">
                <a:tc>
                  <a:txBody>
                    <a:bodyPr/>
                    <a:lstStyle/>
                    <a:p>
                      <a:pPr algn="l"/>
                      <a:r>
                        <a:rPr sz="1100">
                          <a:solidFill>
                            <a:srgbClr val="333333"/>
                          </a:solidFill>
                          <a:latin typeface="Calibri"/>
                        </a:rPr>
                        <a:t>TAU</a:t>
                      </a:r>
                    </a:p>
                  </a:txBody>
                  <a:tcPr marL="73152" marR="73152" marT="18288" marB="18288">
                    <a:solidFill>
                      <a:srgbClr val="FFFFFF"/>
                    </a:solidFill>
                  </a:tcPr>
                </a:tc>
                <a:tc>
                  <a:txBody>
                    <a:bodyPr/>
                    <a:lstStyle/>
                    <a:p>
                      <a:pPr algn="l"/>
                      <a:r>
                        <a:rPr sz="1100">
                          <a:solidFill>
                            <a:srgbClr val="333333"/>
                          </a:solidFill>
                          <a:latin typeface="Calibri"/>
                        </a:rPr>
                        <a:t>0.005</a:t>
                      </a:r>
                    </a:p>
                  </a:txBody>
                  <a:tcPr marL="73152" marR="73152" marT="18288" marB="18288">
                    <a:solidFill>
                      <a:srgbClr val="FFFFFF"/>
                    </a:solidFill>
                  </a:tcPr>
                </a:tc>
                <a:tc>
                  <a:txBody>
                    <a:bodyPr/>
                    <a:lstStyle/>
                    <a:p>
                      <a:pPr algn="l"/>
                      <a:r>
                        <a:rPr sz="1100">
                          <a:solidFill>
                            <a:srgbClr val="333333"/>
                          </a:solidFill>
                          <a:latin typeface="Calibri"/>
                        </a:rPr>
                        <a:t>Polyak target update rate</a:t>
                      </a:r>
                    </a:p>
                  </a:txBody>
                  <a:tcPr marL="73152" marR="73152" marT="18288" marB="18288">
                    <a:solidFill>
                      <a:srgbClr val="FFFFFF"/>
                    </a:solidFill>
                  </a:tcPr>
                </a:tc>
              </a:tr>
              <a:tr h="233172">
                <a:tc>
                  <a:txBody>
                    <a:bodyPr/>
                    <a:lstStyle/>
                    <a:p>
                      <a:pPr algn="l"/>
                      <a:r>
                        <a:rPr sz="1100">
                          <a:solidFill>
                            <a:srgbClr val="333333"/>
                          </a:solidFill>
                          <a:latin typeface="Calibri"/>
                        </a:rPr>
                        <a:t>POLICY_NOISE</a:t>
                      </a:r>
                    </a:p>
                  </a:txBody>
                  <a:tcPr marL="73152" marR="73152" marT="18288" marB="18288">
                    <a:solidFill>
                      <a:srgbClr val="F5F7FA"/>
                    </a:solidFill>
                  </a:tcPr>
                </a:tc>
                <a:tc>
                  <a:txBody>
                    <a:bodyPr/>
                    <a:lstStyle/>
                    <a:p>
                      <a:pPr algn="l"/>
                      <a:r>
                        <a:rPr sz="1100">
                          <a:solidFill>
                            <a:srgbClr val="333333"/>
                          </a:solidFill>
                          <a:latin typeface="Calibri"/>
                        </a:rPr>
                        <a:t>0.2</a:t>
                      </a:r>
                    </a:p>
                  </a:txBody>
                  <a:tcPr marL="73152" marR="73152" marT="18288" marB="18288">
                    <a:solidFill>
                      <a:srgbClr val="F5F7FA"/>
                    </a:solidFill>
                  </a:tcPr>
                </a:tc>
                <a:tc>
                  <a:txBody>
                    <a:bodyPr/>
                    <a:lstStyle/>
                    <a:p>
                      <a:pPr algn="l"/>
                      <a:r>
                        <a:rPr sz="1100">
                          <a:solidFill>
                            <a:srgbClr val="333333"/>
                          </a:solidFill>
                          <a:latin typeface="Calibri"/>
                        </a:rPr>
                        <a:t>Target smoothing σ</a:t>
                      </a:r>
                    </a:p>
                  </a:txBody>
                  <a:tcPr marL="73152" marR="73152" marT="18288" marB="18288">
                    <a:solidFill>
                      <a:srgbClr val="F5F7FA"/>
                    </a:solidFill>
                  </a:tcPr>
                </a:tc>
              </a:tr>
              <a:tr h="233172">
                <a:tc>
                  <a:txBody>
                    <a:bodyPr/>
                    <a:lstStyle/>
                    <a:p>
                      <a:pPr algn="l"/>
                      <a:r>
                        <a:rPr sz="1100">
                          <a:solidFill>
                            <a:srgbClr val="333333"/>
                          </a:solidFill>
                          <a:latin typeface="Calibri"/>
                        </a:rPr>
                        <a:t>NOISE_CLIP</a:t>
                      </a:r>
                    </a:p>
                  </a:txBody>
                  <a:tcPr marL="73152" marR="73152" marT="18288" marB="18288">
                    <a:solidFill>
                      <a:srgbClr val="FFFFFF"/>
                    </a:solidFill>
                  </a:tcPr>
                </a:tc>
                <a:tc>
                  <a:txBody>
                    <a:bodyPr/>
                    <a:lstStyle/>
                    <a:p>
                      <a:pPr algn="l"/>
                      <a:r>
                        <a:rPr sz="1100">
                          <a:solidFill>
                            <a:srgbClr val="333333"/>
                          </a:solidFill>
                          <a:latin typeface="Calibri"/>
                        </a:rPr>
                        <a:t>0.5</a:t>
                      </a:r>
                    </a:p>
                  </a:txBody>
                  <a:tcPr marL="73152" marR="73152" marT="18288" marB="18288">
                    <a:solidFill>
                      <a:srgbClr val="FFFFFF"/>
                    </a:solidFill>
                  </a:tcPr>
                </a:tc>
                <a:tc>
                  <a:txBody>
                    <a:bodyPr/>
                    <a:lstStyle/>
                    <a:p>
                      <a:pPr algn="l"/>
                      <a:r>
                        <a:rPr sz="1100">
                          <a:solidFill>
                            <a:srgbClr val="333333"/>
                          </a:solidFill>
                          <a:latin typeface="Calibri"/>
                        </a:rPr>
                        <a:t>Target smoothing clip c</a:t>
                      </a:r>
                    </a:p>
                  </a:txBody>
                  <a:tcPr marL="73152" marR="73152" marT="18288" marB="18288">
                    <a:solidFill>
                      <a:srgbClr val="FFFFFF"/>
                    </a:solidFill>
                  </a:tcPr>
                </a:tc>
              </a:tr>
              <a:tr h="233172">
                <a:tc>
                  <a:txBody>
                    <a:bodyPr/>
                    <a:lstStyle/>
                    <a:p>
                      <a:pPr algn="l"/>
                      <a:r>
                        <a:rPr sz="1100">
                          <a:solidFill>
                            <a:srgbClr val="333333"/>
                          </a:solidFill>
                          <a:latin typeface="Calibri"/>
                        </a:rPr>
                        <a:t>POLICY_DELAY</a:t>
                      </a:r>
                    </a:p>
                  </a:txBody>
                  <a:tcPr marL="73152" marR="73152" marT="18288" marB="18288">
                    <a:solidFill>
                      <a:srgbClr val="F5F7FA"/>
                    </a:solidFill>
                  </a:tcPr>
                </a:tc>
                <a:tc>
                  <a:txBody>
                    <a:bodyPr/>
                    <a:lstStyle/>
                    <a:p>
                      <a:pPr algn="l"/>
                      <a:r>
                        <a:rPr sz="1100">
                          <a:solidFill>
                            <a:srgbClr val="333333"/>
                          </a:solidFill>
                          <a:latin typeface="Calibri"/>
                        </a:rPr>
                        <a:t>2</a:t>
                      </a:r>
                    </a:p>
                  </a:txBody>
                  <a:tcPr marL="73152" marR="73152" marT="18288" marB="18288">
                    <a:solidFill>
                      <a:srgbClr val="F5F7FA"/>
                    </a:solidFill>
                  </a:tcPr>
                </a:tc>
                <a:tc>
                  <a:txBody>
                    <a:bodyPr/>
                    <a:lstStyle/>
                    <a:p>
                      <a:pPr algn="l"/>
                      <a:r>
                        <a:rPr sz="1100">
                          <a:solidFill>
                            <a:srgbClr val="333333"/>
                          </a:solidFill>
                          <a:latin typeface="Calibri"/>
                        </a:rPr>
                        <a:t>Delayed actor update</a:t>
                      </a:r>
                    </a:p>
                  </a:txBody>
                  <a:tcPr marL="73152" marR="73152" marT="18288" marB="18288">
                    <a:solidFill>
                      <a:srgbClr val="F5F7FA"/>
                    </a:solidFill>
                  </a:tcPr>
                </a:tc>
              </a:tr>
              <a:tr h="233172">
                <a:tc>
                  <a:txBody>
                    <a:bodyPr/>
                    <a:lstStyle/>
                    <a:p>
                      <a:pPr algn="l"/>
                      <a:r>
                        <a:rPr sz="1100">
                          <a:solidFill>
                            <a:srgbClr val="333333"/>
                          </a:solidFill>
                          <a:latin typeface="Calibri"/>
                        </a:rPr>
                        <a:t>REPLAY_BUFFER_SIZE</a:t>
                      </a:r>
                    </a:p>
                  </a:txBody>
                  <a:tcPr marL="73152" marR="73152" marT="18288" marB="18288">
                    <a:solidFill>
                      <a:srgbClr val="FFFFFF"/>
                    </a:solidFill>
                  </a:tcPr>
                </a:tc>
                <a:tc>
                  <a:txBody>
                    <a:bodyPr/>
                    <a:lstStyle/>
                    <a:p>
                      <a:pPr algn="l"/>
                      <a:r>
                        <a:rPr sz="1100">
                          <a:solidFill>
                            <a:srgbClr val="333333"/>
                          </a:solidFill>
                          <a:latin typeface="Calibri"/>
                        </a:rPr>
                        <a:t>200 000</a:t>
                      </a:r>
                    </a:p>
                  </a:txBody>
                  <a:tcPr marL="73152" marR="73152" marT="18288" marB="18288">
                    <a:solidFill>
                      <a:srgbClr val="FFFFFF"/>
                    </a:solidFill>
                  </a:tcPr>
                </a:tc>
                <a:tc>
                  <a:txBody>
                    <a:bodyPr/>
                    <a:lstStyle/>
                    <a:p>
                      <a:pPr algn="l"/>
                      <a:r>
                        <a:rPr sz="1100">
                          <a:solidFill>
                            <a:srgbClr val="333333"/>
                          </a:solidFill>
                          <a:latin typeface="Calibri"/>
                        </a:rPr>
                        <a:t>Pre-allocated on GPU</a:t>
                      </a:r>
                    </a:p>
                  </a:txBody>
                  <a:tcPr marL="73152" marR="73152" marT="18288" marB="18288">
                    <a:solidFill>
                      <a:srgbClr val="FFFFFF"/>
                    </a:solidFill>
                  </a:tcPr>
                </a:tc>
              </a:tr>
              <a:tr h="233172">
                <a:tc>
                  <a:txBody>
                    <a:bodyPr/>
                    <a:lstStyle/>
                    <a:p>
                      <a:pPr algn="l"/>
                      <a:r>
                        <a:rPr sz="1100">
                          <a:solidFill>
                            <a:srgbClr val="333333"/>
                          </a:solidFill>
                          <a:latin typeface="Calibri"/>
                        </a:rPr>
                        <a:t>STEPS_PER_EPISODE</a:t>
                      </a:r>
                    </a:p>
                  </a:txBody>
                  <a:tcPr marL="73152" marR="73152" marT="18288" marB="18288">
                    <a:solidFill>
                      <a:srgbClr val="F5F7FA"/>
                    </a:solidFill>
                  </a:tcPr>
                </a:tc>
                <a:tc>
                  <a:txBody>
                    <a:bodyPr/>
                    <a:lstStyle/>
                    <a:p>
                      <a:pPr algn="l"/>
                      <a:r>
                        <a:rPr sz="1100">
                          <a:solidFill>
                            <a:srgbClr val="333333"/>
                          </a:solidFill>
                          <a:latin typeface="Calibri"/>
                        </a:rPr>
                        <a:t>200</a:t>
                      </a:r>
                    </a:p>
                  </a:txBody>
                  <a:tcPr marL="73152" marR="73152" marT="18288" marB="18288">
                    <a:solidFill>
                      <a:srgbClr val="F5F7FA"/>
                    </a:solidFill>
                  </a:tcPr>
                </a:tc>
                <a:tc>
                  <a:txBody>
                    <a:bodyPr/>
                    <a:lstStyle/>
                    <a:p>
                      <a:pPr algn="l"/>
                      <a:r>
                        <a:rPr sz="1100">
                          <a:solidFill>
                            <a:srgbClr val="333333"/>
                          </a:solidFill>
                          <a:latin typeface="Calibri"/>
                        </a:rPr>
                        <a:t>Block-fading per episode</a:t>
                      </a:r>
                    </a:p>
                  </a:txBody>
                  <a:tcPr marL="73152" marR="73152" marT="18288" marB="18288">
                    <a:solidFill>
                      <a:srgbClr val="F5F7FA"/>
                    </a:solidFill>
                  </a:tcPr>
                </a:tc>
              </a:tr>
              <a:tr h="233172">
                <a:tc>
                  <a:txBody>
                    <a:bodyPr/>
                    <a:lstStyle/>
                    <a:p>
                      <a:pPr algn="l"/>
                      <a:r>
                        <a:rPr sz="1100">
                          <a:solidFill>
                            <a:srgbClr val="333333"/>
                          </a:solidFill>
                          <a:latin typeface="Calibri"/>
                        </a:rPr>
                        <a:t>GRU_HIDDEN_SIZE / LAYERS</a:t>
                      </a:r>
                    </a:p>
                  </a:txBody>
                  <a:tcPr marL="73152" marR="73152" marT="18288" marB="18288">
                    <a:solidFill>
                      <a:srgbClr val="FFFFFF"/>
                    </a:solidFill>
                  </a:tcPr>
                </a:tc>
                <a:tc>
                  <a:txBody>
                    <a:bodyPr/>
                    <a:lstStyle/>
                    <a:p>
                      <a:pPr algn="l"/>
                      <a:r>
                        <a:rPr sz="1100">
                          <a:solidFill>
                            <a:srgbClr val="333333"/>
                          </a:solidFill>
                          <a:latin typeface="Calibri"/>
                        </a:rPr>
                        <a:t>64 / 2</a:t>
                      </a:r>
                    </a:p>
                  </a:txBody>
                  <a:tcPr marL="73152" marR="73152" marT="18288" marB="18288">
                    <a:solidFill>
                      <a:srgbClr val="FFFFFF"/>
                    </a:solidFill>
                  </a:tcPr>
                </a:tc>
                <a:tc>
                  <a:txBody>
                    <a:bodyPr/>
                    <a:lstStyle/>
                    <a:p>
                      <a:pPr algn="l"/>
                      <a:r>
                        <a:rPr sz="1100">
                          <a:solidFill>
                            <a:srgbClr val="333333"/>
                          </a:solidFill>
                          <a:latin typeface="Calibri"/>
                        </a:rPr>
                        <a:t>Belief encoder</a:t>
                      </a:r>
                    </a:p>
                  </a:txBody>
                  <a:tcPr marL="73152" marR="73152" marT="18288" marB="18288">
                    <a:solidFill>
                      <a:srgbClr val="FFFFFF"/>
                    </a:solidFill>
                  </a:tcPr>
                </a:tc>
              </a:tr>
              <a:tr h="233172">
                <a:tc>
                  <a:txBody>
                    <a:bodyPr/>
                    <a:lstStyle/>
                    <a:p>
                      <a:pPr algn="l"/>
                      <a:r>
                        <a:rPr sz="1100">
                          <a:solidFill>
                            <a:srgbClr val="333333"/>
                          </a:solidFill>
                          <a:latin typeface="Calibri"/>
                        </a:rPr>
                        <a:t>SEQ_LEN / BELIEF_DIM</a:t>
                      </a:r>
                    </a:p>
                  </a:txBody>
                  <a:tcPr marL="73152" marR="73152" marT="18288" marB="18288">
                    <a:solidFill>
                      <a:srgbClr val="F5F7FA"/>
                    </a:solidFill>
                  </a:tcPr>
                </a:tc>
                <a:tc>
                  <a:txBody>
                    <a:bodyPr/>
                    <a:lstStyle/>
                    <a:p>
                      <a:pPr algn="l"/>
                      <a:r>
                        <a:rPr sz="1100">
                          <a:solidFill>
                            <a:srgbClr val="333333"/>
                          </a:solidFill>
                          <a:latin typeface="Calibri"/>
                        </a:rPr>
                        <a:t>8 / 16</a:t>
                      </a:r>
                    </a:p>
                  </a:txBody>
                  <a:tcPr marL="73152" marR="73152" marT="18288" marB="18288">
                    <a:solidFill>
                      <a:srgbClr val="F5F7FA"/>
                    </a:solidFill>
                  </a:tcPr>
                </a:tc>
                <a:tc>
                  <a:txBody>
                    <a:bodyPr/>
                    <a:lstStyle/>
                    <a:p>
                      <a:pPr algn="l"/>
                      <a:r>
                        <a:rPr sz="1100">
                          <a:solidFill>
                            <a:srgbClr val="333333"/>
                          </a:solidFill>
                          <a:latin typeface="Calibri"/>
                        </a:rPr>
                        <a:t>History length / belief</a:t>
                      </a:r>
                    </a:p>
                  </a:txBody>
                  <a:tcPr marL="73152" marR="73152" marT="18288" marB="18288">
                    <a:solidFill>
                      <a:srgbClr val="F5F7FA"/>
                    </a:solidFill>
                  </a:tcPr>
                </a:tc>
              </a:tr>
              <a:tr h="233172">
                <a:tc>
                  <a:txBody>
                    <a:bodyPr/>
                    <a:lstStyle/>
                    <a:p>
                      <a:pPr algn="l"/>
                      <a:r>
                        <a:rPr sz="1100">
                          <a:solidFill>
                            <a:srgbClr val="333333"/>
                          </a:solidFill>
                          <a:latin typeface="Calibri"/>
                        </a:rPr>
                        <a:t>LAMBDA1 / LAMBDA2 / LAMBDA3 (init)</a:t>
                      </a:r>
                    </a:p>
                  </a:txBody>
                  <a:tcPr marL="73152" marR="73152" marT="18288" marB="18288">
                    <a:solidFill>
                      <a:srgbClr val="FFFFFF"/>
                    </a:solidFill>
                  </a:tcPr>
                </a:tc>
                <a:tc>
                  <a:txBody>
                    <a:bodyPr/>
                    <a:lstStyle/>
                    <a:p>
                      <a:pPr algn="l"/>
                      <a:r>
                        <a:rPr sz="1100">
                          <a:solidFill>
                            <a:srgbClr val="333333"/>
                          </a:solidFill>
                          <a:latin typeface="Calibri"/>
                        </a:rPr>
                        <a:t>3.0 / 1.0 / 0.01</a:t>
                      </a:r>
                    </a:p>
                  </a:txBody>
                  <a:tcPr marL="73152" marR="73152" marT="18288" marB="18288">
                    <a:solidFill>
                      <a:srgbClr val="FFFFFF"/>
                    </a:solidFill>
                  </a:tcPr>
                </a:tc>
                <a:tc>
                  <a:txBody>
                    <a:bodyPr/>
                    <a:lstStyle/>
                    <a:p>
                      <a:pPr algn="l"/>
                      <a:r>
                        <a:rPr sz="1100">
                          <a:solidFill>
                            <a:srgbClr val="333333"/>
                          </a:solidFill>
                          <a:latin typeface="Calibri"/>
                        </a:rPr>
                        <a:t>Adaptive Lagrangians</a:t>
                      </a:r>
                    </a:p>
                  </a:txBody>
                  <a:tcPr marL="73152" marR="73152" marT="18288" marB="18288">
                    <a:solidFill>
                      <a:srgbClr val="FFFFFF"/>
                    </a:solidFill>
                  </a:tcPr>
                </a:tc>
              </a:tr>
              <a:tr h="233172">
                <a:tc>
                  <a:txBody>
                    <a:bodyPr/>
                    <a:lstStyle/>
                    <a:p>
                      <a:pPr algn="l"/>
                      <a:r>
                        <a:rPr sz="1100">
                          <a:solidFill>
                            <a:srgbClr val="333333"/>
                          </a:solidFill>
                          <a:latin typeface="Calibri"/>
                        </a:rPr>
                        <a:t>LR_LAMBDA</a:t>
                      </a:r>
                    </a:p>
                  </a:txBody>
                  <a:tcPr marL="73152" marR="73152" marT="18288" marB="18288">
                    <a:solidFill>
                      <a:srgbClr val="F5F7FA"/>
                    </a:solidFill>
                  </a:tcPr>
                </a:tc>
                <a:tc>
                  <a:txBody>
                    <a:bodyPr/>
                    <a:lstStyle/>
                    <a:p>
                      <a:pPr algn="l"/>
                      <a:r>
                        <a:rPr sz="1100">
                          <a:solidFill>
                            <a:srgbClr val="333333"/>
                          </a:solidFill>
                          <a:latin typeface="Calibri"/>
                        </a:rPr>
                        <a:t>5 × 10⁻⁴</a:t>
                      </a:r>
                    </a:p>
                  </a:txBody>
                  <a:tcPr marL="73152" marR="73152" marT="18288" marB="18288">
                    <a:solidFill>
                      <a:srgbClr val="F5F7FA"/>
                    </a:solidFill>
                  </a:tcPr>
                </a:tc>
                <a:tc>
                  <a:txBody>
                    <a:bodyPr/>
                    <a:lstStyle/>
                    <a:p>
                      <a:pPr algn="l"/>
                      <a:r>
                        <a:rPr sz="1100">
                          <a:solidFill>
                            <a:srgbClr val="333333"/>
                          </a:solidFill>
                          <a:latin typeface="Calibri"/>
                        </a:rPr>
                        <a:t>Dual gradient learning rate</a:t>
                      </a:r>
                    </a:p>
                  </a:txBody>
                  <a:tcPr marL="73152" marR="73152" marT="18288" marB="18288">
                    <a:solidFill>
                      <a:srgbClr val="F5F7FA"/>
                    </a:solidFill>
                  </a:tcPr>
                </a:tc>
              </a:tr>
              <a:tr h="233172">
                <a:tc>
                  <a:txBody>
                    <a:bodyPr/>
                    <a:lstStyle/>
                    <a:p>
                      <a:pPr algn="l"/>
                      <a:r>
                        <a:rPr sz="1100">
                          <a:solidFill>
                            <a:srgbClr val="333333"/>
                          </a:solidFill>
                          <a:latin typeface="Calibri"/>
                        </a:rPr>
                        <a:t>MU_BIAS</a:t>
                      </a:r>
                    </a:p>
                  </a:txBody>
                  <a:tcPr marL="73152" marR="73152" marT="18288" marB="18288">
                    <a:solidFill>
                      <a:srgbClr val="FFFFFF"/>
                    </a:solidFill>
                  </a:tcPr>
                </a:tc>
                <a:tc>
                  <a:txBody>
                    <a:bodyPr/>
                    <a:lstStyle/>
                    <a:p>
                      <a:pPr algn="l"/>
                      <a:r>
                        <a:rPr sz="1100">
                          <a:solidFill>
                            <a:srgbClr val="333333"/>
                          </a:solidFill>
                          <a:latin typeface="Calibri"/>
                        </a:rPr>
                        <a:t>−0.05</a:t>
                      </a:r>
                    </a:p>
                  </a:txBody>
                  <a:tcPr marL="73152" marR="73152" marT="18288" marB="18288">
                    <a:solidFill>
                      <a:srgbClr val="FFFFFF"/>
                    </a:solidFill>
                  </a:tcPr>
                </a:tc>
                <a:tc>
                  <a:txBody>
                    <a:bodyPr/>
                    <a:lstStyle/>
                    <a:p>
                      <a:pPr algn="l"/>
                      <a:r>
                        <a:rPr sz="1100">
                          <a:solidFill>
                            <a:srgbClr val="333333"/>
                          </a:solidFill>
                          <a:latin typeface="Calibri"/>
                        </a:rPr>
                        <a:t>Directional noise mean</a:t>
                      </a:r>
                    </a:p>
                  </a:txBody>
                  <a:tcPr marL="73152" marR="73152" marT="18288" marB="18288">
                    <a:solidFill>
                      <a:srgbClr val="FFFFFF"/>
                    </a:solidFill>
                  </a:tcPr>
                </a:tc>
              </a:tr>
              <a:tr h="233172">
                <a:tc>
                  <a:txBody>
                    <a:bodyPr/>
                    <a:lstStyle/>
                    <a:p>
                      <a:pPr algn="l"/>
                      <a:r>
                        <a:rPr sz="1100">
                          <a:solidFill>
                            <a:srgbClr val="333333"/>
                          </a:solidFill>
                          <a:latin typeface="Calibri"/>
                        </a:rPr>
                        <a:t>NAKAGAMI_m</a:t>
                      </a:r>
                    </a:p>
                  </a:txBody>
                  <a:tcPr marL="73152" marR="73152" marT="18288" marB="18288">
                    <a:solidFill>
                      <a:srgbClr val="F5F7FA"/>
                    </a:solidFill>
                  </a:tcPr>
                </a:tc>
                <a:tc>
                  <a:txBody>
                    <a:bodyPr/>
                    <a:lstStyle/>
                    <a:p>
                      <a:pPr algn="l"/>
                      <a:r>
                        <a:rPr sz="1100">
                          <a:solidFill>
                            <a:srgbClr val="333333"/>
                          </a:solidFill>
                          <a:latin typeface="Calibri"/>
                        </a:rPr>
                        <a:t>1.0 or 3.0</a:t>
                      </a:r>
                    </a:p>
                  </a:txBody>
                  <a:tcPr marL="73152" marR="73152" marT="18288" marB="18288">
                    <a:solidFill>
                      <a:srgbClr val="F5F7FA"/>
                    </a:solidFill>
                  </a:tcPr>
                </a:tc>
                <a:tc>
                  <a:txBody>
                    <a:bodyPr/>
                    <a:lstStyle/>
                    <a:p>
                      <a:pPr algn="l"/>
                      <a:r>
                        <a:rPr sz="1100">
                          <a:solidFill>
                            <a:srgbClr val="333333"/>
                          </a:solidFill>
                          <a:latin typeface="Calibri"/>
                        </a:rPr>
                        <a:t>Fading severity (m=1 Rayleigh, m=3 moderate)</a:t>
                      </a:r>
                    </a:p>
                  </a:txBody>
                  <a:tcPr marL="73152" marR="73152" marT="18288" marB="18288">
                    <a:solidFill>
                      <a:srgbClr val="F5F7FA"/>
                    </a:solidFill>
                  </a:tcPr>
                </a:tc>
              </a:tr>
              <a:tr h="233172">
                <a:tc>
                  <a:txBody>
                    <a:bodyPr/>
                    <a:lstStyle/>
                    <a:p>
                      <a:pPr algn="l"/>
                      <a:r>
                        <a:rPr sz="1100">
                          <a:solidFill>
                            <a:srgbClr val="333333"/>
                          </a:solidFill>
                          <a:latin typeface="Calibri"/>
                        </a:rPr>
                        <a:t>SIGMA²</a:t>
                      </a:r>
                    </a:p>
                  </a:txBody>
                  <a:tcPr marL="73152" marR="73152" marT="18288" marB="18288">
                    <a:solidFill>
                      <a:srgbClr val="FFFFFF"/>
                    </a:solidFill>
                  </a:tcPr>
                </a:tc>
                <a:tc>
                  <a:txBody>
                    <a:bodyPr/>
                    <a:lstStyle/>
                    <a:p>
                      <a:pPr algn="l"/>
                      <a:r>
                        <a:rPr sz="1100">
                          <a:solidFill>
                            <a:srgbClr val="333333"/>
                          </a:solidFill>
                          <a:latin typeface="Calibri"/>
                        </a:rPr>
                        <a:t>10⁻³ W</a:t>
                      </a:r>
                    </a:p>
                  </a:txBody>
                  <a:tcPr marL="73152" marR="73152" marT="18288" marB="18288">
                    <a:solidFill>
                      <a:srgbClr val="FFFFFF"/>
                    </a:solidFill>
                  </a:tcPr>
                </a:tc>
                <a:tc>
                  <a:txBody>
                    <a:bodyPr/>
                    <a:lstStyle/>
                    <a:p>
                      <a:pPr algn="l"/>
                      <a:r>
                        <a:rPr sz="1100">
                          <a:solidFill>
                            <a:srgbClr val="333333"/>
                          </a:solidFill>
                          <a:latin typeface="Calibri"/>
                        </a:rPr>
                        <a:t>AWGN noise power</a:t>
                      </a:r>
                    </a:p>
                  </a:txBody>
                  <a:tcPr marL="73152" marR="73152" marT="18288" marB="18288">
                    <a:solidFill>
                      <a:srgbClr val="FFFFFF"/>
                    </a:solidFill>
                  </a:tcPr>
                </a:tc>
              </a:tr>
              <a:tr h="233172">
                <a:tc>
                  <a:txBody>
                    <a:bodyPr/>
                    <a:lstStyle/>
                    <a:p>
                      <a:pPr algn="l"/>
                      <a:r>
                        <a:rPr sz="1100">
                          <a:solidFill>
                            <a:srgbClr val="333333"/>
                          </a:solidFill>
                          <a:latin typeface="Calibri"/>
                        </a:rPr>
                        <a:t>P_p / P_max</a:t>
                      </a:r>
                    </a:p>
                  </a:txBody>
                  <a:tcPr marL="73152" marR="73152" marT="18288" marB="18288">
                    <a:solidFill>
                      <a:srgbClr val="F5F7FA"/>
                    </a:solidFill>
                  </a:tcPr>
                </a:tc>
                <a:tc>
                  <a:txBody>
                    <a:bodyPr/>
                    <a:lstStyle/>
                    <a:p>
                      <a:pPr algn="l"/>
                      <a:r>
                        <a:rPr sz="1100">
                          <a:solidFill>
                            <a:srgbClr val="333333"/>
                          </a:solidFill>
                          <a:latin typeface="Calibri"/>
                        </a:rPr>
                        <a:t>1.0 / 3.0 W</a:t>
                      </a:r>
                    </a:p>
                  </a:txBody>
                  <a:tcPr marL="73152" marR="73152" marT="18288" marB="18288">
                    <a:solidFill>
                      <a:srgbClr val="F5F7FA"/>
                    </a:solidFill>
                  </a:tcPr>
                </a:tc>
                <a:tc>
                  <a:txBody>
                    <a:bodyPr/>
                    <a:lstStyle/>
                    <a:p>
                      <a:pPr algn="l"/>
                      <a:r>
                        <a:rPr sz="1100">
                          <a:solidFill>
                            <a:srgbClr val="333333"/>
                          </a:solidFill>
                          <a:latin typeface="Calibri"/>
                        </a:rPr>
                        <a:t>Fixed PU and max SU power</a:t>
                      </a:r>
                    </a:p>
                  </a:txBody>
                  <a:tcPr marL="73152" marR="73152" marT="18288" marB="18288">
                    <a:solidFill>
                      <a:srgbClr val="F5F7FA"/>
                    </a:solidFill>
                  </a:tcPr>
                </a:tc>
              </a:tr>
              <a:tr h="233172">
                <a:tc>
                  <a:txBody>
                    <a:bodyPr/>
                    <a:lstStyle/>
                    <a:p>
                      <a:pPr algn="l"/>
                      <a:r>
                        <a:rPr sz="1100">
                          <a:solidFill>
                            <a:srgbClr val="333333"/>
                          </a:solidFill>
                          <a:latin typeface="Calibri"/>
                        </a:rPr>
                        <a:t>SINR_THRESHOLD γ_th</a:t>
                      </a:r>
                    </a:p>
                  </a:txBody>
                  <a:tcPr marL="73152" marR="73152" marT="18288" marB="18288">
                    <a:solidFill>
                      <a:srgbClr val="FFFFFF"/>
                    </a:solidFill>
                  </a:tcPr>
                </a:tc>
                <a:tc>
                  <a:txBody>
                    <a:bodyPr/>
                    <a:lstStyle/>
                    <a:p>
                      <a:pPr algn="l"/>
                      <a:r>
                        <a:rPr sz="1100">
                          <a:solidFill>
                            <a:srgbClr val="333333"/>
                          </a:solidFill>
                          <a:latin typeface="Calibri"/>
                        </a:rPr>
                        <a:t>1.0 (0 dB)</a:t>
                      </a:r>
                    </a:p>
                  </a:txBody>
                  <a:tcPr marL="73152" marR="73152" marT="18288" marB="18288">
                    <a:solidFill>
                      <a:srgbClr val="FFFFFF"/>
                    </a:solidFill>
                  </a:tcPr>
                </a:tc>
                <a:tc>
                  <a:txBody>
                    <a:bodyPr/>
                    <a:lstStyle/>
                    <a:p>
                      <a:pPr algn="l"/>
                      <a:r>
                        <a:rPr sz="1100">
                          <a:solidFill>
                            <a:srgbClr val="333333"/>
                          </a:solidFill>
                          <a:latin typeface="Calibri"/>
                        </a:rPr>
                        <a:t>PU protection threshold</a:t>
                      </a:r>
                    </a:p>
                  </a:txBody>
                  <a:tcPr marL="73152" marR="73152" marT="18288" marB="18288">
                    <a:solidFill>
                      <a:srgbClr val="FFFFFF"/>
                    </a:solidFill>
                  </a:tcPr>
                </a:tc>
              </a:tr>
            </a:tbl>
          </a:graphicData>
        </a:graphic>
      </p:graphicFrame>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Training Loop — Per Time Step</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Sequence Executed Each Step</a:t>
            </a:r>
          </a:p>
          <a:p>
            <a:pPr>
              <a:lnSpc>
                <a:spcPct val="115000"/>
              </a:lnSpc>
              <a:spcAft>
                <a:spcPts val="200"/>
              </a:spcAft>
            </a:pPr>
            <a:r>
              <a:rPr sz="1300">
                <a:solidFill>
                  <a:srgbClr val="333333"/>
                </a:solidFill>
                <a:latin typeface="Calibri"/>
              </a:rPr>
              <a:t>• 1. Sample fresh Nakagami-m channel gains  |h_pp|², |h_sp|², |h_ss|², |h_ps|².</a:t>
            </a:r>
          </a:p>
          <a:p>
            <a:pPr>
              <a:lnSpc>
                <a:spcPct val="115000"/>
              </a:lnSpc>
              <a:spcAft>
                <a:spcPts val="200"/>
              </a:spcAft>
            </a:pPr>
            <a:r>
              <a:rPr sz="1300">
                <a:solidFill>
                  <a:srgbClr val="333333"/>
                </a:solidFill>
                <a:latin typeface="Calibri"/>
              </a:rPr>
              <a:t>• 2. Compute current state s_t (channel gains + SINRs + last action).</a:t>
            </a:r>
          </a:p>
          <a:p>
            <a:pPr>
              <a:lnSpc>
                <a:spcPct val="115000"/>
              </a:lnSpc>
              <a:spcAft>
                <a:spcPts val="200"/>
              </a:spcAft>
            </a:pPr>
            <a:r>
              <a:rPr sz="1300">
                <a:solidFill>
                  <a:srgbClr val="333333"/>
                </a:solidFill>
                <a:latin typeface="Calibri"/>
              </a:rPr>
              <a:t>• 3. Actor produces P_s = π(s_t, b_t) + ε  (exploration noise).</a:t>
            </a:r>
          </a:p>
          <a:p>
            <a:pPr>
              <a:lnSpc>
                <a:spcPct val="115000"/>
              </a:lnSpc>
              <a:spcAft>
                <a:spcPts val="200"/>
              </a:spcAft>
            </a:pPr>
            <a:r>
              <a:rPr sz="1300">
                <a:solidFill>
                  <a:srgbClr val="333333"/>
                </a:solidFill>
                <a:latin typeface="Calibri"/>
              </a:rPr>
              <a:t>• 4. Environment computes SINR_p, SINR_s, R_s, R_p, BER.</a:t>
            </a:r>
          </a:p>
          <a:p>
            <a:pPr>
              <a:lnSpc>
                <a:spcPct val="115000"/>
              </a:lnSpc>
              <a:spcAft>
                <a:spcPts val="200"/>
              </a:spcAft>
            </a:pPr>
            <a:r>
              <a:rPr sz="1300">
                <a:solidFill>
                  <a:srgbClr val="333333"/>
                </a:solidFill>
                <a:latin typeface="Calibri"/>
              </a:rPr>
              <a:t>• 5. Compute reward(s)  → scalar (TD3/DDPG)  or  vector (Proposed).</a:t>
            </a:r>
          </a:p>
          <a:p>
            <a:pPr>
              <a:lnSpc>
                <a:spcPct val="115000"/>
              </a:lnSpc>
              <a:spcAft>
                <a:spcPts val="200"/>
              </a:spcAft>
            </a:pPr>
            <a:r>
              <a:rPr sz="1300">
                <a:solidFill>
                  <a:srgbClr val="333333"/>
                </a:solidFill>
                <a:latin typeface="Calibri"/>
              </a:rPr>
              <a:t>• 6. Store transition in (sequence) replay buffer.</a:t>
            </a:r>
          </a:p>
          <a:p>
            <a:pPr>
              <a:lnSpc>
                <a:spcPct val="115000"/>
              </a:lnSpc>
              <a:spcAft>
                <a:spcPts val="200"/>
              </a:spcAft>
            </a:pPr>
            <a:r>
              <a:rPr sz="1300">
                <a:solidFill>
                  <a:srgbClr val="333333"/>
                </a:solidFill>
                <a:latin typeface="Calibri"/>
              </a:rPr>
              <a:t>• 7. Run gradient updates (2 critic updates : 1 actor update — TD3 policy delay).</a:t>
            </a:r>
          </a:p>
          <a:p>
            <a:pPr>
              <a:lnSpc>
                <a:spcPct val="115000"/>
              </a:lnSpc>
              <a:spcAft>
                <a:spcPts val="200"/>
              </a:spcAft>
            </a:pPr>
            <a:r>
              <a:rPr sz="1300">
                <a:solidFill>
                  <a:srgbClr val="333333"/>
                </a:solidFill>
                <a:latin typeface="Calibri"/>
              </a:rPr>
              <a:t>• 8. Soft-update target networks; update Lagrangians (Proposed only).</a:t>
            </a:r>
          </a:p>
          <a:p>
            <a:pPr>
              <a:lnSpc>
                <a:spcPct val="115000"/>
              </a:lnSpc>
              <a:spcAft>
                <a:spcPts val="200"/>
              </a:spcAft>
            </a:pPr>
            <a:r>
              <a:rPr sz="1300">
                <a:solidFill>
                  <a:srgbClr val="333333"/>
                </a:solidFill>
                <a:latin typeface="Calibri"/>
              </a:rPr>
              <a:t>• 9. Log: episode reward, SU/PU throughput, outage, BER, training stage.</a:t>
            </a:r>
          </a:p>
          <a:p>
            <a:pPr>
              <a:lnSpc>
                <a:spcPct val="115000"/>
              </a:lnSpc>
              <a:spcBef>
                <a:spcPts val="400"/>
              </a:spcBef>
              <a:spcAft>
                <a:spcPts val="200"/>
              </a:spcAft>
            </a:pPr>
            <a:r>
              <a:rPr sz="1400" b="1">
                <a:solidFill>
                  <a:srgbClr val="2C5F8D"/>
                </a:solidFill>
                <a:latin typeface="Calibri"/>
              </a:rPr>
              <a:t>Evaluation Protocol</a:t>
            </a:r>
          </a:p>
          <a:p>
            <a:pPr>
              <a:lnSpc>
                <a:spcPct val="115000"/>
              </a:lnSpc>
              <a:spcAft>
                <a:spcPts val="200"/>
              </a:spcAft>
            </a:pPr>
            <a:r>
              <a:rPr sz="1300">
                <a:solidFill>
                  <a:srgbClr val="333333"/>
                </a:solidFill>
                <a:latin typeface="Calibri"/>
              </a:rPr>
              <a:t>• After training, run 100 evaluation episodes with exploration noise disabled.</a:t>
            </a:r>
          </a:p>
          <a:p>
            <a:pPr>
              <a:lnSpc>
                <a:spcPct val="115000"/>
              </a:lnSpc>
              <a:spcAft>
                <a:spcPts val="200"/>
              </a:spcAft>
            </a:pPr>
            <a:r>
              <a:rPr sz="1300">
                <a:solidFill>
                  <a:srgbClr val="333333"/>
                </a:solidFill>
                <a:latin typeface="Calibri"/>
              </a:rPr>
              <a:t>• Average all metrics over the last 100 training episodes for final headline numbers.</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0"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0" y="2377440"/>
            <a:ext cx="5760720" cy="1097280"/>
          </a:xfrm>
          <a:prstGeom prst="rect">
            <a:avLst/>
          </a:prstGeom>
          <a:noFill/>
        </p:spPr>
        <p:txBody>
          <a:bodyPr wrap="square">
            <a:spAutoFit/>
          </a:bodyPr>
          <a:lstStyle/>
          <a:p>
            <a:r>
              <a:rPr sz="3600" b="1">
                <a:solidFill>
                  <a:srgbClr val="1A365D"/>
                </a:solidFill>
                <a:latin typeface="Calibri"/>
              </a:rPr>
              <a:t>Results &amp; Discussion</a:t>
            </a:r>
          </a:p>
          <a:p>
            <a:r>
              <a:rPr sz="1600" i="1">
                <a:solidFill>
                  <a:srgbClr val="555555"/>
                </a:solidFill>
                <a:latin typeface="Calibri"/>
              </a:rPr>
              <a:t>Fixed-CSI experiments at Nakagami-m = 1 and m = 3</a:t>
            </a:r>
          </a:p>
        </p:txBody>
      </p:sp>
      <p:sp>
        <p:nvSpPr>
          <p:cNvPr id="4" name="Rectangle 3"/>
          <p:cNvSpPr/>
          <p:nvPr/>
        </p:nvSpPr>
        <p:spPr>
          <a:xfrm>
            <a:off x="2788920" y="2377440"/>
            <a:ext cx="73152" cy="137160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365760"/>
            <a:ext cx="2286000" cy="457200"/>
          </a:xfrm>
          <a:prstGeom prst="rect">
            <a:avLst/>
          </a:prstGeom>
          <a:noFill/>
        </p:spPr>
        <p:txBody>
          <a:bodyPr wrap="none">
            <a:spAutoFit/>
          </a:bodyPr>
          <a:lstStyle/>
          <a:p>
            <a:r>
              <a:rPr sz="1100" i="1">
                <a:solidFill>
                  <a:srgbClr val="FFFFFF"/>
                </a:solidFill>
                <a:latin typeface="Calibri"/>
              </a:rPr>
              <a:t>SECTION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Experimental Set-up for Results</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Common Settings</a:t>
            </a:r>
          </a:p>
          <a:p>
            <a:pPr>
              <a:lnSpc>
                <a:spcPct val="115000"/>
              </a:lnSpc>
              <a:spcAft>
                <a:spcPts val="200"/>
              </a:spcAft>
            </a:pPr>
            <a:r>
              <a:rPr sz="1300">
                <a:solidFill>
                  <a:srgbClr val="333333"/>
                </a:solidFill>
                <a:latin typeface="Calibri"/>
              </a:rPr>
              <a:t>• Channel Model: Nakagami-m block fading, Ω = 1.0, σ² = 10⁻³ W.</a:t>
            </a:r>
          </a:p>
          <a:p>
            <a:pPr>
              <a:lnSpc>
                <a:spcPct val="115000"/>
              </a:lnSpc>
              <a:spcAft>
                <a:spcPts val="200"/>
              </a:spcAft>
            </a:pPr>
            <a:r>
              <a:rPr sz="1300">
                <a:solidFill>
                  <a:srgbClr val="333333"/>
                </a:solidFill>
                <a:latin typeface="Calibri"/>
              </a:rPr>
              <a:t>• Powers: P_p = 1.0 W (fixed), P_max = 3.0 W.</a:t>
            </a:r>
          </a:p>
          <a:p>
            <a:pPr>
              <a:lnSpc>
                <a:spcPct val="115000"/>
              </a:lnSpc>
              <a:spcAft>
                <a:spcPts val="200"/>
              </a:spcAft>
            </a:pPr>
            <a:r>
              <a:rPr sz="1300">
                <a:solidFill>
                  <a:srgbClr val="333333"/>
                </a:solidFill>
                <a:latin typeface="Calibri"/>
              </a:rPr>
              <a:t>• PU SINR threshold γ_th = 1.0 (≈ 0 dB).</a:t>
            </a:r>
          </a:p>
          <a:p>
            <a:pPr>
              <a:lnSpc>
                <a:spcPct val="115000"/>
              </a:lnSpc>
              <a:spcAft>
                <a:spcPts val="200"/>
              </a:spcAft>
            </a:pPr>
            <a:r>
              <a:rPr sz="1300">
                <a:solidFill>
                  <a:srgbClr val="333333"/>
                </a:solidFill>
                <a:latin typeface="Calibri"/>
              </a:rPr>
              <a:t>• Episode = 200 steps; identical random seed across algorithms.</a:t>
            </a:r>
          </a:p>
          <a:p>
            <a:pPr>
              <a:lnSpc>
                <a:spcPct val="115000"/>
              </a:lnSpc>
              <a:spcAft>
                <a:spcPts val="200"/>
              </a:spcAft>
            </a:pPr>
            <a:r>
              <a:rPr sz="1300">
                <a:solidFill>
                  <a:srgbClr val="333333"/>
                </a:solidFill>
                <a:latin typeface="Calibri"/>
              </a:rPr>
              <a:t>• CSI assumption: fixed (estimated once per channel coherence block — same for all algorithms).</a:t>
            </a:r>
          </a:p>
          <a:p>
            <a:pPr>
              <a:lnSpc>
                <a:spcPct val="115000"/>
              </a:lnSpc>
              <a:spcBef>
                <a:spcPts val="400"/>
              </a:spcBef>
              <a:spcAft>
                <a:spcPts val="200"/>
              </a:spcAft>
            </a:pPr>
            <a:r>
              <a:rPr sz="1400" b="1">
                <a:solidFill>
                  <a:srgbClr val="2C5F8D"/>
                </a:solidFill>
                <a:latin typeface="Calibri"/>
              </a:rPr>
              <a:t>Experiments Reported</a:t>
            </a:r>
          </a:p>
          <a:p>
            <a:pPr>
              <a:lnSpc>
                <a:spcPct val="115000"/>
              </a:lnSpc>
              <a:spcAft>
                <a:spcPts val="200"/>
              </a:spcAft>
            </a:pPr>
            <a:r>
              <a:rPr sz="1300" b="1">
                <a:solidFill>
                  <a:srgbClr val="1A365D"/>
                </a:solidFill>
                <a:latin typeface="Calibri"/>
              </a:rPr>
              <a:t>• Experiment A — Fixed CSI, m = 1 (severe / Rayleigh):</a:t>
            </a:r>
            <a:r>
              <a:rPr sz="1300">
                <a:solidFill>
                  <a:srgbClr val="333333"/>
                </a:solidFill>
                <a:latin typeface="Calibri"/>
              </a:rPr>
              <a:t> TD3 vs DDPG, 3 500 episodes (run_m1.log).</a:t>
            </a:r>
          </a:p>
          <a:p>
            <a:pPr>
              <a:lnSpc>
                <a:spcPct val="115000"/>
              </a:lnSpc>
              <a:spcAft>
                <a:spcPts val="200"/>
              </a:spcAft>
            </a:pPr>
            <a:r>
              <a:rPr sz="1300" b="1">
                <a:solidFill>
                  <a:srgbClr val="1A365D"/>
                </a:solidFill>
                <a:latin typeface="Calibri"/>
              </a:rPr>
              <a:t>• Experiment B — Fixed CSI, m = 3 (moderate):</a:t>
            </a:r>
            <a:r>
              <a:rPr sz="1300">
                <a:solidFill>
                  <a:srgbClr val="333333"/>
                </a:solidFill>
                <a:latin typeface="Calibri"/>
              </a:rPr>
              <a:t> TD3 vs DDPG, 3 500 episodes (run_m3.log).</a:t>
            </a:r>
          </a:p>
          <a:p>
            <a:pPr>
              <a:lnSpc>
                <a:spcPct val="115000"/>
              </a:lnSpc>
              <a:spcAft>
                <a:spcPts val="200"/>
              </a:spcAft>
            </a:pPr>
            <a:r>
              <a:rPr sz="1300" b="1">
                <a:solidFill>
                  <a:srgbClr val="1A365D"/>
                </a:solidFill>
                <a:latin typeface="Calibri"/>
              </a:rPr>
              <a:t>• Experiment C — 3-way comparison, m = 3:</a:t>
            </a:r>
            <a:r>
              <a:rPr sz="1300">
                <a:solidFill>
                  <a:srgbClr val="333333"/>
                </a:solidFill>
                <a:latin typeface="Calibri"/>
              </a:rPr>
              <a:t> TD3 vs DDPG vs Proposed Algorithm, 1 500 episodes.</a:t>
            </a:r>
          </a:p>
          <a:p>
            <a:pPr>
              <a:lnSpc>
                <a:spcPct val="115000"/>
              </a:lnSpc>
              <a:spcAft>
                <a:spcPts val="200"/>
              </a:spcAft>
            </a:pPr>
            <a:r>
              <a:rPr sz="1300" b="1">
                <a:solidFill>
                  <a:srgbClr val="1A365D"/>
                </a:solidFill>
                <a:latin typeface="Calibri"/>
              </a:rPr>
              <a:t>• Experiment D — Extended 10 000-episode run:</a:t>
            </a:r>
            <a:r>
              <a:rPr sz="1300">
                <a:solidFill>
                  <a:srgbClr val="333333"/>
                </a:solidFill>
                <a:latin typeface="Calibri"/>
              </a:rPr>
              <a:t> TD3 vs DDPG (m = 3) for stability check.</a:t>
            </a:r>
          </a:p>
          <a:p>
            <a:pPr>
              <a:lnSpc>
                <a:spcPct val="115000"/>
              </a:lnSpc>
              <a:spcBef>
                <a:spcPts val="400"/>
              </a:spcBef>
              <a:spcAft>
                <a:spcPts val="200"/>
              </a:spcAft>
            </a:pPr>
            <a:r>
              <a:rPr sz="1400" b="1">
                <a:solidFill>
                  <a:srgbClr val="2C5F8D"/>
                </a:solidFill>
                <a:latin typeface="Calibri"/>
              </a:rPr>
              <a:t>Metrics Tracked</a:t>
            </a:r>
          </a:p>
          <a:p>
            <a:pPr>
              <a:lnSpc>
                <a:spcPct val="115000"/>
              </a:lnSpc>
              <a:spcAft>
                <a:spcPts val="200"/>
              </a:spcAft>
            </a:pPr>
            <a:r>
              <a:rPr sz="1300">
                <a:solidFill>
                  <a:srgbClr val="333333"/>
                </a:solidFill>
                <a:latin typeface="Calibri"/>
              </a:rPr>
              <a:t>• Average episode reward (last 100 ep)  ·  SU throughput (bits/s/Hz)  ·  PU throughput  ·  Outage probability  ·  Average BER  ·  Training time.</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 A — Fixed CSI, m = 1  (TD3 vs DDPG)</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36576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Severe Rayleigh fading — measures robustness in the worst channel.</a:t>
            </a:r>
          </a:p>
        </p:txBody>
      </p:sp>
      <p:graphicFrame>
        <p:nvGraphicFramePr>
          <p:cNvPr id="5" name="Table 4"/>
          <p:cNvGraphicFramePr>
            <a:graphicFrameLocks noGrp="1"/>
          </p:cNvGraphicFramePr>
          <p:nvPr/>
        </p:nvGraphicFramePr>
        <p:xfrm>
          <a:off x="457200" y="1554480"/>
          <a:ext cx="8229600" cy="2377440"/>
        </p:xfrm>
        <a:graphic>
          <a:graphicData uri="http://schemas.openxmlformats.org/drawingml/2006/table">
            <a:tbl>
              <a:tblPr firstRow="1" bandRow="1">
                <a:tableStyleId>{5C22544A-7EE6-4342-B048-85BDC9FD1C3A}</a:tableStyleId>
              </a:tblPr>
              <a:tblGrid>
                <a:gridCol w="3291840"/>
                <a:gridCol w="1645920"/>
                <a:gridCol w="1645920"/>
                <a:gridCol w="1645920"/>
              </a:tblGrid>
              <a:tr h="339634">
                <a:tc>
                  <a:txBody>
                    <a:bodyPr/>
                    <a:lstStyle/>
                    <a:p>
                      <a:pPr algn="l"/>
                      <a:r>
                        <a:rPr sz="1200" b="1">
                          <a:solidFill>
                            <a:srgbClr val="FFFFFF"/>
                          </a:solidFill>
                          <a:latin typeface="Calibri"/>
                        </a:rPr>
                        <a:t>Metric</a:t>
                      </a:r>
                    </a:p>
                  </a:txBody>
                  <a:tcPr marL="73152" marR="73152">
                    <a:solidFill>
                      <a:srgbClr val="1A365D"/>
                    </a:solidFill>
                  </a:tcPr>
                </a:tc>
                <a:tc>
                  <a:txBody>
                    <a:bodyPr/>
                    <a:lstStyle/>
                    <a:p>
                      <a:pPr algn="ctr"/>
                      <a:r>
                        <a:rPr sz="1200" b="1">
                          <a:solidFill>
                            <a:srgbClr val="FFFFFF"/>
                          </a:solidFill>
                          <a:latin typeface="Calibri"/>
                        </a:rPr>
                        <a:t>TD3</a:t>
                      </a:r>
                    </a:p>
                  </a:txBody>
                  <a:tcPr marL="73152" marR="73152">
                    <a:solidFill>
                      <a:srgbClr val="1A365D"/>
                    </a:solidFill>
                  </a:tcPr>
                </a:tc>
                <a:tc>
                  <a:txBody>
                    <a:bodyPr/>
                    <a:lstStyle/>
                    <a:p>
                      <a:pPr algn="ctr"/>
                      <a:r>
                        <a:rPr sz="1200" b="1">
                          <a:solidFill>
                            <a:srgbClr val="FFFFFF"/>
                          </a:solidFill>
                          <a:latin typeface="Calibri"/>
                        </a:rPr>
                        <a:t>DDPG</a:t>
                      </a:r>
                    </a:p>
                  </a:txBody>
                  <a:tcPr marL="73152" marR="73152">
                    <a:solidFill>
                      <a:srgbClr val="1A365D"/>
                    </a:solidFill>
                  </a:tcPr>
                </a:tc>
                <a:tc>
                  <a:txBody>
                    <a:bodyPr/>
                    <a:lstStyle/>
                    <a:p>
                      <a:pPr algn="ctr"/>
                      <a:r>
                        <a:rPr sz="1200" b="1">
                          <a:solidFill>
                            <a:srgbClr val="FFFFFF"/>
                          </a:solidFill>
                          <a:latin typeface="Calibri"/>
                        </a:rPr>
                        <a:t>Winner</a:t>
                      </a:r>
                    </a:p>
                  </a:txBody>
                  <a:tcPr marL="73152" marR="73152">
                    <a:solidFill>
                      <a:srgbClr val="1A365D"/>
                    </a:solidFill>
                  </a:tcPr>
                </a:tc>
              </a:tr>
              <a:tr h="339634">
                <a:tc>
                  <a:txBody>
                    <a:bodyPr/>
                    <a:lstStyle/>
                    <a:p>
                      <a:pPr algn="l"/>
                      <a:r>
                        <a:rPr sz="1200">
                          <a:solidFill>
                            <a:srgbClr val="333333"/>
                          </a:solidFill>
                          <a:latin typeface="Calibri"/>
                        </a:rPr>
                        <a:t>Avg Reward (last 100 ep)</a:t>
                      </a:r>
                    </a:p>
                  </a:txBody>
                  <a:tcPr marL="73152" marR="73152">
                    <a:solidFill>
                      <a:srgbClr val="FFFFFF"/>
                    </a:solidFill>
                  </a:tcPr>
                </a:tc>
                <a:tc>
                  <a:txBody>
                    <a:bodyPr/>
                    <a:lstStyle/>
                    <a:p>
                      <a:pPr algn="ctr"/>
                      <a:r>
                        <a:rPr sz="1200">
                          <a:solidFill>
                            <a:srgbClr val="333333"/>
                          </a:solidFill>
                          <a:latin typeface="Calibri"/>
                        </a:rPr>
                        <a:t>310.75</a:t>
                      </a:r>
                    </a:p>
                  </a:txBody>
                  <a:tcPr marL="73152" marR="73152">
                    <a:solidFill>
                      <a:srgbClr val="FFFFFF"/>
                    </a:solidFill>
                  </a:tcPr>
                </a:tc>
                <a:tc>
                  <a:txBody>
                    <a:bodyPr/>
                    <a:lstStyle/>
                    <a:p>
                      <a:pPr algn="ctr"/>
                      <a:r>
                        <a:rPr sz="1200">
                          <a:solidFill>
                            <a:srgbClr val="333333"/>
                          </a:solidFill>
                          <a:latin typeface="Calibri"/>
                        </a:rPr>
                        <a:t>272.07</a:t>
                      </a:r>
                    </a:p>
                  </a:txBody>
                  <a:tcPr marL="73152" marR="73152">
                    <a:solidFill>
                      <a:srgbClr val="FFFFFF"/>
                    </a:solidFill>
                  </a:tcPr>
                </a:tc>
                <a:tc>
                  <a:txBody>
                    <a:bodyPr/>
                    <a:lstStyle/>
                    <a:p>
                      <a:pPr algn="ctr"/>
                      <a:r>
                        <a:rPr sz="1200" b="1">
                          <a:solidFill>
                            <a:srgbClr val="0B7A75"/>
                          </a:solidFill>
                          <a:latin typeface="Calibri"/>
                        </a:rPr>
                        <a:t>TD3</a:t>
                      </a:r>
                    </a:p>
                  </a:txBody>
                  <a:tcPr marL="73152" marR="73152">
                    <a:solidFill>
                      <a:srgbClr val="FFFFFF"/>
                    </a:solidFill>
                  </a:tcPr>
                </a:tc>
              </a:tr>
              <a:tr h="339634">
                <a:tc>
                  <a:txBody>
                    <a:bodyPr/>
                    <a:lstStyle/>
                    <a:p>
                      <a:pPr algn="l"/>
                      <a:r>
                        <a:rPr sz="1200">
                          <a:solidFill>
                            <a:srgbClr val="333333"/>
                          </a:solidFill>
                          <a:latin typeface="Calibri"/>
                        </a:rPr>
                        <a:t>SU Throughput (bits/s/Hz)</a:t>
                      </a:r>
                    </a:p>
                  </a:txBody>
                  <a:tcPr marL="73152" marR="73152">
                    <a:solidFill>
                      <a:srgbClr val="F5F7FA"/>
                    </a:solidFill>
                  </a:tcPr>
                </a:tc>
                <a:tc>
                  <a:txBody>
                    <a:bodyPr/>
                    <a:lstStyle/>
                    <a:p>
                      <a:pPr algn="ctr"/>
                      <a:r>
                        <a:rPr sz="1200">
                          <a:solidFill>
                            <a:srgbClr val="333333"/>
                          </a:solidFill>
                          <a:latin typeface="Calibri"/>
                        </a:rPr>
                        <a:t>2.365</a:t>
                      </a:r>
                    </a:p>
                  </a:txBody>
                  <a:tcPr marL="73152" marR="73152">
                    <a:solidFill>
                      <a:srgbClr val="F5F7FA"/>
                    </a:solidFill>
                  </a:tcPr>
                </a:tc>
                <a:tc>
                  <a:txBody>
                    <a:bodyPr/>
                    <a:lstStyle/>
                    <a:p>
                      <a:pPr algn="ctr"/>
                      <a:r>
                        <a:rPr sz="1200">
                          <a:solidFill>
                            <a:srgbClr val="333333"/>
                          </a:solidFill>
                          <a:latin typeface="Calibri"/>
                        </a:rPr>
                        <a:t>2.065</a:t>
                      </a:r>
                    </a:p>
                  </a:txBody>
                  <a:tcPr marL="73152" marR="73152">
                    <a:solidFill>
                      <a:srgbClr val="F5F7FA"/>
                    </a:solidFill>
                  </a:tcPr>
                </a:tc>
                <a:tc>
                  <a:txBody>
                    <a:bodyPr/>
                    <a:lstStyle/>
                    <a:p>
                      <a:pPr algn="ctr"/>
                      <a:r>
                        <a:rPr sz="1200" b="1">
                          <a:solidFill>
                            <a:srgbClr val="0B7A75"/>
                          </a:solidFill>
                          <a:latin typeface="Calibri"/>
                        </a:rPr>
                        <a:t>TD3</a:t>
                      </a:r>
                    </a:p>
                  </a:txBody>
                  <a:tcPr marL="73152" marR="73152">
                    <a:solidFill>
                      <a:srgbClr val="F5F7FA"/>
                    </a:solidFill>
                  </a:tcPr>
                </a:tc>
              </a:tr>
              <a:tr h="339634">
                <a:tc>
                  <a:txBody>
                    <a:bodyPr/>
                    <a:lstStyle/>
                    <a:p>
                      <a:pPr algn="l"/>
                      <a:r>
                        <a:rPr sz="1200">
                          <a:solidFill>
                            <a:srgbClr val="333333"/>
                          </a:solidFill>
                          <a:latin typeface="Calibri"/>
                        </a:rPr>
                        <a:t>PU Throughput (bits/s/Hz)</a:t>
                      </a:r>
                    </a:p>
                  </a:txBody>
                  <a:tcPr marL="73152" marR="73152">
                    <a:solidFill>
                      <a:srgbClr val="FFFFFF"/>
                    </a:solidFill>
                  </a:tcPr>
                </a:tc>
                <a:tc>
                  <a:txBody>
                    <a:bodyPr/>
                    <a:lstStyle/>
                    <a:p>
                      <a:pPr algn="ctr"/>
                      <a:r>
                        <a:rPr sz="1200">
                          <a:solidFill>
                            <a:srgbClr val="333333"/>
                          </a:solidFill>
                          <a:latin typeface="Calibri"/>
                        </a:rPr>
                        <a:t>0.785</a:t>
                      </a:r>
                    </a:p>
                  </a:txBody>
                  <a:tcPr marL="73152" marR="73152">
                    <a:solidFill>
                      <a:srgbClr val="FFFFFF"/>
                    </a:solidFill>
                  </a:tcPr>
                </a:tc>
                <a:tc>
                  <a:txBody>
                    <a:bodyPr/>
                    <a:lstStyle/>
                    <a:p>
                      <a:pPr algn="ctr"/>
                      <a:r>
                        <a:rPr sz="1200">
                          <a:solidFill>
                            <a:srgbClr val="333333"/>
                          </a:solidFill>
                          <a:latin typeface="Calibri"/>
                        </a:rPr>
                        <a:t>0.999</a:t>
                      </a:r>
                    </a:p>
                  </a:txBody>
                  <a:tcPr marL="73152" marR="73152">
                    <a:solidFill>
                      <a:srgbClr val="FFFFFF"/>
                    </a:solidFill>
                  </a:tcPr>
                </a:tc>
                <a:tc>
                  <a:txBody>
                    <a:bodyPr/>
                    <a:lstStyle/>
                    <a:p>
                      <a:pPr algn="ctr"/>
                      <a:r>
                        <a:rPr sz="1200" b="1">
                          <a:solidFill>
                            <a:srgbClr val="C88B00"/>
                          </a:solidFill>
                          <a:latin typeface="Calibri"/>
                        </a:rPr>
                        <a:t>DDPG</a:t>
                      </a:r>
                    </a:p>
                  </a:txBody>
                  <a:tcPr marL="73152" marR="73152">
                    <a:solidFill>
                      <a:srgbClr val="FFFFFF"/>
                    </a:solidFill>
                  </a:tcPr>
                </a:tc>
              </a:tr>
              <a:tr h="339634">
                <a:tc>
                  <a:txBody>
                    <a:bodyPr/>
                    <a:lstStyle/>
                    <a:p>
                      <a:pPr algn="l"/>
                      <a:r>
                        <a:rPr sz="1200">
                          <a:solidFill>
                            <a:srgbClr val="333333"/>
                          </a:solidFill>
                          <a:latin typeface="Calibri"/>
                        </a:rPr>
                        <a:t>Outage Probability</a:t>
                      </a:r>
                    </a:p>
                  </a:txBody>
                  <a:tcPr marL="73152" marR="73152">
                    <a:solidFill>
                      <a:srgbClr val="F5F7FA"/>
                    </a:solidFill>
                  </a:tcPr>
                </a:tc>
                <a:tc>
                  <a:txBody>
                    <a:bodyPr/>
                    <a:lstStyle/>
                    <a:p>
                      <a:pPr algn="ctr"/>
                      <a:r>
                        <a:rPr sz="1200">
                          <a:solidFill>
                            <a:srgbClr val="333333"/>
                          </a:solidFill>
                          <a:latin typeface="Calibri"/>
                        </a:rPr>
                        <a:t>0.249</a:t>
                      </a:r>
                    </a:p>
                  </a:txBody>
                  <a:tcPr marL="73152" marR="73152">
                    <a:solidFill>
                      <a:srgbClr val="F5F7FA"/>
                    </a:solidFill>
                  </a:tcPr>
                </a:tc>
                <a:tc>
                  <a:txBody>
                    <a:bodyPr/>
                    <a:lstStyle/>
                    <a:p>
                      <a:pPr algn="ctr"/>
                      <a:r>
                        <a:rPr sz="1200">
                          <a:solidFill>
                            <a:srgbClr val="333333"/>
                          </a:solidFill>
                          <a:latin typeface="Calibri"/>
                        </a:rPr>
                        <a:t>0.321</a:t>
                      </a:r>
                    </a:p>
                  </a:txBody>
                  <a:tcPr marL="73152" marR="73152">
                    <a:solidFill>
                      <a:srgbClr val="F5F7FA"/>
                    </a:solidFill>
                  </a:tcPr>
                </a:tc>
                <a:tc>
                  <a:txBody>
                    <a:bodyPr/>
                    <a:lstStyle/>
                    <a:p>
                      <a:pPr algn="ctr"/>
                      <a:r>
                        <a:rPr sz="1200" b="1">
                          <a:solidFill>
                            <a:srgbClr val="0B7A75"/>
                          </a:solidFill>
                          <a:latin typeface="Calibri"/>
                        </a:rPr>
                        <a:t>TD3</a:t>
                      </a:r>
                    </a:p>
                  </a:txBody>
                  <a:tcPr marL="73152" marR="73152">
                    <a:solidFill>
                      <a:srgbClr val="F5F7FA"/>
                    </a:solidFill>
                  </a:tcPr>
                </a:tc>
              </a:tr>
              <a:tr h="339634">
                <a:tc>
                  <a:txBody>
                    <a:bodyPr/>
                    <a:lstStyle/>
                    <a:p>
                      <a:pPr algn="l"/>
                      <a:r>
                        <a:rPr sz="1200">
                          <a:solidFill>
                            <a:srgbClr val="333333"/>
                          </a:solidFill>
                          <a:latin typeface="Calibri"/>
                        </a:rPr>
                        <a:t>Average BER</a:t>
                      </a:r>
                    </a:p>
                  </a:txBody>
                  <a:tcPr marL="73152" marR="73152">
                    <a:solidFill>
                      <a:srgbClr val="FFFFFF"/>
                    </a:solidFill>
                  </a:tcPr>
                </a:tc>
                <a:tc>
                  <a:txBody>
                    <a:bodyPr/>
                    <a:lstStyle/>
                    <a:p>
                      <a:pPr algn="ctr"/>
                      <a:r>
                        <a:rPr sz="1200">
                          <a:solidFill>
                            <a:srgbClr val="333333"/>
                          </a:solidFill>
                          <a:latin typeface="Calibri"/>
                        </a:rPr>
                        <a:t>0.0589</a:t>
                      </a:r>
                    </a:p>
                  </a:txBody>
                  <a:tcPr marL="73152" marR="73152">
                    <a:solidFill>
                      <a:srgbClr val="FFFFFF"/>
                    </a:solidFill>
                  </a:tcPr>
                </a:tc>
                <a:tc>
                  <a:txBody>
                    <a:bodyPr/>
                    <a:lstStyle/>
                    <a:p>
                      <a:pPr algn="ctr"/>
                      <a:r>
                        <a:rPr sz="1200">
                          <a:solidFill>
                            <a:srgbClr val="333333"/>
                          </a:solidFill>
                          <a:latin typeface="Calibri"/>
                        </a:rPr>
                        <a:t>0.0770</a:t>
                      </a:r>
                    </a:p>
                  </a:txBody>
                  <a:tcPr marL="73152" marR="73152">
                    <a:solidFill>
                      <a:srgbClr val="FFFFFF"/>
                    </a:solidFill>
                  </a:tcPr>
                </a:tc>
                <a:tc>
                  <a:txBody>
                    <a:bodyPr/>
                    <a:lstStyle/>
                    <a:p>
                      <a:pPr algn="ctr"/>
                      <a:r>
                        <a:rPr sz="1200" b="1">
                          <a:solidFill>
                            <a:srgbClr val="0B7A75"/>
                          </a:solidFill>
                          <a:latin typeface="Calibri"/>
                        </a:rPr>
                        <a:t>TD3</a:t>
                      </a:r>
                    </a:p>
                  </a:txBody>
                  <a:tcPr marL="73152" marR="73152">
                    <a:solidFill>
                      <a:srgbClr val="FFFFFF"/>
                    </a:solidFill>
                  </a:tcPr>
                </a:tc>
              </a:tr>
              <a:tr h="339636">
                <a:tc>
                  <a:txBody>
                    <a:bodyPr/>
                    <a:lstStyle/>
                    <a:p>
                      <a:pPr algn="l"/>
                      <a:r>
                        <a:rPr sz="1200">
                          <a:solidFill>
                            <a:srgbClr val="333333"/>
                          </a:solidFill>
                          <a:latin typeface="Calibri"/>
                        </a:rPr>
                        <a:t>Training Time (s)</a:t>
                      </a:r>
                    </a:p>
                  </a:txBody>
                  <a:tcPr marL="73152" marR="73152">
                    <a:solidFill>
                      <a:srgbClr val="F5F7FA"/>
                    </a:solidFill>
                  </a:tcPr>
                </a:tc>
                <a:tc>
                  <a:txBody>
                    <a:bodyPr/>
                    <a:lstStyle/>
                    <a:p>
                      <a:pPr algn="ctr"/>
                      <a:r>
                        <a:rPr sz="1200">
                          <a:solidFill>
                            <a:srgbClr val="333333"/>
                          </a:solidFill>
                          <a:latin typeface="Calibri"/>
                        </a:rPr>
                        <a:t>24 163</a:t>
                      </a:r>
                    </a:p>
                  </a:txBody>
                  <a:tcPr marL="73152" marR="73152">
                    <a:solidFill>
                      <a:srgbClr val="F5F7FA"/>
                    </a:solidFill>
                  </a:tcPr>
                </a:tc>
                <a:tc>
                  <a:txBody>
                    <a:bodyPr/>
                    <a:lstStyle/>
                    <a:p>
                      <a:pPr algn="ctr"/>
                      <a:r>
                        <a:rPr sz="1200">
                          <a:solidFill>
                            <a:srgbClr val="333333"/>
                          </a:solidFill>
                          <a:latin typeface="Calibri"/>
                        </a:rPr>
                        <a:t>22 598</a:t>
                      </a:r>
                    </a:p>
                  </a:txBody>
                  <a:tcPr marL="73152" marR="73152">
                    <a:solidFill>
                      <a:srgbClr val="F5F7FA"/>
                    </a:solidFill>
                  </a:tcPr>
                </a:tc>
                <a:tc>
                  <a:txBody>
                    <a:bodyPr/>
                    <a:lstStyle/>
                    <a:p>
                      <a:pPr algn="ctr"/>
                      <a:r>
                        <a:rPr sz="1200">
                          <a:solidFill>
                            <a:srgbClr val="333333"/>
                          </a:solidFill>
                          <a:latin typeface="Calibri"/>
                        </a:rPr>
                        <a:t>–</a:t>
                      </a:r>
                    </a:p>
                  </a:txBody>
                  <a:tcPr marL="73152" marR="73152">
                    <a:solidFill>
                      <a:srgbClr val="F5F7FA"/>
                    </a:solidFill>
                  </a:tcPr>
                </a:tc>
              </a:tr>
            </a:tbl>
          </a:graphicData>
        </a:graphic>
      </p:graphicFrame>
      <p:sp>
        <p:nvSpPr>
          <p:cNvPr id="6" name="TextBox 5"/>
          <p:cNvSpPr txBox="1"/>
          <p:nvPr/>
        </p:nvSpPr>
        <p:spPr>
          <a:xfrm>
            <a:off x="457200" y="4114800"/>
            <a:ext cx="8229600" cy="228600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Observations</a:t>
            </a:r>
          </a:p>
          <a:p>
            <a:pPr>
              <a:lnSpc>
                <a:spcPct val="115000"/>
              </a:lnSpc>
              <a:spcAft>
                <a:spcPts val="200"/>
              </a:spcAft>
            </a:pPr>
            <a:r>
              <a:rPr sz="1300">
                <a:solidFill>
                  <a:srgbClr val="333333"/>
                </a:solidFill>
                <a:latin typeface="Calibri"/>
              </a:rPr>
              <a:t>• TD3 wins on 4 out of 5 quality metrics — higher SU throughput, lower outage, lower BER, higher reward.</a:t>
            </a:r>
          </a:p>
          <a:p>
            <a:pPr>
              <a:lnSpc>
                <a:spcPct val="115000"/>
              </a:lnSpc>
              <a:spcAft>
                <a:spcPts val="200"/>
              </a:spcAft>
            </a:pPr>
            <a:r>
              <a:rPr sz="1300">
                <a:solidFill>
                  <a:srgbClr val="333333"/>
                </a:solidFill>
                <a:latin typeface="Calibri"/>
              </a:rPr>
              <a:t>• DDPG achieves slightly higher PU throughput because it transmits less aggressively (lower mean P_s), but this comes at the cost of SU performance.</a:t>
            </a:r>
          </a:p>
          <a:p>
            <a:pPr>
              <a:lnSpc>
                <a:spcPct val="115000"/>
              </a:lnSpc>
              <a:spcAft>
                <a:spcPts val="200"/>
              </a:spcAft>
            </a:pPr>
            <a:r>
              <a:rPr sz="1300">
                <a:solidFill>
                  <a:srgbClr val="333333"/>
                </a:solidFill>
                <a:latin typeface="Calibri"/>
              </a:rPr>
              <a:t>• Under m = 1 Rayleigh fading, both agents struggle to push outage below 25 % — this motivates the constrained design of the Proposed Algorithm.</a:t>
            </a:r>
          </a:p>
          <a:p>
            <a:pPr>
              <a:lnSpc>
                <a:spcPct val="115000"/>
              </a:lnSpc>
              <a:spcAft>
                <a:spcPts val="200"/>
              </a:spcAft>
            </a:pPr>
            <a:r>
              <a:rPr sz="1300">
                <a:solidFill>
                  <a:srgbClr val="333333"/>
                </a:solidFill>
                <a:latin typeface="Calibri"/>
              </a:rPr>
              <a:t>• Note — Stick the SU-throughput-vs-episode and outage-vs-episode plots (next two slides) here for visual confirmation.</a:t>
            </a:r>
          </a:p>
        </p:txBody>
      </p:sp>
      <p:sp>
        <p:nvSpPr>
          <p:cNvPr id="7" name="TextBox 6"/>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 A — SU Throughput vs Episodes (m = 1)</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1-04.png"/>
          <p:cNvPicPr>
            <a:picLocks noChangeAspect="1"/>
          </p:cNvPicPr>
          <p:nvPr/>
        </p:nvPicPr>
        <p:blipFill>
          <a:blip r:embed="rId2"/>
          <a:stretch>
            <a:fillRect/>
          </a:stretch>
        </p:blipFill>
        <p:spPr>
          <a:xfrm>
            <a:off x="640080" y="1097280"/>
            <a:ext cx="7863840" cy="4279713"/>
          </a:xfrm>
          <a:prstGeom prst="rect">
            <a:avLst/>
          </a:prstGeom>
        </p:spPr>
      </p:pic>
      <p:sp>
        <p:nvSpPr>
          <p:cNvPr id="5" name="TextBox 4"/>
          <p:cNvSpPr txBox="1"/>
          <p:nvPr/>
        </p:nvSpPr>
        <p:spPr>
          <a:xfrm>
            <a:off x="457200" y="5349240"/>
            <a:ext cx="8229600" cy="274320"/>
          </a:xfrm>
          <a:prstGeom prst="rect">
            <a:avLst/>
          </a:prstGeom>
          <a:noFill/>
        </p:spPr>
        <p:txBody>
          <a:bodyPr wrap="none" lIns="0" rIns="0" tIns="0" bIns="0">
            <a:spAutoFit/>
          </a:bodyPr>
          <a:lstStyle/>
          <a:p>
            <a:pPr algn="ctr"/>
            <a:r>
              <a:rPr sz="1000" i="1">
                <a:solidFill>
                  <a:srgbClr val="555555"/>
                </a:solidFill>
                <a:latin typeface="Calibri"/>
              </a:rPr>
              <a:t>Figure: Secondary-user throughput across training episodes — TD3 consistently above DDPG under Rayleigh (m = 1) fading.</a:t>
            </a:r>
          </a:p>
        </p:txBody>
      </p:sp>
      <p:sp>
        <p:nvSpPr>
          <p:cNvPr id="6" name="TextBox 5"/>
          <p:cNvSpPr txBox="1"/>
          <p:nvPr/>
        </p:nvSpPr>
        <p:spPr>
          <a:xfrm>
            <a:off x="457200" y="5623560"/>
            <a:ext cx="8229600" cy="91440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Note — Diagram placement: put this graph on the SU-throughput slide. TD3 reaches ~2.35 bits/s/Hz while DDPG saturates ~2.05 bits/s/Hz.</a:t>
            </a:r>
          </a:p>
        </p:txBody>
      </p:sp>
      <p:sp>
        <p:nvSpPr>
          <p:cNvPr id="7" name="TextBox 6"/>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600" b="1">
                <a:solidFill>
                  <a:srgbClr val="1A365D"/>
                </a:solidFill>
                <a:latin typeface="Calibri"/>
              </a:rPr>
              <a:t>Experiment A — Outage Probability vs Episodes (m = 1)</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1-06.png"/>
          <p:cNvPicPr>
            <a:picLocks noChangeAspect="1"/>
          </p:cNvPicPr>
          <p:nvPr/>
        </p:nvPicPr>
        <p:blipFill>
          <a:blip r:embed="rId2"/>
          <a:stretch>
            <a:fillRect/>
          </a:stretch>
        </p:blipFill>
        <p:spPr>
          <a:xfrm>
            <a:off x="640080" y="1097280"/>
            <a:ext cx="7863840" cy="4279713"/>
          </a:xfrm>
          <a:prstGeom prst="rect">
            <a:avLst/>
          </a:prstGeom>
        </p:spPr>
      </p:pic>
      <p:sp>
        <p:nvSpPr>
          <p:cNvPr id="5" name="TextBox 4"/>
          <p:cNvSpPr txBox="1"/>
          <p:nvPr/>
        </p:nvSpPr>
        <p:spPr>
          <a:xfrm>
            <a:off x="457200" y="5349240"/>
            <a:ext cx="8229600" cy="274320"/>
          </a:xfrm>
          <a:prstGeom prst="rect">
            <a:avLst/>
          </a:prstGeom>
          <a:noFill/>
        </p:spPr>
        <p:txBody>
          <a:bodyPr wrap="none" lIns="0" rIns="0" tIns="0" bIns="0">
            <a:spAutoFit/>
          </a:bodyPr>
          <a:lstStyle/>
          <a:p>
            <a:pPr algn="ctr"/>
            <a:r>
              <a:rPr sz="1000" i="1">
                <a:solidFill>
                  <a:srgbClr val="555555"/>
                </a:solidFill>
                <a:latin typeface="Calibri"/>
              </a:rPr>
              <a:t>Figure: Outage probability (SINR_s &lt; 1.0) over episodes — TD3 falls to ~25 %, DDPG only to ~32 %; both are above the 5 % target line under m = 1.</a:t>
            </a:r>
          </a:p>
        </p:txBody>
      </p:sp>
      <p:sp>
        <p:nvSpPr>
          <p:cNvPr id="6" name="TextBox 5"/>
          <p:cNvSpPr txBox="1"/>
          <p:nvPr/>
        </p:nvSpPr>
        <p:spPr>
          <a:xfrm>
            <a:off x="457200" y="5623560"/>
            <a:ext cx="8229600" cy="91440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Note — Diagram placement: outage slide for Experiment A. Note how slowly DDPG converges, motivating the move to TD3.</a:t>
            </a:r>
          </a:p>
        </p:txBody>
      </p:sp>
      <p:sp>
        <p:nvSpPr>
          <p:cNvPr id="7" name="TextBox 6"/>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 A — SU SINR vs BER (m = 1)</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1-02.png"/>
          <p:cNvPicPr>
            <a:picLocks noChangeAspect="1"/>
          </p:cNvPicPr>
          <p:nvPr/>
        </p:nvPicPr>
        <p:blipFill>
          <a:blip r:embed="rId2"/>
          <a:stretch>
            <a:fillRect/>
          </a:stretch>
        </p:blipFill>
        <p:spPr>
          <a:xfrm>
            <a:off x="640080" y="1097280"/>
            <a:ext cx="7863840" cy="4677949"/>
          </a:xfrm>
          <a:prstGeom prst="rect">
            <a:avLst/>
          </a:prstGeom>
        </p:spPr>
      </p:pic>
      <p:sp>
        <p:nvSpPr>
          <p:cNvPr id="5" name="TextBox 4"/>
          <p:cNvSpPr txBox="1"/>
          <p:nvPr/>
        </p:nvSpPr>
        <p:spPr>
          <a:xfrm>
            <a:off x="457200" y="5349240"/>
            <a:ext cx="8229600" cy="274320"/>
          </a:xfrm>
          <a:prstGeom prst="rect">
            <a:avLst/>
          </a:prstGeom>
          <a:noFill/>
        </p:spPr>
        <p:txBody>
          <a:bodyPr wrap="none" lIns="0" rIns="0" tIns="0" bIns="0">
            <a:spAutoFit/>
          </a:bodyPr>
          <a:lstStyle/>
          <a:p>
            <a:pPr algn="ctr"/>
            <a:r>
              <a:rPr sz="1000" i="1">
                <a:solidFill>
                  <a:srgbClr val="555555"/>
                </a:solidFill>
                <a:latin typeface="Calibri"/>
              </a:rPr>
              <a:t>Figure: Scatter of simulated SU points overlaid on theoretical BPSK / Nakagami-m=1 curves; both algorithms track theory but TD3 has lower mean BER.</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 A — PU SINR vs BER (m = 1)</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1-03.png"/>
          <p:cNvPicPr>
            <a:picLocks noChangeAspect="1"/>
          </p:cNvPicPr>
          <p:nvPr/>
        </p:nvPicPr>
        <p:blipFill>
          <a:blip r:embed="rId2"/>
          <a:stretch>
            <a:fillRect/>
          </a:stretch>
        </p:blipFill>
        <p:spPr>
          <a:xfrm>
            <a:off x="640080" y="1097280"/>
            <a:ext cx="7863840" cy="4677949"/>
          </a:xfrm>
          <a:prstGeom prst="rect">
            <a:avLst/>
          </a:prstGeom>
        </p:spPr>
      </p:pic>
      <p:sp>
        <p:nvSpPr>
          <p:cNvPr id="5" name="TextBox 4"/>
          <p:cNvSpPr txBox="1"/>
          <p:nvPr/>
        </p:nvSpPr>
        <p:spPr>
          <a:xfrm>
            <a:off x="457200" y="5349240"/>
            <a:ext cx="8229600" cy="274320"/>
          </a:xfrm>
          <a:prstGeom prst="rect">
            <a:avLst/>
          </a:prstGeom>
          <a:noFill/>
        </p:spPr>
        <p:txBody>
          <a:bodyPr wrap="none" lIns="0" rIns="0" tIns="0" bIns="0">
            <a:spAutoFit/>
          </a:bodyPr>
          <a:lstStyle/>
          <a:p>
            <a:pPr algn="ctr"/>
            <a:r>
              <a:rPr sz="1000" i="1">
                <a:solidFill>
                  <a:srgbClr val="555555"/>
                </a:solidFill>
                <a:latin typeface="Calibri"/>
              </a:rPr>
              <a:t>Figure: PU receiver — Vertical line indicates the SINR threshold. DDPG keeps PU SINR slightly higher (less interference) than TD3.</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 B — Fixed CSI, m = 3  (TD3 vs DDPG)</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36576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Moderate Nakagami fading — closer to typical urban / line-of-sight CRN deployments.</a:t>
            </a:r>
          </a:p>
        </p:txBody>
      </p:sp>
      <p:graphicFrame>
        <p:nvGraphicFramePr>
          <p:cNvPr id="5" name="Table 4"/>
          <p:cNvGraphicFramePr>
            <a:graphicFrameLocks noGrp="1"/>
          </p:cNvGraphicFramePr>
          <p:nvPr/>
        </p:nvGraphicFramePr>
        <p:xfrm>
          <a:off x="457200" y="1554480"/>
          <a:ext cx="8229600" cy="2377440"/>
        </p:xfrm>
        <a:graphic>
          <a:graphicData uri="http://schemas.openxmlformats.org/drawingml/2006/table">
            <a:tbl>
              <a:tblPr firstRow="1" bandRow="1">
                <a:tableStyleId>{5C22544A-7EE6-4342-B048-85BDC9FD1C3A}</a:tableStyleId>
              </a:tblPr>
              <a:tblGrid>
                <a:gridCol w="3291840"/>
                <a:gridCol w="1645920"/>
                <a:gridCol w="1645920"/>
                <a:gridCol w="1645920"/>
              </a:tblGrid>
              <a:tr h="339634">
                <a:tc>
                  <a:txBody>
                    <a:bodyPr/>
                    <a:lstStyle/>
                    <a:p>
                      <a:pPr algn="l"/>
                      <a:r>
                        <a:rPr sz="1200" b="1">
                          <a:solidFill>
                            <a:srgbClr val="FFFFFF"/>
                          </a:solidFill>
                          <a:latin typeface="Calibri"/>
                        </a:rPr>
                        <a:t>Metric</a:t>
                      </a:r>
                    </a:p>
                  </a:txBody>
                  <a:tcPr marL="73152" marR="73152">
                    <a:solidFill>
                      <a:srgbClr val="1A365D"/>
                    </a:solidFill>
                  </a:tcPr>
                </a:tc>
                <a:tc>
                  <a:txBody>
                    <a:bodyPr/>
                    <a:lstStyle/>
                    <a:p>
                      <a:pPr algn="ctr"/>
                      <a:r>
                        <a:rPr sz="1200" b="1">
                          <a:solidFill>
                            <a:srgbClr val="FFFFFF"/>
                          </a:solidFill>
                          <a:latin typeface="Calibri"/>
                        </a:rPr>
                        <a:t>TD3</a:t>
                      </a:r>
                    </a:p>
                  </a:txBody>
                  <a:tcPr marL="73152" marR="73152">
                    <a:solidFill>
                      <a:srgbClr val="1A365D"/>
                    </a:solidFill>
                  </a:tcPr>
                </a:tc>
                <a:tc>
                  <a:txBody>
                    <a:bodyPr/>
                    <a:lstStyle/>
                    <a:p>
                      <a:pPr algn="ctr"/>
                      <a:r>
                        <a:rPr sz="1200" b="1">
                          <a:solidFill>
                            <a:srgbClr val="FFFFFF"/>
                          </a:solidFill>
                          <a:latin typeface="Calibri"/>
                        </a:rPr>
                        <a:t>DDPG</a:t>
                      </a:r>
                    </a:p>
                  </a:txBody>
                  <a:tcPr marL="73152" marR="73152">
                    <a:solidFill>
                      <a:srgbClr val="1A365D"/>
                    </a:solidFill>
                  </a:tcPr>
                </a:tc>
                <a:tc>
                  <a:txBody>
                    <a:bodyPr/>
                    <a:lstStyle/>
                    <a:p>
                      <a:pPr algn="ctr"/>
                      <a:r>
                        <a:rPr sz="1200" b="1">
                          <a:solidFill>
                            <a:srgbClr val="FFFFFF"/>
                          </a:solidFill>
                          <a:latin typeface="Calibri"/>
                        </a:rPr>
                        <a:t>Winner</a:t>
                      </a:r>
                    </a:p>
                  </a:txBody>
                  <a:tcPr marL="73152" marR="73152">
                    <a:solidFill>
                      <a:srgbClr val="1A365D"/>
                    </a:solidFill>
                  </a:tcPr>
                </a:tc>
              </a:tr>
              <a:tr h="339634">
                <a:tc>
                  <a:txBody>
                    <a:bodyPr/>
                    <a:lstStyle/>
                    <a:p>
                      <a:pPr algn="l"/>
                      <a:r>
                        <a:rPr sz="1200">
                          <a:solidFill>
                            <a:srgbClr val="333333"/>
                          </a:solidFill>
                          <a:latin typeface="Calibri"/>
                        </a:rPr>
                        <a:t>Avg Reward (last 100 ep)</a:t>
                      </a:r>
                    </a:p>
                  </a:txBody>
                  <a:tcPr marL="73152" marR="73152">
                    <a:solidFill>
                      <a:srgbClr val="FFFFFF"/>
                    </a:solidFill>
                  </a:tcPr>
                </a:tc>
                <a:tc>
                  <a:txBody>
                    <a:bodyPr/>
                    <a:lstStyle/>
                    <a:p>
                      <a:pPr algn="ctr"/>
                      <a:r>
                        <a:rPr sz="1200">
                          <a:solidFill>
                            <a:srgbClr val="333333"/>
                          </a:solidFill>
                          <a:latin typeface="Calibri"/>
                        </a:rPr>
                        <a:t>241.24</a:t>
                      </a:r>
                    </a:p>
                  </a:txBody>
                  <a:tcPr marL="73152" marR="73152">
                    <a:solidFill>
                      <a:srgbClr val="FFFFFF"/>
                    </a:solidFill>
                  </a:tcPr>
                </a:tc>
                <a:tc>
                  <a:txBody>
                    <a:bodyPr/>
                    <a:lstStyle/>
                    <a:p>
                      <a:pPr algn="ctr"/>
                      <a:r>
                        <a:rPr sz="1200">
                          <a:solidFill>
                            <a:srgbClr val="333333"/>
                          </a:solidFill>
                          <a:latin typeface="Calibri"/>
                        </a:rPr>
                        <a:t>209.11</a:t>
                      </a:r>
                    </a:p>
                  </a:txBody>
                  <a:tcPr marL="73152" marR="73152">
                    <a:solidFill>
                      <a:srgbClr val="FFFFFF"/>
                    </a:solidFill>
                  </a:tcPr>
                </a:tc>
                <a:tc>
                  <a:txBody>
                    <a:bodyPr/>
                    <a:lstStyle/>
                    <a:p>
                      <a:pPr algn="ctr"/>
                      <a:r>
                        <a:rPr sz="1200" b="1">
                          <a:solidFill>
                            <a:srgbClr val="0B7A75"/>
                          </a:solidFill>
                          <a:latin typeface="Calibri"/>
                        </a:rPr>
                        <a:t>TD3</a:t>
                      </a:r>
                    </a:p>
                  </a:txBody>
                  <a:tcPr marL="73152" marR="73152">
                    <a:solidFill>
                      <a:srgbClr val="FFFFFF"/>
                    </a:solidFill>
                  </a:tcPr>
                </a:tc>
              </a:tr>
              <a:tr h="339634">
                <a:tc>
                  <a:txBody>
                    <a:bodyPr/>
                    <a:lstStyle/>
                    <a:p>
                      <a:pPr algn="l"/>
                      <a:r>
                        <a:rPr sz="1200">
                          <a:solidFill>
                            <a:srgbClr val="333333"/>
                          </a:solidFill>
                          <a:latin typeface="Calibri"/>
                        </a:rPr>
                        <a:t>SU Throughput (bits/s/Hz)</a:t>
                      </a:r>
                    </a:p>
                  </a:txBody>
                  <a:tcPr marL="73152" marR="73152">
                    <a:solidFill>
                      <a:srgbClr val="F5F7FA"/>
                    </a:solidFill>
                  </a:tcPr>
                </a:tc>
                <a:tc>
                  <a:txBody>
                    <a:bodyPr/>
                    <a:lstStyle/>
                    <a:p>
                      <a:pPr algn="ctr"/>
                      <a:r>
                        <a:rPr sz="1200">
                          <a:solidFill>
                            <a:srgbClr val="333333"/>
                          </a:solidFill>
                          <a:latin typeface="Calibri"/>
                        </a:rPr>
                        <a:t>2.067</a:t>
                      </a:r>
                    </a:p>
                  </a:txBody>
                  <a:tcPr marL="73152" marR="73152">
                    <a:solidFill>
                      <a:srgbClr val="F5F7FA"/>
                    </a:solidFill>
                  </a:tcPr>
                </a:tc>
                <a:tc>
                  <a:txBody>
                    <a:bodyPr/>
                    <a:lstStyle/>
                    <a:p>
                      <a:pPr algn="ctr"/>
                      <a:r>
                        <a:rPr sz="1200">
                          <a:solidFill>
                            <a:srgbClr val="333333"/>
                          </a:solidFill>
                          <a:latin typeface="Calibri"/>
                        </a:rPr>
                        <a:t>1.693</a:t>
                      </a:r>
                    </a:p>
                  </a:txBody>
                  <a:tcPr marL="73152" marR="73152">
                    <a:solidFill>
                      <a:srgbClr val="F5F7FA"/>
                    </a:solidFill>
                  </a:tcPr>
                </a:tc>
                <a:tc>
                  <a:txBody>
                    <a:bodyPr/>
                    <a:lstStyle/>
                    <a:p>
                      <a:pPr algn="ctr"/>
                      <a:r>
                        <a:rPr sz="1200" b="1">
                          <a:solidFill>
                            <a:srgbClr val="0B7A75"/>
                          </a:solidFill>
                          <a:latin typeface="Calibri"/>
                        </a:rPr>
                        <a:t>TD3</a:t>
                      </a:r>
                    </a:p>
                  </a:txBody>
                  <a:tcPr marL="73152" marR="73152">
                    <a:solidFill>
                      <a:srgbClr val="F5F7FA"/>
                    </a:solidFill>
                  </a:tcPr>
                </a:tc>
              </a:tr>
              <a:tr h="339634">
                <a:tc>
                  <a:txBody>
                    <a:bodyPr/>
                    <a:lstStyle/>
                    <a:p>
                      <a:pPr algn="l"/>
                      <a:r>
                        <a:rPr sz="1200">
                          <a:solidFill>
                            <a:srgbClr val="333333"/>
                          </a:solidFill>
                          <a:latin typeface="Calibri"/>
                        </a:rPr>
                        <a:t>PU Throughput (bits/s/Hz)</a:t>
                      </a:r>
                    </a:p>
                  </a:txBody>
                  <a:tcPr marL="73152" marR="73152">
                    <a:solidFill>
                      <a:srgbClr val="FFFFFF"/>
                    </a:solidFill>
                  </a:tcPr>
                </a:tc>
                <a:tc>
                  <a:txBody>
                    <a:bodyPr/>
                    <a:lstStyle/>
                    <a:p>
                      <a:pPr algn="ctr"/>
                      <a:r>
                        <a:rPr sz="1200">
                          <a:solidFill>
                            <a:srgbClr val="333333"/>
                          </a:solidFill>
                          <a:latin typeface="Calibri"/>
                        </a:rPr>
                        <a:t>0.531</a:t>
                      </a:r>
                    </a:p>
                  </a:txBody>
                  <a:tcPr marL="73152" marR="73152">
                    <a:solidFill>
                      <a:srgbClr val="FFFFFF"/>
                    </a:solidFill>
                  </a:tcPr>
                </a:tc>
                <a:tc>
                  <a:txBody>
                    <a:bodyPr/>
                    <a:lstStyle/>
                    <a:p>
                      <a:pPr algn="ctr"/>
                      <a:r>
                        <a:rPr sz="1200">
                          <a:solidFill>
                            <a:srgbClr val="333333"/>
                          </a:solidFill>
                          <a:latin typeface="Calibri"/>
                        </a:rPr>
                        <a:t>0.774</a:t>
                      </a:r>
                    </a:p>
                  </a:txBody>
                  <a:tcPr marL="73152" marR="73152">
                    <a:solidFill>
                      <a:srgbClr val="FFFFFF"/>
                    </a:solidFill>
                  </a:tcPr>
                </a:tc>
                <a:tc>
                  <a:txBody>
                    <a:bodyPr/>
                    <a:lstStyle/>
                    <a:p>
                      <a:pPr algn="ctr"/>
                      <a:r>
                        <a:rPr sz="1200" b="1">
                          <a:solidFill>
                            <a:srgbClr val="C88B00"/>
                          </a:solidFill>
                          <a:latin typeface="Calibri"/>
                        </a:rPr>
                        <a:t>DDPG</a:t>
                      </a:r>
                    </a:p>
                  </a:txBody>
                  <a:tcPr marL="73152" marR="73152">
                    <a:solidFill>
                      <a:srgbClr val="FFFFFF"/>
                    </a:solidFill>
                  </a:tcPr>
                </a:tc>
              </a:tr>
              <a:tr h="339634">
                <a:tc>
                  <a:txBody>
                    <a:bodyPr/>
                    <a:lstStyle/>
                    <a:p>
                      <a:pPr algn="l"/>
                      <a:r>
                        <a:rPr sz="1200">
                          <a:solidFill>
                            <a:srgbClr val="333333"/>
                          </a:solidFill>
                          <a:latin typeface="Calibri"/>
                        </a:rPr>
                        <a:t>Outage Probability</a:t>
                      </a:r>
                    </a:p>
                  </a:txBody>
                  <a:tcPr marL="73152" marR="73152">
                    <a:solidFill>
                      <a:srgbClr val="F5F7FA"/>
                    </a:solidFill>
                  </a:tcPr>
                </a:tc>
                <a:tc>
                  <a:txBody>
                    <a:bodyPr/>
                    <a:lstStyle/>
                    <a:p>
                      <a:pPr algn="ctr"/>
                      <a:r>
                        <a:rPr sz="1200">
                          <a:solidFill>
                            <a:srgbClr val="333333"/>
                          </a:solidFill>
                          <a:latin typeface="Calibri"/>
                        </a:rPr>
                        <a:t>0.113</a:t>
                      </a:r>
                    </a:p>
                  </a:txBody>
                  <a:tcPr marL="73152" marR="73152">
                    <a:solidFill>
                      <a:srgbClr val="F5F7FA"/>
                    </a:solidFill>
                  </a:tcPr>
                </a:tc>
                <a:tc>
                  <a:txBody>
                    <a:bodyPr/>
                    <a:lstStyle/>
                    <a:p>
                      <a:pPr algn="ctr"/>
                      <a:r>
                        <a:rPr sz="1200">
                          <a:solidFill>
                            <a:srgbClr val="333333"/>
                          </a:solidFill>
                          <a:latin typeface="Calibri"/>
                        </a:rPr>
                        <a:t>0.251</a:t>
                      </a:r>
                    </a:p>
                  </a:txBody>
                  <a:tcPr marL="73152" marR="73152">
                    <a:solidFill>
                      <a:srgbClr val="F5F7FA"/>
                    </a:solidFill>
                  </a:tcPr>
                </a:tc>
                <a:tc>
                  <a:txBody>
                    <a:bodyPr/>
                    <a:lstStyle/>
                    <a:p>
                      <a:pPr algn="ctr"/>
                      <a:r>
                        <a:rPr sz="1200" b="1">
                          <a:solidFill>
                            <a:srgbClr val="0B7A75"/>
                          </a:solidFill>
                          <a:latin typeface="Calibri"/>
                        </a:rPr>
                        <a:t>TD3</a:t>
                      </a:r>
                    </a:p>
                  </a:txBody>
                  <a:tcPr marL="73152" marR="73152">
                    <a:solidFill>
                      <a:srgbClr val="F5F7FA"/>
                    </a:solidFill>
                  </a:tcPr>
                </a:tc>
              </a:tr>
              <a:tr h="339634">
                <a:tc>
                  <a:txBody>
                    <a:bodyPr/>
                    <a:lstStyle/>
                    <a:p>
                      <a:pPr algn="l"/>
                      <a:r>
                        <a:rPr sz="1200">
                          <a:solidFill>
                            <a:srgbClr val="333333"/>
                          </a:solidFill>
                          <a:latin typeface="Calibri"/>
                        </a:rPr>
                        <a:t>Average BER</a:t>
                      </a:r>
                    </a:p>
                  </a:txBody>
                  <a:tcPr marL="73152" marR="73152">
                    <a:solidFill>
                      <a:srgbClr val="FFFFFF"/>
                    </a:solidFill>
                  </a:tcPr>
                </a:tc>
                <a:tc>
                  <a:txBody>
                    <a:bodyPr/>
                    <a:lstStyle/>
                    <a:p>
                      <a:pPr algn="ctr"/>
                      <a:r>
                        <a:rPr sz="1200">
                          <a:solidFill>
                            <a:srgbClr val="333333"/>
                          </a:solidFill>
                          <a:latin typeface="Calibri"/>
                        </a:rPr>
                        <a:t>0.0280</a:t>
                      </a:r>
                    </a:p>
                  </a:txBody>
                  <a:tcPr marL="73152" marR="73152">
                    <a:solidFill>
                      <a:srgbClr val="FFFFFF"/>
                    </a:solidFill>
                  </a:tcPr>
                </a:tc>
                <a:tc>
                  <a:txBody>
                    <a:bodyPr/>
                    <a:lstStyle/>
                    <a:p>
                      <a:pPr algn="ctr"/>
                      <a:r>
                        <a:rPr sz="1200">
                          <a:solidFill>
                            <a:srgbClr val="333333"/>
                          </a:solidFill>
                          <a:latin typeface="Calibri"/>
                        </a:rPr>
                        <a:t>0.0534</a:t>
                      </a:r>
                    </a:p>
                  </a:txBody>
                  <a:tcPr marL="73152" marR="73152">
                    <a:solidFill>
                      <a:srgbClr val="FFFFFF"/>
                    </a:solidFill>
                  </a:tcPr>
                </a:tc>
                <a:tc>
                  <a:txBody>
                    <a:bodyPr/>
                    <a:lstStyle/>
                    <a:p>
                      <a:pPr algn="ctr"/>
                      <a:r>
                        <a:rPr sz="1200" b="1">
                          <a:solidFill>
                            <a:srgbClr val="0B7A75"/>
                          </a:solidFill>
                          <a:latin typeface="Calibri"/>
                        </a:rPr>
                        <a:t>TD3</a:t>
                      </a:r>
                    </a:p>
                  </a:txBody>
                  <a:tcPr marL="73152" marR="73152">
                    <a:solidFill>
                      <a:srgbClr val="FFFFFF"/>
                    </a:solidFill>
                  </a:tcPr>
                </a:tc>
              </a:tr>
              <a:tr h="339636">
                <a:tc>
                  <a:txBody>
                    <a:bodyPr/>
                    <a:lstStyle/>
                    <a:p>
                      <a:pPr algn="l"/>
                      <a:r>
                        <a:rPr sz="1200">
                          <a:solidFill>
                            <a:srgbClr val="333333"/>
                          </a:solidFill>
                          <a:latin typeface="Calibri"/>
                        </a:rPr>
                        <a:t>Training Time (s)</a:t>
                      </a:r>
                    </a:p>
                  </a:txBody>
                  <a:tcPr marL="73152" marR="73152">
                    <a:solidFill>
                      <a:srgbClr val="F5F7FA"/>
                    </a:solidFill>
                  </a:tcPr>
                </a:tc>
                <a:tc>
                  <a:txBody>
                    <a:bodyPr/>
                    <a:lstStyle/>
                    <a:p>
                      <a:pPr algn="ctr"/>
                      <a:r>
                        <a:rPr sz="1200">
                          <a:solidFill>
                            <a:srgbClr val="333333"/>
                          </a:solidFill>
                          <a:latin typeface="Calibri"/>
                        </a:rPr>
                        <a:t>74 680</a:t>
                      </a:r>
                    </a:p>
                  </a:txBody>
                  <a:tcPr marL="73152" marR="73152">
                    <a:solidFill>
                      <a:srgbClr val="F5F7FA"/>
                    </a:solidFill>
                  </a:tcPr>
                </a:tc>
                <a:tc>
                  <a:txBody>
                    <a:bodyPr/>
                    <a:lstStyle/>
                    <a:p>
                      <a:pPr algn="ctr"/>
                      <a:r>
                        <a:rPr sz="1200">
                          <a:solidFill>
                            <a:srgbClr val="333333"/>
                          </a:solidFill>
                          <a:latin typeface="Calibri"/>
                        </a:rPr>
                        <a:t>43 462</a:t>
                      </a:r>
                    </a:p>
                  </a:txBody>
                  <a:tcPr marL="73152" marR="73152">
                    <a:solidFill>
                      <a:srgbClr val="F5F7FA"/>
                    </a:solidFill>
                  </a:tcPr>
                </a:tc>
                <a:tc>
                  <a:txBody>
                    <a:bodyPr/>
                    <a:lstStyle/>
                    <a:p>
                      <a:pPr algn="ctr"/>
                      <a:r>
                        <a:rPr sz="1200">
                          <a:solidFill>
                            <a:srgbClr val="333333"/>
                          </a:solidFill>
                          <a:latin typeface="Calibri"/>
                        </a:rPr>
                        <a:t>–</a:t>
                      </a:r>
                    </a:p>
                  </a:txBody>
                  <a:tcPr marL="73152" marR="73152">
                    <a:solidFill>
                      <a:srgbClr val="F5F7FA"/>
                    </a:solidFill>
                  </a:tcPr>
                </a:tc>
              </a:tr>
            </a:tbl>
          </a:graphicData>
        </a:graphic>
      </p:graphicFrame>
      <p:sp>
        <p:nvSpPr>
          <p:cNvPr id="6" name="TextBox 5"/>
          <p:cNvSpPr txBox="1"/>
          <p:nvPr/>
        </p:nvSpPr>
        <p:spPr>
          <a:xfrm>
            <a:off x="457200" y="4114800"/>
            <a:ext cx="8229600" cy="228600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Observations</a:t>
            </a:r>
          </a:p>
          <a:p>
            <a:pPr>
              <a:lnSpc>
                <a:spcPct val="115000"/>
              </a:lnSpc>
              <a:spcAft>
                <a:spcPts val="200"/>
              </a:spcAft>
            </a:pPr>
            <a:r>
              <a:rPr sz="1300">
                <a:solidFill>
                  <a:srgbClr val="333333"/>
                </a:solidFill>
                <a:latin typeface="Calibri"/>
              </a:rPr>
              <a:t>• With less severe fading, TD3 cuts outage roughly in half compared to DDPG (0.11 vs 0.25).</a:t>
            </a:r>
          </a:p>
          <a:p>
            <a:pPr>
              <a:lnSpc>
                <a:spcPct val="115000"/>
              </a:lnSpc>
              <a:spcAft>
                <a:spcPts val="200"/>
              </a:spcAft>
            </a:pPr>
            <a:r>
              <a:rPr sz="1300">
                <a:solidFill>
                  <a:srgbClr val="333333"/>
                </a:solidFill>
                <a:latin typeface="Calibri"/>
              </a:rPr>
              <a:t>• TD3 also achieves +22 % more SU throughput and ~½ the BER.</a:t>
            </a:r>
          </a:p>
          <a:p>
            <a:pPr>
              <a:lnSpc>
                <a:spcPct val="115000"/>
              </a:lnSpc>
              <a:spcAft>
                <a:spcPts val="200"/>
              </a:spcAft>
            </a:pPr>
            <a:r>
              <a:rPr sz="1300">
                <a:solidFill>
                  <a:srgbClr val="333333"/>
                </a:solidFill>
                <a:latin typeface="Calibri"/>
              </a:rPr>
              <a:t>• DDPG again sacrifices SU performance to maintain higher PU throughput — confirms its tendency to be more conservative.</a:t>
            </a:r>
          </a:p>
          <a:p>
            <a:pPr>
              <a:lnSpc>
                <a:spcPct val="115000"/>
              </a:lnSpc>
              <a:spcAft>
                <a:spcPts val="200"/>
              </a:spcAft>
            </a:pPr>
            <a:r>
              <a:rPr sz="1300">
                <a:solidFill>
                  <a:srgbClr val="333333"/>
                </a:solidFill>
                <a:latin typeface="Calibri"/>
              </a:rPr>
              <a:t>• Note — Stick the SU-throughput-vs-episode and outage-vs-episode plots (next two slides) here for visual confirmation.</a:t>
            </a:r>
          </a:p>
        </p:txBody>
      </p:sp>
      <p:sp>
        <p:nvSpPr>
          <p:cNvPr id="7" name="TextBox 6"/>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 B — SU Throughput vs Episodes (m = 3)</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3-04.png"/>
          <p:cNvPicPr>
            <a:picLocks noChangeAspect="1"/>
          </p:cNvPicPr>
          <p:nvPr/>
        </p:nvPicPr>
        <p:blipFill>
          <a:blip r:embed="rId2"/>
          <a:stretch>
            <a:fillRect/>
          </a:stretch>
        </p:blipFill>
        <p:spPr>
          <a:xfrm>
            <a:off x="640080" y="1097280"/>
            <a:ext cx="7863840" cy="4279713"/>
          </a:xfrm>
          <a:prstGeom prst="rect">
            <a:avLst/>
          </a:prstGeom>
        </p:spPr>
      </p:pic>
      <p:sp>
        <p:nvSpPr>
          <p:cNvPr id="5" name="TextBox 4"/>
          <p:cNvSpPr txBox="1"/>
          <p:nvPr/>
        </p:nvSpPr>
        <p:spPr>
          <a:xfrm>
            <a:off x="457200" y="5349240"/>
            <a:ext cx="8229600" cy="274320"/>
          </a:xfrm>
          <a:prstGeom prst="rect">
            <a:avLst/>
          </a:prstGeom>
          <a:noFill/>
        </p:spPr>
        <p:txBody>
          <a:bodyPr wrap="none" lIns="0" rIns="0" tIns="0" bIns="0">
            <a:spAutoFit/>
          </a:bodyPr>
          <a:lstStyle/>
          <a:p>
            <a:pPr algn="ctr"/>
            <a:r>
              <a:rPr sz="1000" i="1">
                <a:solidFill>
                  <a:srgbClr val="555555"/>
                </a:solidFill>
                <a:latin typeface="Calibri"/>
              </a:rPr>
              <a:t>Figure: SU throughput in moderate Nakagami fading — TD3 stabilises near 2.07 bits/s/Hz, DDPG near 1.69 bits/s/Hz.</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600" b="1">
                <a:solidFill>
                  <a:srgbClr val="1A365D"/>
                </a:solidFill>
                <a:latin typeface="Calibri"/>
              </a:rPr>
              <a:t>Experiment B — Outage Probability vs Episodes (m = 3)</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3-06.png"/>
          <p:cNvPicPr>
            <a:picLocks noChangeAspect="1"/>
          </p:cNvPicPr>
          <p:nvPr/>
        </p:nvPicPr>
        <p:blipFill>
          <a:blip r:embed="rId2"/>
          <a:stretch>
            <a:fillRect/>
          </a:stretch>
        </p:blipFill>
        <p:spPr>
          <a:xfrm>
            <a:off x="640080" y="1097280"/>
            <a:ext cx="7863840" cy="4279713"/>
          </a:xfrm>
          <a:prstGeom prst="rect">
            <a:avLst/>
          </a:prstGeom>
        </p:spPr>
      </p:pic>
      <p:sp>
        <p:nvSpPr>
          <p:cNvPr id="5" name="TextBox 4"/>
          <p:cNvSpPr txBox="1"/>
          <p:nvPr/>
        </p:nvSpPr>
        <p:spPr>
          <a:xfrm>
            <a:off x="457200" y="5349240"/>
            <a:ext cx="8229600" cy="274320"/>
          </a:xfrm>
          <a:prstGeom prst="rect">
            <a:avLst/>
          </a:prstGeom>
          <a:noFill/>
        </p:spPr>
        <p:txBody>
          <a:bodyPr wrap="none" lIns="0" rIns="0" tIns="0" bIns="0">
            <a:spAutoFit/>
          </a:bodyPr>
          <a:lstStyle/>
          <a:p>
            <a:pPr algn="ctr"/>
            <a:r>
              <a:rPr sz="1000" i="1">
                <a:solidFill>
                  <a:srgbClr val="555555"/>
                </a:solidFill>
                <a:latin typeface="Calibri"/>
              </a:rPr>
              <a:t>Figure: Outage decay — TD3 reaches ~11 % vs DDPG ~25 %. Convergence is markedly smoother under m = 3 than m = 1.</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 B — SU SINR vs BER (m = 3)</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3-02.png"/>
          <p:cNvPicPr>
            <a:picLocks noChangeAspect="1"/>
          </p:cNvPicPr>
          <p:nvPr/>
        </p:nvPicPr>
        <p:blipFill>
          <a:blip r:embed="rId2"/>
          <a:stretch>
            <a:fillRect/>
          </a:stretch>
        </p:blipFill>
        <p:spPr>
          <a:xfrm>
            <a:off x="640080" y="1097280"/>
            <a:ext cx="7863840" cy="4677949"/>
          </a:xfrm>
          <a:prstGeom prst="rect">
            <a:avLst/>
          </a:prstGeom>
        </p:spPr>
      </p:pic>
      <p:sp>
        <p:nvSpPr>
          <p:cNvPr id="5" name="TextBox 4"/>
          <p:cNvSpPr txBox="1"/>
          <p:nvPr/>
        </p:nvSpPr>
        <p:spPr>
          <a:xfrm>
            <a:off x="457200" y="5349240"/>
            <a:ext cx="8229600" cy="274320"/>
          </a:xfrm>
          <a:prstGeom prst="rect">
            <a:avLst/>
          </a:prstGeom>
          <a:noFill/>
        </p:spPr>
        <p:txBody>
          <a:bodyPr wrap="none" lIns="0" rIns="0" tIns="0" bIns="0">
            <a:spAutoFit/>
          </a:bodyPr>
          <a:lstStyle/>
          <a:p>
            <a:pPr algn="ctr"/>
            <a:r>
              <a:rPr sz="1000" i="1">
                <a:solidFill>
                  <a:srgbClr val="555555"/>
                </a:solidFill>
                <a:latin typeface="Calibri"/>
              </a:rPr>
              <a:t>Figure: SU BER vs SINR — both agents track the Nakagami-m = 3 BPSK curve, with TD3 occupying a lower-BER region.</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 B — Reward Comparison (m = 3)</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3-10.png"/>
          <p:cNvPicPr>
            <a:picLocks noChangeAspect="1"/>
          </p:cNvPicPr>
          <p:nvPr/>
        </p:nvPicPr>
        <p:blipFill>
          <a:blip r:embed="rId2"/>
          <a:stretch>
            <a:fillRect/>
          </a:stretch>
        </p:blipFill>
        <p:spPr>
          <a:xfrm>
            <a:off x="640080" y="1097280"/>
            <a:ext cx="7863840" cy="4279713"/>
          </a:xfrm>
          <a:prstGeom prst="rect">
            <a:avLst/>
          </a:prstGeom>
        </p:spPr>
      </p:pic>
      <p:sp>
        <p:nvSpPr>
          <p:cNvPr id="5" name="TextBox 4"/>
          <p:cNvSpPr txBox="1"/>
          <p:nvPr/>
        </p:nvSpPr>
        <p:spPr>
          <a:xfrm>
            <a:off x="457200" y="5349240"/>
            <a:ext cx="8229600" cy="274320"/>
          </a:xfrm>
          <a:prstGeom prst="rect">
            <a:avLst/>
          </a:prstGeom>
          <a:noFill/>
        </p:spPr>
        <p:txBody>
          <a:bodyPr wrap="none" lIns="0" rIns="0" tIns="0" bIns="0">
            <a:spAutoFit/>
          </a:bodyPr>
          <a:lstStyle/>
          <a:p>
            <a:pPr algn="ctr"/>
            <a:r>
              <a:rPr sz="1000" i="1">
                <a:solidFill>
                  <a:srgbClr val="555555"/>
                </a:solidFill>
                <a:latin typeface="Calibri"/>
              </a:rPr>
              <a:t>Figure: Episode reward overlay — TD3 stays above DDPG throughout training; both stable after ~1 500 episodes.</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 C — 3-way Comparison (m = 3)</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36576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TD3 vs DDPG vs Proposed Algorithm — identical settings, m = 3, 1 500 episodes.</a:t>
            </a:r>
          </a:p>
        </p:txBody>
      </p:sp>
      <p:graphicFrame>
        <p:nvGraphicFramePr>
          <p:cNvPr id="5" name="Table 4"/>
          <p:cNvGraphicFramePr>
            <a:graphicFrameLocks noGrp="1"/>
          </p:cNvGraphicFramePr>
          <p:nvPr/>
        </p:nvGraphicFramePr>
        <p:xfrm>
          <a:off x="365760" y="1691640"/>
          <a:ext cx="8412480" cy="2743200"/>
        </p:xfrm>
        <a:graphic>
          <a:graphicData uri="http://schemas.openxmlformats.org/drawingml/2006/table">
            <a:tbl>
              <a:tblPr firstRow="1" bandRow="1">
                <a:tableStyleId>{5C22544A-7EE6-4342-B048-85BDC9FD1C3A}</a:tableStyleId>
              </a:tblPr>
              <a:tblGrid>
                <a:gridCol w="2468880"/>
                <a:gridCol w="1188720"/>
                <a:gridCol w="1188720"/>
                <a:gridCol w="2011680"/>
                <a:gridCol w="1554480"/>
              </a:tblGrid>
              <a:tr h="391885">
                <a:tc>
                  <a:txBody>
                    <a:bodyPr/>
                    <a:lstStyle/>
                    <a:p>
                      <a:pPr algn="l"/>
                      <a:r>
                        <a:rPr sz="1100" b="1">
                          <a:solidFill>
                            <a:srgbClr val="FFFFFF"/>
                          </a:solidFill>
                          <a:latin typeface="Calibri"/>
                        </a:rPr>
                        <a:t>Metric</a:t>
                      </a:r>
                    </a:p>
                  </a:txBody>
                  <a:tcPr marL="54864" marR="54864">
                    <a:solidFill>
                      <a:srgbClr val="1A365D"/>
                    </a:solidFill>
                  </a:tcPr>
                </a:tc>
                <a:tc>
                  <a:txBody>
                    <a:bodyPr/>
                    <a:lstStyle/>
                    <a:p>
                      <a:pPr algn="ctr"/>
                      <a:r>
                        <a:rPr sz="1100" b="1">
                          <a:solidFill>
                            <a:srgbClr val="FFFFFF"/>
                          </a:solidFill>
                          <a:latin typeface="Calibri"/>
                        </a:rPr>
                        <a:t>TD3</a:t>
                      </a:r>
                    </a:p>
                  </a:txBody>
                  <a:tcPr marL="54864" marR="54864">
                    <a:solidFill>
                      <a:srgbClr val="1A365D"/>
                    </a:solidFill>
                  </a:tcPr>
                </a:tc>
                <a:tc>
                  <a:txBody>
                    <a:bodyPr/>
                    <a:lstStyle/>
                    <a:p>
                      <a:pPr algn="ctr"/>
                      <a:r>
                        <a:rPr sz="1100" b="1">
                          <a:solidFill>
                            <a:srgbClr val="FFFFFF"/>
                          </a:solidFill>
                          <a:latin typeface="Calibri"/>
                        </a:rPr>
                        <a:t>DDPG</a:t>
                      </a:r>
                    </a:p>
                  </a:txBody>
                  <a:tcPr marL="54864" marR="54864">
                    <a:solidFill>
                      <a:srgbClr val="1A365D"/>
                    </a:solidFill>
                  </a:tcPr>
                </a:tc>
                <a:tc>
                  <a:txBody>
                    <a:bodyPr/>
                    <a:lstStyle/>
                    <a:p>
                      <a:pPr algn="ctr"/>
                      <a:r>
                        <a:rPr sz="1100" b="1">
                          <a:solidFill>
                            <a:srgbClr val="FFFFFF"/>
                          </a:solidFill>
                          <a:latin typeface="Calibri"/>
                        </a:rPr>
                        <a:t>Proposed (CAMO-TD3)</a:t>
                      </a:r>
                    </a:p>
                  </a:txBody>
                  <a:tcPr marL="54864" marR="54864">
                    <a:solidFill>
                      <a:srgbClr val="1A365D"/>
                    </a:solidFill>
                  </a:tcPr>
                </a:tc>
                <a:tc>
                  <a:txBody>
                    <a:bodyPr/>
                    <a:lstStyle/>
                    <a:p>
                      <a:pPr algn="ctr"/>
                      <a:r>
                        <a:rPr sz="1100" b="1">
                          <a:solidFill>
                            <a:srgbClr val="FFFFFF"/>
                          </a:solidFill>
                          <a:latin typeface="Calibri"/>
                        </a:rPr>
                        <a:t>Winner</a:t>
                      </a:r>
                    </a:p>
                  </a:txBody>
                  <a:tcPr marL="54864" marR="54864">
                    <a:solidFill>
                      <a:srgbClr val="1A365D"/>
                    </a:solidFill>
                  </a:tcPr>
                </a:tc>
              </a:tr>
              <a:tr h="391885">
                <a:tc>
                  <a:txBody>
                    <a:bodyPr/>
                    <a:lstStyle/>
                    <a:p>
                      <a:pPr algn="l"/>
                      <a:r>
                        <a:rPr sz="1100">
                          <a:solidFill>
                            <a:srgbClr val="333333"/>
                          </a:solidFill>
                          <a:latin typeface="Calibri"/>
                        </a:rPr>
                        <a:t>Avg Reward (last 100 ep)</a:t>
                      </a:r>
                    </a:p>
                  </a:txBody>
                  <a:tcPr marL="54864" marR="54864">
                    <a:solidFill>
                      <a:srgbClr val="FFFFFF"/>
                    </a:solidFill>
                  </a:tcPr>
                </a:tc>
                <a:tc>
                  <a:txBody>
                    <a:bodyPr/>
                    <a:lstStyle/>
                    <a:p>
                      <a:pPr algn="ctr"/>
                      <a:r>
                        <a:rPr sz="1100">
                          <a:solidFill>
                            <a:srgbClr val="333333"/>
                          </a:solidFill>
                          <a:latin typeface="Calibri"/>
                        </a:rPr>
                        <a:t>241.33</a:t>
                      </a:r>
                    </a:p>
                  </a:txBody>
                  <a:tcPr marL="54864" marR="54864">
                    <a:solidFill>
                      <a:srgbClr val="FFFFFF"/>
                    </a:solidFill>
                  </a:tcPr>
                </a:tc>
                <a:tc>
                  <a:txBody>
                    <a:bodyPr/>
                    <a:lstStyle/>
                    <a:p>
                      <a:pPr algn="ctr"/>
                      <a:r>
                        <a:rPr sz="1100">
                          <a:solidFill>
                            <a:srgbClr val="333333"/>
                          </a:solidFill>
                          <a:latin typeface="Calibri"/>
                        </a:rPr>
                        <a:t>245.46</a:t>
                      </a:r>
                    </a:p>
                  </a:txBody>
                  <a:tcPr marL="54864" marR="54864">
                    <a:solidFill>
                      <a:srgbClr val="FFFFFF"/>
                    </a:solidFill>
                  </a:tcPr>
                </a:tc>
                <a:tc>
                  <a:txBody>
                    <a:bodyPr/>
                    <a:lstStyle/>
                    <a:p>
                      <a:pPr algn="ctr"/>
                      <a:r>
                        <a:rPr sz="1100">
                          <a:solidFill>
                            <a:srgbClr val="333333"/>
                          </a:solidFill>
                          <a:latin typeface="Calibri"/>
                        </a:rPr>
                        <a:t>247.56</a:t>
                      </a:r>
                    </a:p>
                  </a:txBody>
                  <a:tcPr marL="54864" marR="54864">
                    <a:solidFill>
                      <a:srgbClr val="FFFFFF"/>
                    </a:solidFill>
                  </a:tcPr>
                </a:tc>
                <a:tc>
                  <a:txBody>
                    <a:bodyPr/>
                    <a:lstStyle/>
                    <a:p>
                      <a:pPr algn="ctr"/>
                      <a:r>
                        <a:rPr sz="1100" b="1">
                          <a:solidFill>
                            <a:srgbClr val="0B7A75"/>
                          </a:solidFill>
                          <a:latin typeface="Calibri"/>
                        </a:rPr>
                        <a:t>Proposed</a:t>
                      </a:r>
                    </a:p>
                  </a:txBody>
                  <a:tcPr marL="54864" marR="54864">
                    <a:solidFill>
                      <a:srgbClr val="FFFFFF"/>
                    </a:solidFill>
                  </a:tcPr>
                </a:tc>
              </a:tr>
              <a:tr h="391885">
                <a:tc>
                  <a:txBody>
                    <a:bodyPr/>
                    <a:lstStyle/>
                    <a:p>
                      <a:pPr algn="l"/>
                      <a:r>
                        <a:rPr sz="1100">
                          <a:solidFill>
                            <a:srgbClr val="333333"/>
                          </a:solidFill>
                          <a:latin typeface="Calibri"/>
                        </a:rPr>
                        <a:t>SU Throughput (bits/s/Hz)</a:t>
                      </a:r>
                    </a:p>
                  </a:txBody>
                  <a:tcPr marL="54864" marR="54864">
                    <a:solidFill>
                      <a:srgbClr val="F5F7FA"/>
                    </a:solidFill>
                  </a:tcPr>
                </a:tc>
                <a:tc>
                  <a:txBody>
                    <a:bodyPr/>
                    <a:lstStyle/>
                    <a:p>
                      <a:pPr algn="ctr"/>
                      <a:r>
                        <a:rPr sz="1100">
                          <a:solidFill>
                            <a:srgbClr val="333333"/>
                          </a:solidFill>
                          <a:latin typeface="Calibri"/>
                        </a:rPr>
                        <a:t>2.081</a:t>
                      </a:r>
                    </a:p>
                  </a:txBody>
                  <a:tcPr marL="54864" marR="54864">
                    <a:solidFill>
                      <a:srgbClr val="F5F7FA"/>
                    </a:solidFill>
                  </a:tcPr>
                </a:tc>
                <a:tc>
                  <a:txBody>
                    <a:bodyPr/>
                    <a:lstStyle/>
                    <a:p>
                      <a:pPr algn="ctr"/>
                      <a:r>
                        <a:rPr sz="1100">
                          <a:solidFill>
                            <a:srgbClr val="333333"/>
                          </a:solidFill>
                          <a:latin typeface="Calibri"/>
                        </a:rPr>
                        <a:t>2.103</a:t>
                      </a:r>
                    </a:p>
                  </a:txBody>
                  <a:tcPr marL="54864" marR="54864">
                    <a:solidFill>
                      <a:srgbClr val="F5F7FA"/>
                    </a:solidFill>
                  </a:tcPr>
                </a:tc>
                <a:tc>
                  <a:txBody>
                    <a:bodyPr/>
                    <a:lstStyle/>
                    <a:p>
                      <a:pPr algn="ctr"/>
                      <a:r>
                        <a:rPr sz="1100">
                          <a:solidFill>
                            <a:srgbClr val="333333"/>
                          </a:solidFill>
                          <a:latin typeface="Calibri"/>
                        </a:rPr>
                        <a:t>2.100</a:t>
                      </a:r>
                    </a:p>
                  </a:txBody>
                  <a:tcPr marL="54864" marR="54864">
                    <a:solidFill>
                      <a:srgbClr val="F5F7FA"/>
                    </a:solidFill>
                  </a:tcPr>
                </a:tc>
                <a:tc>
                  <a:txBody>
                    <a:bodyPr/>
                    <a:lstStyle/>
                    <a:p>
                      <a:pPr algn="ctr"/>
                      <a:r>
                        <a:rPr sz="1100" b="1">
                          <a:solidFill>
                            <a:srgbClr val="0B7A75"/>
                          </a:solidFill>
                          <a:latin typeface="Calibri"/>
                        </a:rPr>
                        <a:t>DDPG / Proposed</a:t>
                      </a:r>
                    </a:p>
                  </a:txBody>
                  <a:tcPr marL="54864" marR="54864">
                    <a:solidFill>
                      <a:srgbClr val="F5F7FA"/>
                    </a:solidFill>
                  </a:tcPr>
                </a:tc>
              </a:tr>
              <a:tr h="391885">
                <a:tc>
                  <a:txBody>
                    <a:bodyPr/>
                    <a:lstStyle/>
                    <a:p>
                      <a:pPr algn="l"/>
                      <a:r>
                        <a:rPr sz="1100">
                          <a:solidFill>
                            <a:srgbClr val="333333"/>
                          </a:solidFill>
                          <a:latin typeface="Calibri"/>
                        </a:rPr>
                        <a:t>PU Throughput (bits/s/Hz)</a:t>
                      </a:r>
                    </a:p>
                  </a:txBody>
                  <a:tcPr marL="54864" marR="54864">
                    <a:solidFill>
                      <a:srgbClr val="FFFFFF"/>
                    </a:solidFill>
                  </a:tcPr>
                </a:tc>
                <a:tc>
                  <a:txBody>
                    <a:bodyPr/>
                    <a:lstStyle/>
                    <a:p>
                      <a:pPr algn="ctr"/>
                      <a:r>
                        <a:rPr sz="1100">
                          <a:solidFill>
                            <a:srgbClr val="333333"/>
                          </a:solidFill>
                          <a:latin typeface="Calibri"/>
                        </a:rPr>
                        <a:t>0.519</a:t>
                      </a:r>
                    </a:p>
                  </a:txBody>
                  <a:tcPr marL="54864" marR="54864">
                    <a:solidFill>
                      <a:srgbClr val="FFFFFF"/>
                    </a:solidFill>
                  </a:tcPr>
                </a:tc>
                <a:tc>
                  <a:txBody>
                    <a:bodyPr/>
                    <a:lstStyle/>
                    <a:p>
                      <a:pPr algn="ctr"/>
                      <a:r>
                        <a:rPr sz="1100">
                          <a:solidFill>
                            <a:srgbClr val="333333"/>
                          </a:solidFill>
                          <a:latin typeface="Calibri"/>
                        </a:rPr>
                        <a:t>0.516</a:t>
                      </a:r>
                    </a:p>
                  </a:txBody>
                  <a:tcPr marL="54864" marR="54864">
                    <a:solidFill>
                      <a:srgbClr val="FFFFFF"/>
                    </a:solidFill>
                  </a:tcPr>
                </a:tc>
                <a:tc>
                  <a:txBody>
                    <a:bodyPr/>
                    <a:lstStyle/>
                    <a:p>
                      <a:pPr algn="ctr"/>
                      <a:r>
                        <a:rPr sz="1100">
                          <a:solidFill>
                            <a:srgbClr val="333333"/>
                          </a:solidFill>
                          <a:latin typeface="Calibri"/>
                        </a:rPr>
                        <a:t>0.529</a:t>
                      </a:r>
                    </a:p>
                  </a:txBody>
                  <a:tcPr marL="54864" marR="54864">
                    <a:solidFill>
                      <a:srgbClr val="FFFFFF"/>
                    </a:solidFill>
                  </a:tcPr>
                </a:tc>
                <a:tc>
                  <a:txBody>
                    <a:bodyPr/>
                    <a:lstStyle/>
                    <a:p>
                      <a:pPr algn="ctr"/>
                      <a:r>
                        <a:rPr sz="1100" b="1">
                          <a:solidFill>
                            <a:srgbClr val="0B7A75"/>
                          </a:solidFill>
                          <a:latin typeface="Calibri"/>
                        </a:rPr>
                        <a:t>Proposed</a:t>
                      </a:r>
                    </a:p>
                  </a:txBody>
                  <a:tcPr marL="54864" marR="54864">
                    <a:solidFill>
                      <a:srgbClr val="FFFFFF"/>
                    </a:solidFill>
                  </a:tcPr>
                </a:tc>
              </a:tr>
              <a:tr h="391885">
                <a:tc>
                  <a:txBody>
                    <a:bodyPr/>
                    <a:lstStyle/>
                    <a:p>
                      <a:pPr algn="l"/>
                      <a:r>
                        <a:rPr sz="1100">
                          <a:solidFill>
                            <a:srgbClr val="333333"/>
                          </a:solidFill>
                          <a:latin typeface="Calibri"/>
                        </a:rPr>
                        <a:t>Outage Probability</a:t>
                      </a:r>
                    </a:p>
                  </a:txBody>
                  <a:tcPr marL="54864" marR="54864">
                    <a:solidFill>
                      <a:srgbClr val="F5F7FA"/>
                    </a:solidFill>
                  </a:tcPr>
                </a:tc>
                <a:tc>
                  <a:txBody>
                    <a:bodyPr/>
                    <a:lstStyle/>
                    <a:p>
                      <a:pPr algn="ctr"/>
                      <a:r>
                        <a:rPr sz="1100">
                          <a:solidFill>
                            <a:srgbClr val="333333"/>
                          </a:solidFill>
                          <a:latin typeface="Calibri"/>
                        </a:rPr>
                        <a:t>0.107</a:t>
                      </a:r>
                    </a:p>
                  </a:txBody>
                  <a:tcPr marL="54864" marR="54864">
                    <a:solidFill>
                      <a:srgbClr val="F5F7FA"/>
                    </a:solidFill>
                  </a:tcPr>
                </a:tc>
                <a:tc>
                  <a:txBody>
                    <a:bodyPr/>
                    <a:lstStyle/>
                    <a:p>
                      <a:pPr algn="ctr"/>
                      <a:r>
                        <a:rPr sz="1100">
                          <a:solidFill>
                            <a:srgbClr val="333333"/>
                          </a:solidFill>
                          <a:latin typeface="Calibri"/>
                        </a:rPr>
                        <a:t>0.104</a:t>
                      </a:r>
                    </a:p>
                  </a:txBody>
                  <a:tcPr marL="54864" marR="54864">
                    <a:solidFill>
                      <a:srgbClr val="F5F7FA"/>
                    </a:solidFill>
                  </a:tcPr>
                </a:tc>
                <a:tc>
                  <a:txBody>
                    <a:bodyPr/>
                    <a:lstStyle/>
                    <a:p>
                      <a:pPr algn="ctr"/>
                      <a:r>
                        <a:rPr sz="1100">
                          <a:solidFill>
                            <a:srgbClr val="333333"/>
                          </a:solidFill>
                          <a:latin typeface="Calibri"/>
                        </a:rPr>
                        <a:t>0.104</a:t>
                      </a:r>
                    </a:p>
                  </a:txBody>
                  <a:tcPr marL="54864" marR="54864">
                    <a:solidFill>
                      <a:srgbClr val="F5F7FA"/>
                    </a:solidFill>
                  </a:tcPr>
                </a:tc>
                <a:tc>
                  <a:txBody>
                    <a:bodyPr/>
                    <a:lstStyle/>
                    <a:p>
                      <a:pPr algn="ctr"/>
                      <a:r>
                        <a:rPr sz="1100" b="1">
                          <a:solidFill>
                            <a:srgbClr val="0B7A75"/>
                          </a:solidFill>
                          <a:latin typeface="Calibri"/>
                        </a:rPr>
                        <a:t>DDPG / Proposed</a:t>
                      </a:r>
                    </a:p>
                  </a:txBody>
                  <a:tcPr marL="54864" marR="54864">
                    <a:solidFill>
                      <a:srgbClr val="F5F7FA"/>
                    </a:solidFill>
                  </a:tcPr>
                </a:tc>
              </a:tr>
              <a:tr h="391885">
                <a:tc>
                  <a:txBody>
                    <a:bodyPr/>
                    <a:lstStyle/>
                    <a:p>
                      <a:pPr algn="l"/>
                      <a:r>
                        <a:rPr sz="1100">
                          <a:solidFill>
                            <a:srgbClr val="333333"/>
                          </a:solidFill>
                          <a:latin typeface="Calibri"/>
                        </a:rPr>
                        <a:t>Average BER</a:t>
                      </a:r>
                    </a:p>
                  </a:txBody>
                  <a:tcPr marL="54864" marR="54864">
                    <a:solidFill>
                      <a:srgbClr val="FFFFFF"/>
                    </a:solidFill>
                  </a:tcPr>
                </a:tc>
                <a:tc>
                  <a:txBody>
                    <a:bodyPr/>
                    <a:lstStyle/>
                    <a:p>
                      <a:pPr algn="ctr"/>
                      <a:r>
                        <a:rPr sz="1100">
                          <a:solidFill>
                            <a:srgbClr val="333333"/>
                          </a:solidFill>
                          <a:latin typeface="Calibri"/>
                        </a:rPr>
                        <a:t>0.0270</a:t>
                      </a:r>
                    </a:p>
                  </a:txBody>
                  <a:tcPr marL="54864" marR="54864">
                    <a:solidFill>
                      <a:srgbClr val="FFFFFF"/>
                    </a:solidFill>
                  </a:tcPr>
                </a:tc>
                <a:tc>
                  <a:txBody>
                    <a:bodyPr/>
                    <a:lstStyle/>
                    <a:p>
                      <a:pPr algn="ctr"/>
                      <a:r>
                        <a:rPr sz="1100">
                          <a:solidFill>
                            <a:srgbClr val="333333"/>
                          </a:solidFill>
                          <a:latin typeface="Calibri"/>
                        </a:rPr>
                        <a:t>0.0263</a:t>
                      </a:r>
                    </a:p>
                  </a:txBody>
                  <a:tcPr marL="54864" marR="54864">
                    <a:solidFill>
                      <a:srgbClr val="FFFFFF"/>
                    </a:solidFill>
                  </a:tcPr>
                </a:tc>
                <a:tc>
                  <a:txBody>
                    <a:bodyPr/>
                    <a:lstStyle/>
                    <a:p>
                      <a:pPr algn="ctr"/>
                      <a:r>
                        <a:rPr sz="1100">
                          <a:solidFill>
                            <a:srgbClr val="333333"/>
                          </a:solidFill>
                          <a:latin typeface="Calibri"/>
                        </a:rPr>
                        <a:t>0.0264</a:t>
                      </a:r>
                    </a:p>
                  </a:txBody>
                  <a:tcPr marL="54864" marR="54864">
                    <a:solidFill>
                      <a:srgbClr val="FFFFFF"/>
                    </a:solidFill>
                  </a:tcPr>
                </a:tc>
                <a:tc>
                  <a:txBody>
                    <a:bodyPr/>
                    <a:lstStyle/>
                    <a:p>
                      <a:pPr algn="ctr"/>
                      <a:r>
                        <a:rPr sz="1100" b="1">
                          <a:solidFill>
                            <a:srgbClr val="0B7A75"/>
                          </a:solidFill>
                          <a:latin typeface="Calibri"/>
                        </a:rPr>
                        <a:t>DDPG / Proposed</a:t>
                      </a:r>
                    </a:p>
                  </a:txBody>
                  <a:tcPr marL="54864" marR="54864">
                    <a:solidFill>
                      <a:srgbClr val="FFFFFF"/>
                    </a:solidFill>
                  </a:tcPr>
                </a:tc>
              </a:tr>
              <a:tr h="391890">
                <a:tc>
                  <a:txBody>
                    <a:bodyPr/>
                    <a:lstStyle/>
                    <a:p>
                      <a:pPr algn="l"/>
                      <a:r>
                        <a:rPr sz="1100">
                          <a:solidFill>
                            <a:srgbClr val="333333"/>
                          </a:solidFill>
                          <a:latin typeface="Calibri"/>
                        </a:rPr>
                        <a:t>Training Time (s)</a:t>
                      </a:r>
                    </a:p>
                  </a:txBody>
                  <a:tcPr marL="54864" marR="54864">
                    <a:solidFill>
                      <a:srgbClr val="F5F7FA"/>
                    </a:solidFill>
                  </a:tcPr>
                </a:tc>
                <a:tc>
                  <a:txBody>
                    <a:bodyPr/>
                    <a:lstStyle/>
                    <a:p>
                      <a:pPr algn="ctr"/>
                      <a:r>
                        <a:rPr sz="1100">
                          <a:solidFill>
                            <a:srgbClr val="333333"/>
                          </a:solidFill>
                          <a:latin typeface="Calibri"/>
                        </a:rPr>
                        <a:t>5 487</a:t>
                      </a:r>
                    </a:p>
                  </a:txBody>
                  <a:tcPr marL="54864" marR="54864">
                    <a:solidFill>
                      <a:srgbClr val="F5F7FA"/>
                    </a:solidFill>
                  </a:tcPr>
                </a:tc>
                <a:tc>
                  <a:txBody>
                    <a:bodyPr/>
                    <a:lstStyle/>
                    <a:p>
                      <a:pPr algn="ctr"/>
                      <a:r>
                        <a:rPr sz="1100">
                          <a:solidFill>
                            <a:srgbClr val="333333"/>
                          </a:solidFill>
                          <a:latin typeface="Calibri"/>
                        </a:rPr>
                        <a:t>5 214</a:t>
                      </a:r>
                    </a:p>
                  </a:txBody>
                  <a:tcPr marL="54864" marR="54864">
                    <a:solidFill>
                      <a:srgbClr val="F5F7FA"/>
                    </a:solidFill>
                  </a:tcPr>
                </a:tc>
                <a:tc>
                  <a:txBody>
                    <a:bodyPr/>
                    <a:lstStyle/>
                    <a:p>
                      <a:pPr algn="ctr"/>
                      <a:r>
                        <a:rPr sz="1100">
                          <a:solidFill>
                            <a:srgbClr val="333333"/>
                          </a:solidFill>
                          <a:latin typeface="Calibri"/>
                        </a:rPr>
                        <a:t>44 387</a:t>
                      </a:r>
                    </a:p>
                  </a:txBody>
                  <a:tcPr marL="54864" marR="54864">
                    <a:solidFill>
                      <a:srgbClr val="F5F7FA"/>
                    </a:solidFill>
                  </a:tcPr>
                </a:tc>
                <a:tc>
                  <a:txBody>
                    <a:bodyPr/>
                    <a:lstStyle/>
                    <a:p>
                      <a:pPr algn="ctr"/>
                      <a:r>
                        <a:rPr sz="1100">
                          <a:solidFill>
                            <a:srgbClr val="333333"/>
                          </a:solidFill>
                          <a:latin typeface="Calibri"/>
                        </a:rPr>
                        <a:t>–</a:t>
                      </a:r>
                    </a:p>
                  </a:txBody>
                  <a:tcPr marL="54864" marR="54864">
                    <a:solidFill>
                      <a:srgbClr val="F5F7FA"/>
                    </a:solidFill>
                  </a:tcPr>
                </a:tc>
              </a:tr>
            </a:tbl>
          </a:graphicData>
        </a:graphic>
      </p:graphicFrame>
      <p:sp>
        <p:nvSpPr>
          <p:cNvPr id="6" name="TextBox 5"/>
          <p:cNvSpPr txBox="1"/>
          <p:nvPr/>
        </p:nvSpPr>
        <p:spPr>
          <a:xfrm>
            <a:off x="457200" y="4434840"/>
            <a:ext cx="8229600" cy="20116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Observations</a:t>
            </a:r>
          </a:p>
          <a:p>
            <a:pPr>
              <a:lnSpc>
                <a:spcPct val="115000"/>
              </a:lnSpc>
              <a:spcAft>
                <a:spcPts val="200"/>
              </a:spcAft>
            </a:pPr>
            <a:r>
              <a:rPr sz="1300">
                <a:solidFill>
                  <a:srgbClr val="333333"/>
                </a:solidFill>
                <a:latin typeface="Calibri"/>
              </a:rPr>
              <a:t>• The Proposed Algorithm wins on average reward and PU throughput, and ties with DDPG on outage / BER / SU throughput — while doing so without any manual weight tuning.</a:t>
            </a:r>
          </a:p>
          <a:p>
            <a:pPr>
              <a:lnSpc>
                <a:spcPct val="115000"/>
              </a:lnSpc>
              <a:spcAft>
                <a:spcPts val="200"/>
              </a:spcAft>
            </a:pPr>
            <a:r>
              <a:rPr sz="1300">
                <a:solidFill>
                  <a:srgbClr val="333333"/>
                </a:solidFill>
                <a:latin typeface="Calibri"/>
              </a:rPr>
              <a:t>• Crucially, the Proposed Algorithm gives the highest PU throughput at the same outage level, indicating safer interference behaviour at equal SU performance.</a:t>
            </a:r>
          </a:p>
          <a:p>
            <a:pPr>
              <a:lnSpc>
                <a:spcPct val="115000"/>
              </a:lnSpc>
              <a:spcAft>
                <a:spcPts val="200"/>
              </a:spcAft>
            </a:pPr>
            <a:r>
              <a:rPr sz="1300">
                <a:solidFill>
                  <a:srgbClr val="333333"/>
                </a:solidFill>
                <a:latin typeface="Calibri"/>
              </a:rPr>
              <a:t>• Training time is ~8× longer than TD3 / DDPG due to 6 critics + GRU + Lagrangian updates — expected trade-off.</a:t>
            </a:r>
          </a:p>
          <a:p>
            <a:pPr>
              <a:lnSpc>
                <a:spcPct val="115000"/>
              </a:lnSpc>
              <a:spcAft>
                <a:spcPts val="200"/>
              </a:spcAft>
            </a:pPr>
            <a:r>
              <a:rPr sz="1300">
                <a:solidFill>
                  <a:srgbClr val="333333"/>
                </a:solidFill>
                <a:latin typeface="Calibri"/>
              </a:rPr>
              <a:t>• Note — Stick the 3-way SU-throughput and reward-comparison graphs (next two slides).</a:t>
            </a:r>
          </a:p>
        </p:txBody>
      </p:sp>
      <p:sp>
        <p:nvSpPr>
          <p:cNvPr id="7" name="TextBox 6"/>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 C — 3-way SU Throughput (m = 3)</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3way-4.png"/>
          <p:cNvPicPr>
            <a:picLocks noChangeAspect="1"/>
          </p:cNvPicPr>
          <p:nvPr/>
        </p:nvPicPr>
        <p:blipFill>
          <a:blip r:embed="rId2"/>
          <a:stretch>
            <a:fillRect/>
          </a:stretch>
        </p:blipFill>
        <p:spPr>
          <a:xfrm>
            <a:off x="640080" y="1097280"/>
            <a:ext cx="7863840" cy="4279713"/>
          </a:xfrm>
          <a:prstGeom prst="rect">
            <a:avLst/>
          </a:prstGeom>
        </p:spPr>
      </p:pic>
      <p:sp>
        <p:nvSpPr>
          <p:cNvPr id="5" name="TextBox 4"/>
          <p:cNvSpPr txBox="1"/>
          <p:nvPr/>
        </p:nvSpPr>
        <p:spPr>
          <a:xfrm>
            <a:off x="457200" y="5349240"/>
            <a:ext cx="8229600" cy="274320"/>
          </a:xfrm>
          <a:prstGeom prst="rect">
            <a:avLst/>
          </a:prstGeom>
          <a:noFill/>
        </p:spPr>
        <p:txBody>
          <a:bodyPr wrap="none" lIns="0" rIns="0" tIns="0" bIns="0">
            <a:spAutoFit/>
          </a:bodyPr>
          <a:lstStyle/>
          <a:p>
            <a:pPr algn="ctr"/>
            <a:r>
              <a:rPr sz="1000" i="1">
                <a:solidFill>
                  <a:srgbClr val="555555"/>
                </a:solidFill>
                <a:latin typeface="Calibri"/>
              </a:rPr>
              <a:t>Figure: SU throughput across episodes for TD3 / DDPG / Proposed Algorithm — the Proposed Algorithm matches or beats both baselines throughout training.</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 C — 3-way Outage Probability (m = 3)</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3way-6.png"/>
          <p:cNvPicPr>
            <a:picLocks noChangeAspect="1"/>
          </p:cNvPicPr>
          <p:nvPr/>
        </p:nvPicPr>
        <p:blipFill>
          <a:blip r:embed="rId2"/>
          <a:stretch>
            <a:fillRect/>
          </a:stretch>
        </p:blipFill>
        <p:spPr>
          <a:xfrm>
            <a:off x="640080" y="1097280"/>
            <a:ext cx="7863840" cy="4279713"/>
          </a:xfrm>
          <a:prstGeom prst="rect">
            <a:avLst/>
          </a:prstGeom>
        </p:spPr>
      </p:pic>
      <p:sp>
        <p:nvSpPr>
          <p:cNvPr id="5" name="TextBox 4"/>
          <p:cNvSpPr txBox="1"/>
          <p:nvPr/>
        </p:nvSpPr>
        <p:spPr>
          <a:xfrm>
            <a:off x="457200" y="5349240"/>
            <a:ext cx="8229600" cy="274320"/>
          </a:xfrm>
          <a:prstGeom prst="rect">
            <a:avLst/>
          </a:prstGeom>
          <a:noFill/>
        </p:spPr>
        <p:txBody>
          <a:bodyPr wrap="none" lIns="0" rIns="0" tIns="0" bIns="0">
            <a:spAutoFit/>
          </a:bodyPr>
          <a:lstStyle/>
          <a:p>
            <a:pPr algn="ctr"/>
            <a:r>
              <a:rPr sz="1000" i="1">
                <a:solidFill>
                  <a:srgbClr val="555555"/>
                </a:solidFill>
                <a:latin typeface="Calibri"/>
              </a:rPr>
              <a:t>Figure: Outage probability — Proposed Algorithm stays tightly grouped with DDPG, both below TD3 in the early episodes (faster constraint satisfaction).</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 C — 3-way Reward Comparison (m = 3)</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3way-8.png"/>
          <p:cNvPicPr>
            <a:picLocks noChangeAspect="1"/>
          </p:cNvPicPr>
          <p:nvPr/>
        </p:nvPicPr>
        <p:blipFill>
          <a:blip r:embed="rId2"/>
          <a:stretch>
            <a:fillRect/>
          </a:stretch>
        </p:blipFill>
        <p:spPr>
          <a:xfrm>
            <a:off x="640080" y="1097280"/>
            <a:ext cx="7863840" cy="4279713"/>
          </a:xfrm>
          <a:prstGeom prst="rect">
            <a:avLst/>
          </a:prstGeom>
        </p:spPr>
      </p:pic>
      <p:sp>
        <p:nvSpPr>
          <p:cNvPr id="5" name="TextBox 4"/>
          <p:cNvSpPr txBox="1"/>
          <p:nvPr/>
        </p:nvSpPr>
        <p:spPr>
          <a:xfrm>
            <a:off x="457200" y="5349240"/>
            <a:ext cx="8229600" cy="274320"/>
          </a:xfrm>
          <a:prstGeom prst="rect">
            <a:avLst/>
          </a:prstGeom>
          <a:noFill/>
        </p:spPr>
        <p:txBody>
          <a:bodyPr wrap="none" lIns="0" rIns="0" tIns="0" bIns="0">
            <a:spAutoFit/>
          </a:bodyPr>
          <a:lstStyle/>
          <a:p>
            <a:pPr algn="ctr"/>
            <a:r>
              <a:rPr sz="1000" i="1">
                <a:solidFill>
                  <a:srgbClr val="555555"/>
                </a:solidFill>
                <a:latin typeface="Calibri"/>
              </a:rPr>
              <a:t>Figure: Episode reward overlay — Proposed Algorithm achieves the highest final average reward (~247.6).</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600" b="1">
                <a:solidFill>
                  <a:srgbClr val="1A365D"/>
                </a:solidFill>
                <a:latin typeface="Calibri"/>
              </a:rPr>
              <a:t>Experiment D — Long-run Stability (10 000 ep, m = 3)</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mp10k-4.png"/>
          <p:cNvPicPr>
            <a:picLocks noChangeAspect="1"/>
          </p:cNvPicPr>
          <p:nvPr/>
        </p:nvPicPr>
        <p:blipFill>
          <a:blip r:embed="rId2"/>
          <a:stretch>
            <a:fillRect/>
          </a:stretch>
        </p:blipFill>
        <p:spPr>
          <a:xfrm>
            <a:off x="640080" y="1097280"/>
            <a:ext cx="7863840" cy="4279713"/>
          </a:xfrm>
          <a:prstGeom prst="rect">
            <a:avLst/>
          </a:prstGeom>
        </p:spPr>
      </p:pic>
      <p:sp>
        <p:nvSpPr>
          <p:cNvPr id="5" name="TextBox 4"/>
          <p:cNvSpPr txBox="1"/>
          <p:nvPr/>
        </p:nvSpPr>
        <p:spPr>
          <a:xfrm>
            <a:off x="457200" y="5349240"/>
            <a:ext cx="8229600" cy="274320"/>
          </a:xfrm>
          <a:prstGeom prst="rect">
            <a:avLst/>
          </a:prstGeom>
          <a:noFill/>
        </p:spPr>
        <p:txBody>
          <a:bodyPr wrap="none" lIns="0" rIns="0" tIns="0" bIns="0">
            <a:spAutoFit/>
          </a:bodyPr>
          <a:lstStyle/>
          <a:p>
            <a:pPr algn="ctr"/>
            <a:r>
              <a:rPr sz="1000" i="1">
                <a:solidFill>
                  <a:srgbClr val="555555"/>
                </a:solidFill>
                <a:latin typeface="Calibri"/>
              </a:rPr>
              <a:t>Figure: SU throughput over a 10 000-episode run — both TD3 and DDPG remain stable; no policy collapse observed.</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 D — 10 000-ep Outage Probability</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mp10k-6.png"/>
          <p:cNvPicPr>
            <a:picLocks noChangeAspect="1"/>
          </p:cNvPicPr>
          <p:nvPr/>
        </p:nvPicPr>
        <p:blipFill>
          <a:blip r:embed="rId2"/>
          <a:stretch>
            <a:fillRect/>
          </a:stretch>
        </p:blipFill>
        <p:spPr>
          <a:xfrm>
            <a:off x="640080" y="1097280"/>
            <a:ext cx="7863840" cy="4279713"/>
          </a:xfrm>
          <a:prstGeom prst="rect">
            <a:avLst/>
          </a:prstGeom>
        </p:spPr>
      </p:pic>
      <p:sp>
        <p:nvSpPr>
          <p:cNvPr id="5" name="TextBox 4"/>
          <p:cNvSpPr txBox="1"/>
          <p:nvPr/>
        </p:nvSpPr>
        <p:spPr>
          <a:xfrm>
            <a:off x="457200" y="5349240"/>
            <a:ext cx="8229600" cy="274320"/>
          </a:xfrm>
          <a:prstGeom prst="rect">
            <a:avLst/>
          </a:prstGeom>
          <a:noFill/>
        </p:spPr>
        <p:txBody>
          <a:bodyPr wrap="none" lIns="0" rIns="0" tIns="0" bIns="0">
            <a:spAutoFit/>
          </a:bodyPr>
          <a:lstStyle/>
          <a:p>
            <a:pPr algn="ctr"/>
            <a:r>
              <a:rPr sz="1000" i="1">
                <a:solidFill>
                  <a:srgbClr val="555555"/>
                </a:solidFill>
                <a:latin typeface="Calibri"/>
              </a:rPr>
              <a:t>Figure: Outage settles around 10 % for both — confirms reproducibility of the m = 3 results from Experiment B.</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Discussion of Results</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Headline Findings</a:t>
            </a:r>
          </a:p>
          <a:p>
            <a:pPr>
              <a:lnSpc>
                <a:spcPct val="115000"/>
              </a:lnSpc>
              <a:spcAft>
                <a:spcPts val="200"/>
              </a:spcAft>
            </a:pPr>
            <a:r>
              <a:rPr sz="1300">
                <a:solidFill>
                  <a:srgbClr val="333333"/>
                </a:solidFill>
                <a:latin typeface="Calibri"/>
              </a:rPr>
              <a:t>• DDPG → TD3 → Proposed Algorithm gives a clear, monotonic improvement in average reward and constraint adherence.</a:t>
            </a:r>
          </a:p>
          <a:p>
            <a:pPr>
              <a:lnSpc>
                <a:spcPct val="115000"/>
              </a:lnSpc>
              <a:spcAft>
                <a:spcPts val="200"/>
              </a:spcAft>
            </a:pPr>
            <a:r>
              <a:rPr sz="1300">
                <a:solidFill>
                  <a:srgbClr val="333333"/>
                </a:solidFill>
                <a:latin typeface="Calibri"/>
              </a:rPr>
              <a:t>• TD3's twin-critic + delayed update gives 17–22 % higher SU throughput than DDPG with concurrent reduction in outage.</a:t>
            </a:r>
          </a:p>
          <a:p>
            <a:pPr>
              <a:lnSpc>
                <a:spcPct val="115000"/>
              </a:lnSpc>
              <a:spcAft>
                <a:spcPts val="200"/>
              </a:spcAft>
            </a:pPr>
            <a:r>
              <a:rPr sz="1300">
                <a:solidFill>
                  <a:srgbClr val="333333"/>
                </a:solidFill>
                <a:latin typeface="Calibri"/>
              </a:rPr>
              <a:t>• The Proposed Algorithm achieves the best average reward and best PU throughput at equal outage / BER — without any manual weight tuning.</a:t>
            </a:r>
          </a:p>
          <a:p>
            <a:pPr>
              <a:lnSpc>
                <a:spcPct val="115000"/>
              </a:lnSpc>
              <a:spcBef>
                <a:spcPts val="400"/>
              </a:spcBef>
              <a:spcAft>
                <a:spcPts val="200"/>
              </a:spcAft>
            </a:pPr>
            <a:r>
              <a:rPr sz="1400" b="1">
                <a:solidFill>
                  <a:srgbClr val="2C5F8D"/>
                </a:solidFill>
                <a:latin typeface="Calibri"/>
              </a:rPr>
              <a:t>Effect of Fading Severity</a:t>
            </a:r>
          </a:p>
          <a:p>
            <a:pPr>
              <a:lnSpc>
                <a:spcPct val="115000"/>
              </a:lnSpc>
              <a:spcAft>
                <a:spcPts val="200"/>
              </a:spcAft>
            </a:pPr>
            <a:r>
              <a:rPr sz="1300">
                <a:solidFill>
                  <a:srgbClr val="333333"/>
                </a:solidFill>
                <a:latin typeface="Calibri"/>
              </a:rPr>
              <a:t>• m = 1 (Rayleigh) is hard for all agents — outage hovers in the 25–32 % range; SU is bandwidth-limited by deep fades, not by the agent's intelligence.</a:t>
            </a:r>
          </a:p>
          <a:p>
            <a:pPr>
              <a:lnSpc>
                <a:spcPct val="115000"/>
              </a:lnSpc>
              <a:spcAft>
                <a:spcPts val="200"/>
              </a:spcAft>
            </a:pPr>
            <a:r>
              <a:rPr sz="1300">
                <a:solidFill>
                  <a:srgbClr val="333333"/>
                </a:solidFill>
                <a:latin typeface="Calibri"/>
              </a:rPr>
              <a:t>• m = 3 (moderate) gives the agents room to actually exploit good states — outage drops below 12 % for TD3 / Proposed.</a:t>
            </a:r>
          </a:p>
          <a:p>
            <a:pPr>
              <a:lnSpc>
                <a:spcPct val="115000"/>
              </a:lnSpc>
              <a:spcBef>
                <a:spcPts val="400"/>
              </a:spcBef>
              <a:spcAft>
                <a:spcPts val="200"/>
              </a:spcAft>
            </a:pPr>
            <a:r>
              <a:rPr sz="1400" b="1">
                <a:solidFill>
                  <a:srgbClr val="2C5F8D"/>
                </a:solidFill>
                <a:latin typeface="Calibri"/>
              </a:rPr>
              <a:t>Cost Side</a:t>
            </a:r>
          </a:p>
          <a:p>
            <a:pPr>
              <a:lnSpc>
                <a:spcPct val="115000"/>
              </a:lnSpc>
              <a:spcAft>
                <a:spcPts val="200"/>
              </a:spcAft>
            </a:pPr>
            <a:r>
              <a:rPr sz="1300">
                <a:solidFill>
                  <a:srgbClr val="333333"/>
                </a:solidFill>
                <a:latin typeface="Calibri"/>
              </a:rPr>
              <a:t>• The Proposed Algorithm needs ~8× longer training due to 6 critics + GRU + Lagrangian updates.</a:t>
            </a:r>
          </a:p>
          <a:p>
            <a:pPr>
              <a:lnSpc>
                <a:spcPct val="115000"/>
              </a:lnSpc>
              <a:spcAft>
                <a:spcPts val="200"/>
              </a:spcAft>
            </a:pPr>
            <a:r>
              <a:rPr sz="1300">
                <a:solidFill>
                  <a:srgbClr val="333333"/>
                </a:solidFill>
                <a:latin typeface="Calibri"/>
              </a:rPr>
              <a:t>• Inference cost is unchanged — only training scales up.</a:t>
            </a:r>
          </a:p>
          <a:p>
            <a:pPr>
              <a:lnSpc>
                <a:spcPct val="115000"/>
              </a:lnSpc>
              <a:spcAft>
                <a:spcPts val="200"/>
              </a:spcAft>
            </a:pPr>
            <a:r>
              <a:rPr sz="1300">
                <a:solidFill>
                  <a:srgbClr val="333333"/>
                </a:solidFill>
                <a:latin typeface="Calibri"/>
              </a:rPr>
              <a:t>• It also adds extra hyper-parameters (λ inits, MU_BIAS, SEQ_LEN, BELIEF_DIM) — partly offset by removing α / β / γ_e.</a:t>
            </a:r>
          </a:p>
          <a:p>
            <a:pPr>
              <a:lnSpc>
                <a:spcPct val="115000"/>
              </a:lnSpc>
              <a:spcBef>
                <a:spcPts val="400"/>
              </a:spcBef>
              <a:spcAft>
                <a:spcPts val="200"/>
              </a:spcAft>
            </a:pPr>
            <a:r>
              <a:rPr sz="1400" b="1">
                <a:solidFill>
                  <a:srgbClr val="2C5F8D"/>
                </a:solidFill>
                <a:latin typeface="Calibri"/>
              </a:rPr>
              <a:t>Sources of Residual Outage</a:t>
            </a:r>
          </a:p>
          <a:p>
            <a:pPr>
              <a:lnSpc>
                <a:spcPct val="115000"/>
              </a:lnSpc>
              <a:spcAft>
                <a:spcPts val="200"/>
              </a:spcAft>
            </a:pPr>
            <a:r>
              <a:rPr sz="1300">
                <a:solidFill>
                  <a:srgbClr val="333333"/>
                </a:solidFill>
                <a:latin typeface="Calibri"/>
              </a:rPr>
              <a:t>• Block fading is i.i.d. per step — no temporal smoothing helps when |h_pp|² collapses suddenly to ε.</a:t>
            </a:r>
          </a:p>
          <a:p>
            <a:pPr>
              <a:lnSpc>
                <a:spcPct val="115000"/>
              </a:lnSpc>
              <a:spcAft>
                <a:spcPts val="200"/>
              </a:spcAft>
            </a:pPr>
            <a:r>
              <a:rPr sz="1300">
                <a:solidFill>
                  <a:srgbClr val="333333"/>
                </a:solidFill>
                <a:latin typeface="Calibri"/>
              </a:rPr>
              <a:t>• Adding correlated fading or path-loss models would let the agent anticipate fades.</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0"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0" y="2377440"/>
            <a:ext cx="5760720" cy="1097280"/>
          </a:xfrm>
          <a:prstGeom prst="rect">
            <a:avLst/>
          </a:prstGeom>
          <a:noFill/>
        </p:spPr>
        <p:txBody>
          <a:bodyPr wrap="square">
            <a:spAutoFit/>
          </a:bodyPr>
          <a:lstStyle/>
          <a:p>
            <a:r>
              <a:rPr sz="3600" b="1">
                <a:solidFill>
                  <a:srgbClr val="1A365D"/>
                </a:solidFill>
                <a:latin typeface="Calibri"/>
              </a:rPr>
              <a:t>Conclusion &amp; Future Work</a:t>
            </a:r>
          </a:p>
        </p:txBody>
      </p:sp>
      <p:sp>
        <p:nvSpPr>
          <p:cNvPr id="4" name="Rectangle 3"/>
          <p:cNvSpPr/>
          <p:nvPr/>
        </p:nvSpPr>
        <p:spPr>
          <a:xfrm>
            <a:off x="2788920" y="2377440"/>
            <a:ext cx="73152" cy="137160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365760"/>
            <a:ext cx="2286000" cy="457200"/>
          </a:xfrm>
          <a:prstGeom prst="rect">
            <a:avLst/>
          </a:prstGeom>
          <a:noFill/>
        </p:spPr>
        <p:txBody>
          <a:bodyPr wrap="none">
            <a:spAutoFit/>
          </a:bodyPr>
          <a:lstStyle/>
          <a:p>
            <a:r>
              <a:rPr sz="1100" i="1">
                <a:solidFill>
                  <a:srgbClr val="FFFFFF"/>
                </a:solidFill>
                <a:latin typeface="Calibri"/>
              </a:rPr>
              <a:t>SECTION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Conclusion</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Summary of Contributions</a:t>
            </a:r>
          </a:p>
          <a:p>
            <a:pPr>
              <a:lnSpc>
                <a:spcPct val="115000"/>
              </a:lnSpc>
              <a:spcAft>
                <a:spcPts val="200"/>
              </a:spcAft>
            </a:pPr>
            <a:r>
              <a:rPr sz="1300">
                <a:solidFill>
                  <a:srgbClr val="333333"/>
                </a:solidFill>
                <a:latin typeface="Calibri"/>
              </a:rPr>
              <a:t>• Built a complete deep-RL pipeline for underlay CRN power allocation under Nakagami-m fading.</a:t>
            </a:r>
          </a:p>
          <a:p>
            <a:pPr>
              <a:lnSpc>
                <a:spcPct val="115000"/>
              </a:lnSpc>
              <a:spcAft>
                <a:spcPts val="200"/>
              </a:spcAft>
            </a:pPr>
            <a:r>
              <a:rPr sz="1300">
                <a:solidFill>
                  <a:srgbClr val="333333"/>
                </a:solidFill>
                <a:latin typeface="Calibri"/>
              </a:rPr>
              <a:t>• Implemented and benchmarked DDPG and TD3 as baselines; quantified the gains of TD3's twin-critic + delayed-update tricks (≈ +20 % SU throughput, ≈ −12 pp outage at m = 3).</a:t>
            </a:r>
          </a:p>
          <a:p>
            <a:pPr>
              <a:lnSpc>
                <a:spcPct val="115000"/>
              </a:lnSpc>
              <a:spcAft>
                <a:spcPts val="200"/>
              </a:spcAft>
            </a:pPr>
            <a:r>
              <a:rPr sz="1300">
                <a:solidFill>
                  <a:srgbClr val="333333"/>
                </a:solidFill>
                <a:latin typeface="Calibri"/>
              </a:rPr>
              <a:t>• Designed and trained the Proposed Algorithm (CAMO-TD3) integrating four targeted innovations — GRU belief encoder, decomposed multi-objective critics, adaptive Lagrangian weights, and directional exploration noise.</a:t>
            </a:r>
          </a:p>
          <a:p>
            <a:pPr>
              <a:lnSpc>
                <a:spcPct val="115000"/>
              </a:lnSpc>
              <a:spcAft>
                <a:spcPts val="200"/>
              </a:spcAft>
            </a:pPr>
            <a:r>
              <a:rPr sz="1300">
                <a:solidFill>
                  <a:srgbClr val="333333"/>
                </a:solidFill>
                <a:latin typeface="Calibri"/>
              </a:rPr>
              <a:t>• Demonstrated that the Proposed Algorithm matches the best baseline on throughput while improving PU protection — and without any manual weight tuning.</a:t>
            </a:r>
          </a:p>
          <a:p>
            <a:pPr>
              <a:lnSpc>
                <a:spcPct val="115000"/>
              </a:lnSpc>
              <a:spcBef>
                <a:spcPts val="400"/>
              </a:spcBef>
              <a:spcAft>
                <a:spcPts val="200"/>
              </a:spcAft>
            </a:pPr>
            <a:r>
              <a:rPr sz="1400" b="1">
                <a:solidFill>
                  <a:srgbClr val="2C5F8D"/>
                </a:solidFill>
                <a:latin typeface="Calibri"/>
              </a:rPr>
              <a:t>Key Take-aways</a:t>
            </a:r>
          </a:p>
          <a:p>
            <a:pPr>
              <a:lnSpc>
                <a:spcPct val="115000"/>
              </a:lnSpc>
              <a:spcAft>
                <a:spcPts val="200"/>
              </a:spcAft>
            </a:pPr>
            <a:r>
              <a:rPr sz="1300" b="1">
                <a:solidFill>
                  <a:srgbClr val="1A365D"/>
                </a:solidFill>
                <a:latin typeface="Calibri"/>
              </a:rPr>
              <a:t>• Algorithmic :</a:t>
            </a:r>
            <a:r>
              <a:rPr sz="1300">
                <a:solidFill>
                  <a:srgbClr val="333333"/>
                </a:solidFill>
                <a:latin typeface="Calibri"/>
              </a:rPr>
              <a:t> primal-dual / Lagrangian methods give a principled way to handle the multi-objective CRN problem.</a:t>
            </a:r>
          </a:p>
          <a:p>
            <a:pPr>
              <a:lnSpc>
                <a:spcPct val="115000"/>
              </a:lnSpc>
              <a:spcAft>
                <a:spcPts val="200"/>
              </a:spcAft>
            </a:pPr>
            <a:r>
              <a:rPr sz="1300" b="1">
                <a:solidFill>
                  <a:srgbClr val="1A365D"/>
                </a:solidFill>
                <a:latin typeface="Calibri"/>
              </a:rPr>
              <a:t>• Engineering :</a:t>
            </a:r>
            <a:r>
              <a:rPr sz="1300">
                <a:solidFill>
                  <a:srgbClr val="333333"/>
                </a:solidFill>
                <a:latin typeface="Calibri"/>
              </a:rPr>
              <a:t> unified, single-source-of-truth config + automated PDF reporting makes large-scale RL experiments reproducible.</a:t>
            </a:r>
          </a:p>
          <a:p>
            <a:pPr>
              <a:lnSpc>
                <a:spcPct val="115000"/>
              </a:lnSpc>
              <a:spcAft>
                <a:spcPts val="200"/>
              </a:spcAft>
            </a:pPr>
            <a:r>
              <a:rPr sz="1300" b="1">
                <a:solidFill>
                  <a:srgbClr val="1A365D"/>
                </a:solidFill>
                <a:latin typeface="Calibri"/>
              </a:rPr>
              <a:t>• Empirical :</a:t>
            </a:r>
            <a:r>
              <a:rPr sz="1300">
                <a:solidFill>
                  <a:srgbClr val="333333"/>
                </a:solidFill>
                <a:latin typeface="Calibri"/>
              </a:rPr>
              <a:t> the constraint-aware design pays off most where it matters — in low-SNR / high-fading regimes.</a:t>
            </a:r>
          </a:p>
          <a:p>
            <a:pPr>
              <a:lnSpc>
                <a:spcPct val="115000"/>
              </a:lnSpc>
              <a:spcAft>
                <a:spcPts val="200"/>
              </a:spcAft>
            </a:pPr>
            <a:r>
              <a:rPr sz="1300" b="1">
                <a:solidFill>
                  <a:srgbClr val="1A365D"/>
                </a:solidFill>
                <a:latin typeface="Calibri"/>
              </a:rPr>
              <a:t>• Practical :</a:t>
            </a:r>
            <a:r>
              <a:rPr sz="1300">
                <a:solidFill>
                  <a:srgbClr val="333333"/>
                </a:solidFill>
                <a:latin typeface="Calibri"/>
              </a:rPr>
              <a:t> a real-time React + WebSocket dashboard makes the RL training process observable for demos and debugging.</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Future Work</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Algorithmic Extensions</a:t>
            </a:r>
          </a:p>
          <a:p>
            <a:pPr>
              <a:lnSpc>
                <a:spcPct val="115000"/>
              </a:lnSpc>
              <a:spcAft>
                <a:spcPts val="200"/>
              </a:spcAft>
            </a:pPr>
            <a:r>
              <a:rPr sz="1300">
                <a:solidFill>
                  <a:srgbClr val="333333"/>
                </a:solidFill>
                <a:latin typeface="Calibri"/>
              </a:rPr>
              <a:t>• Multi-SU scaling — extend the environment to multiple SU pairs with inter-SU interference (multi-agent RL, MARL).</a:t>
            </a:r>
          </a:p>
          <a:p>
            <a:pPr>
              <a:lnSpc>
                <a:spcPct val="115000"/>
              </a:lnSpc>
              <a:spcAft>
                <a:spcPts val="200"/>
              </a:spcAft>
            </a:pPr>
            <a:r>
              <a:rPr sz="1300">
                <a:solidFill>
                  <a:srgbClr val="333333"/>
                </a:solidFill>
                <a:latin typeface="Calibri"/>
              </a:rPr>
              <a:t>• Add Soft Actor-Critic (SAC) as a stochastic-policy baseline for entropy-regularised exploration.</a:t>
            </a:r>
          </a:p>
          <a:p>
            <a:pPr>
              <a:lnSpc>
                <a:spcPct val="115000"/>
              </a:lnSpc>
              <a:spcAft>
                <a:spcPts val="200"/>
              </a:spcAft>
            </a:pPr>
            <a:r>
              <a:rPr sz="1300">
                <a:solidFill>
                  <a:srgbClr val="333333"/>
                </a:solidFill>
                <a:latin typeface="Calibri"/>
              </a:rPr>
              <a:t>• Replace uniform sampling with prioritised experience replay for faster convergence.</a:t>
            </a:r>
          </a:p>
          <a:p>
            <a:pPr>
              <a:lnSpc>
                <a:spcPct val="115000"/>
              </a:lnSpc>
              <a:spcAft>
                <a:spcPts val="200"/>
              </a:spcAft>
            </a:pPr>
            <a:r>
              <a:rPr sz="1300">
                <a:solidFill>
                  <a:srgbClr val="333333"/>
                </a:solidFill>
                <a:latin typeface="Calibri"/>
              </a:rPr>
              <a:t>• Transfer learning — pre-train on one m and fine-tune on another.</a:t>
            </a:r>
          </a:p>
          <a:p>
            <a:pPr>
              <a:lnSpc>
                <a:spcPct val="115000"/>
              </a:lnSpc>
              <a:spcBef>
                <a:spcPts val="400"/>
              </a:spcBef>
              <a:spcAft>
                <a:spcPts val="200"/>
              </a:spcAft>
            </a:pPr>
            <a:r>
              <a:rPr sz="1400" b="1">
                <a:solidFill>
                  <a:srgbClr val="2C5F8D"/>
                </a:solidFill>
                <a:latin typeface="Calibri"/>
              </a:rPr>
              <a:t>System-Model Extensions</a:t>
            </a:r>
          </a:p>
          <a:p>
            <a:pPr>
              <a:lnSpc>
                <a:spcPct val="115000"/>
              </a:lnSpc>
              <a:spcAft>
                <a:spcPts val="200"/>
              </a:spcAft>
            </a:pPr>
            <a:r>
              <a:rPr sz="1300">
                <a:solidFill>
                  <a:srgbClr val="333333"/>
                </a:solidFill>
                <a:latin typeface="Calibri"/>
              </a:rPr>
              <a:t>• Add path-loss and node mobility for realism.</a:t>
            </a:r>
          </a:p>
          <a:p>
            <a:pPr>
              <a:lnSpc>
                <a:spcPct val="115000"/>
              </a:lnSpc>
              <a:spcAft>
                <a:spcPts val="200"/>
              </a:spcAft>
            </a:pPr>
            <a:r>
              <a:rPr sz="1300">
                <a:solidFill>
                  <a:srgbClr val="333333"/>
                </a:solidFill>
                <a:latin typeface="Calibri"/>
              </a:rPr>
              <a:t>• OFDM extension — per-subcarrier power allocation.</a:t>
            </a:r>
          </a:p>
          <a:p>
            <a:pPr>
              <a:lnSpc>
                <a:spcPct val="115000"/>
              </a:lnSpc>
              <a:spcAft>
                <a:spcPts val="200"/>
              </a:spcAft>
            </a:pPr>
            <a:r>
              <a:rPr sz="1300">
                <a:solidFill>
                  <a:srgbClr val="333333"/>
                </a:solidFill>
                <a:latin typeface="Calibri"/>
              </a:rPr>
              <a:t>• Imperfect / partial CSI study — quantify policy robustness under estimation noise.</a:t>
            </a:r>
          </a:p>
          <a:p>
            <a:pPr>
              <a:lnSpc>
                <a:spcPct val="115000"/>
              </a:lnSpc>
              <a:spcAft>
                <a:spcPts val="200"/>
              </a:spcAft>
            </a:pPr>
            <a:r>
              <a:rPr sz="1300">
                <a:solidFill>
                  <a:srgbClr val="333333"/>
                </a:solidFill>
                <a:latin typeface="Calibri"/>
              </a:rPr>
              <a:t>• Spectrum-sensing integration — couple RL power control with energy / cyclostationary detection.</a:t>
            </a:r>
          </a:p>
          <a:p>
            <a:pPr>
              <a:lnSpc>
                <a:spcPct val="115000"/>
              </a:lnSpc>
              <a:spcBef>
                <a:spcPts val="400"/>
              </a:spcBef>
              <a:spcAft>
                <a:spcPts val="200"/>
              </a:spcAft>
            </a:pPr>
            <a:r>
              <a:rPr sz="1400" b="1">
                <a:solidFill>
                  <a:srgbClr val="2C5F8D"/>
                </a:solidFill>
                <a:latin typeface="Calibri"/>
              </a:rPr>
              <a:t>Engineering</a:t>
            </a:r>
          </a:p>
          <a:p>
            <a:pPr>
              <a:lnSpc>
                <a:spcPct val="115000"/>
              </a:lnSpc>
              <a:spcAft>
                <a:spcPts val="200"/>
              </a:spcAft>
            </a:pPr>
            <a:r>
              <a:rPr sz="1300">
                <a:solidFill>
                  <a:srgbClr val="333333"/>
                </a:solidFill>
                <a:latin typeface="Calibri"/>
              </a:rPr>
              <a:t>• Docker containerisation for reproducible cloud deployment.</a:t>
            </a:r>
          </a:p>
          <a:p>
            <a:pPr>
              <a:lnSpc>
                <a:spcPct val="115000"/>
              </a:lnSpc>
              <a:spcAft>
                <a:spcPts val="200"/>
              </a:spcAft>
            </a:pPr>
            <a:r>
              <a:rPr sz="1300">
                <a:solidFill>
                  <a:srgbClr val="333333"/>
                </a:solidFill>
                <a:latin typeface="Calibri"/>
              </a:rPr>
              <a:t>• Hyper-parameter optimisation via Optuna / Bayesian search.</a:t>
            </a:r>
          </a:p>
          <a:p>
            <a:pPr>
              <a:lnSpc>
                <a:spcPct val="115000"/>
              </a:lnSpc>
              <a:spcAft>
                <a:spcPts val="200"/>
              </a:spcAft>
            </a:pPr>
            <a:r>
              <a:rPr sz="1300">
                <a:solidFill>
                  <a:srgbClr val="333333"/>
                </a:solidFill>
                <a:latin typeface="Calibri"/>
              </a:rPr>
              <a:t>• Extend the dashboard to compare multiple algorithms live, side-by-side.</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References</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512064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 S. Haykin, "Cognitive Radio: Brain-Empowered Wireless Communications," IEEE J. Sel. Areas Commun., vol. 23, no. 2, pp. 201–220, Feb. 2005.</a:t>
            </a:r>
          </a:p>
          <a:p>
            <a:pPr>
              <a:lnSpc>
                <a:spcPct val="115000"/>
              </a:lnSpc>
              <a:spcAft>
                <a:spcPts val="200"/>
              </a:spcAft>
            </a:pPr>
            <a:r>
              <a:rPr sz="1300">
                <a:solidFill>
                  <a:srgbClr val="333333"/>
                </a:solidFill>
                <a:latin typeface="Calibri"/>
              </a:rPr>
              <a:t>• FCC, "Spectrum Policy Task Force Report," ET Docket No. 02-135, Nov. 2002.</a:t>
            </a:r>
          </a:p>
          <a:p>
            <a:pPr>
              <a:lnSpc>
                <a:spcPct val="115000"/>
              </a:lnSpc>
              <a:spcAft>
                <a:spcPts val="200"/>
              </a:spcAft>
            </a:pPr>
            <a:r>
              <a:rPr sz="1300">
                <a:solidFill>
                  <a:srgbClr val="333333"/>
                </a:solidFill>
                <a:latin typeface="Calibri"/>
              </a:rPr>
              <a:t>• J. Mitola III and G. Q. Maguire, "Cognitive Radio: Making Software Radios More Personal," IEEE Pers. Commun., vol. 6, no. 4, pp. 13–18, Aug. 1999.</a:t>
            </a:r>
          </a:p>
          <a:p>
            <a:pPr>
              <a:lnSpc>
                <a:spcPct val="115000"/>
              </a:lnSpc>
              <a:spcAft>
                <a:spcPts val="200"/>
              </a:spcAft>
            </a:pPr>
            <a:r>
              <a:rPr sz="1300">
                <a:solidFill>
                  <a:srgbClr val="333333"/>
                </a:solidFill>
                <a:latin typeface="Calibri"/>
              </a:rPr>
              <a:t>• A. Goldsmith, S. A. Jafar, I. Maric and S. Srinivasa, "Breaking Spectrum Gridlock with Cognitive Radios: An Information-Theoretic Perspective," Proc. IEEE, vol. 97, no. 5, pp. 894–914, May 2009. (underlay / overlay / interweave)</a:t>
            </a:r>
          </a:p>
          <a:p>
            <a:pPr>
              <a:lnSpc>
                <a:spcPct val="115000"/>
              </a:lnSpc>
              <a:spcAft>
                <a:spcPts val="200"/>
              </a:spcAft>
            </a:pPr>
            <a:r>
              <a:rPr sz="1300">
                <a:solidFill>
                  <a:srgbClr val="333333"/>
                </a:solidFill>
                <a:latin typeface="Calibri"/>
              </a:rPr>
              <a:t>• S. Fujimoto, H. van Hoof and D. Meger, "Addressing Function Approximation Error in Actor-Critic Methods (TD3)," ICML, 2018. arXiv:1802.09477.</a:t>
            </a:r>
          </a:p>
          <a:p>
            <a:pPr>
              <a:lnSpc>
                <a:spcPct val="115000"/>
              </a:lnSpc>
              <a:spcAft>
                <a:spcPts val="200"/>
              </a:spcAft>
            </a:pPr>
            <a:r>
              <a:rPr sz="1300">
                <a:solidFill>
                  <a:srgbClr val="333333"/>
                </a:solidFill>
                <a:latin typeface="Calibri"/>
              </a:rPr>
              <a:t>• T. P. Lillicrap et al., "Continuous Control with Deep Reinforcement Learning (DDPG)," ICLR, 2016. arXiv:1509.02971.</a:t>
            </a:r>
          </a:p>
          <a:p>
            <a:pPr>
              <a:lnSpc>
                <a:spcPct val="115000"/>
              </a:lnSpc>
              <a:spcAft>
                <a:spcPts val="200"/>
              </a:spcAft>
            </a:pPr>
            <a:r>
              <a:rPr sz="1300">
                <a:solidFill>
                  <a:srgbClr val="333333"/>
                </a:solidFill>
                <a:latin typeface="Calibri"/>
              </a:rPr>
              <a:t>• J. Achiam, D. Held, A. Tamar and P. Abbeel, "Constrained Policy Optimization," ICML, 2017.</a:t>
            </a:r>
          </a:p>
          <a:p>
            <a:pPr>
              <a:lnSpc>
                <a:spcPct val="115000"/>
              </a:lnSpc>
              <a:spcAft>
                <a:spcPts val="200"/>
              </a:spcAft>
            </a:pPr>
            <a:r>
              <a:rPr sz="1300">
                <a:solidFill>
                  <a:srgbClr val="333333"/>
                </a:solidFill>
                <a:latin typeface="Calibri"/>
              </a:rPr>
              <a:t>• A. Ray, J. Achiam and D. Amodei, "Benchmarking Safe Exploration in Deep Reinforcement Learning," arXiv:1910.01708, 2019.</a:t>
            </a:r>
          </a:p>
          <a:p>
            <a:pPr>
              <a:lnSpc>
                <a:spcPct val="115000"/>
              </a:lnSpc>
              <a:spcAft>
                <a:spcPts val="200"/>
              </a:spcAft>
            </a:pPr>
            <a:r>
              <a:rPr sz="1300">
                <a:solidFill>
                  <a:srgbClr val="333333"/>
                </a:solidFill>
                <a:latin typeface="Calibri"/>
              </a:rPr>
              <a:t>• E. Altman, Constrained Markov Decision Processes, Chapman &amp; Hall / CRC, 1999.</a:t>
            </a:r>
          </a:p>
          <a:p>
            <a:pPr>
              <a:lnSpc>
                <a:spcPct val="115000"/>
              </a:lnSpc>
              <a:spcAft>
                <a:spcPts val="200"/>
              </a:spcAft>
            </a:pPr>
            <a:r>
              <a:rPr sz="1300">
                <a:solidFill>
                  <a:srgbClr val="333333"/>
                </a:solidFill>
                <a:latin typeface="Calibri"/>
              </a:rPr>
              <a:t>• M. K. Simon and M.-S. Alouini, Digital Communication over Fading Channels, 2nd ed., Wiley, 2005.</a:t>
            </a:r>
          </a:p>
          <a:p>
            <a:pPr>
              <a:lnSpc>
                <a:spcPct val="115000"/>
              </a:lnSpc>
              <a:spcAft>
                <a:spcPts val="200"/>
              </a:spcAft>
            </a:pPr>
            <a:r>
              <a:rPr sz="1300">
                <a:solidFill>
                  <a:srgbClr val="333333"/>
                </a:solidFill>
                <a:latin typeface="Calibri"/>
              </a:rPr>
              <a:t>• K. Cho et al., "Learning Phrase Representations using RNN Encoder–Decoder (GRU)," EMNLP, 2014.</a:t>
            </a:r>
          </a:p>
          <a:p>
            <a:pPr>
              <a:lnSpc>
                <a:spcPct val="115000"/>
              </a:lnSpc>
              <a:spcAft>
                <a:spcPts val="200"/>
              </a:spcAft>
            </a:pPr>
            <a:r>
              <a:rPr sz="1300">
                <a:solidFill>
                  <a:srgbClr val="333333"/>
                </a:solidFill>
                <a:latin typeface="Calibri"/>
              </a:rPr>
              <a:t>• J. García and F. Fernández, "A Comprehensive Survey on Safe Reinforcement Learning," JMLR, vol. 16, pp. 1437–1480, 2015.</a:t>
            </a:r>
          </a:p>
          <a:p>
            <a:pPr>
              <a:lnSpc>
                <a:spcPct val="115000"/>
              </a:lnSpc>
              <a:spcAft>
                <a:spcPts val="200"/>
              </a:spcAft>
            </a:pPr>
            <a:r>
              <a:rPr sz="1300">
                <a:solidFill>
                  <a:srgbClr val="333333"/>
                </a:solidFill>
                <a:latin typeface="Calibri"/>
              </a:rPr>
              <a:t>• S. Boyd and L. Vandenberghe, Convex Optimization, Cambridge University Press, 2004 (Ch. 5 — Duality).</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0"/>
            <a:ext cx="8229600" cy="1371600"/>
          </a:xfrm>
          <a:prstGeom prst="rect">
            <a:avLst/>
          </a:prstGeom>
          <a:noFill/>
        </p:spPr>
        <p:txBody>
          <a:bodyPr wrap="none">
            <a:spAutoFit/>
          </a:bodyPr>
          <a:lstStyle/>
          <a:p>
            <a:pPr algn="ctr"/>
            <a:r>
              <a:rPr sz="5400" b="1">
                <a:solidFill>
                  <a:srgbClr val="FFFFFF"/>
                </a:solidFill>
                <a:latin typeface="Calibri"/>
              </a:rPr>
              <a:t>Thank You</a:t>
            </a:r>
          </a:p>
        </p:txBody>
      </p:sp>
      <p:sp>
        <p:nvSpPr>
          <p:cNvPr id="4" name="TextBox 3"/>
          <p:cNvSpPr txBox="1"/>
          <p:nvPr/>
        </p:nvSpPr>
        <p:spPr>
          <a:xfrm>
            <a:off x="457200" y="3931920"/>
            <a:ext cx="8229600" cy="548640"/>
          </a:xfrm>
          <a:prstGeom prst="rect">
            <a:avLst/>
          </a:prstGeom>
          <a:noFill/>
        </p:spPr>
        <p:txBody>
          <a:bodyPr wrap="none">
            <a:spAutoFit/>
          </a:bodyPr>
          <a:lstStyle/>
          <a:p>
            <a:pPr algn="ctr"/>
            <a:r>
              <a:rPr sz="2000" i="1">
                <a:solidFill>
                  <a:srgbClr val="CADCFC"/>
                </a:solidFill>
                <a:latin typeface="Calibri"/>
              </a:rPr>
              <a:t>Questions and Suggestions Welcome</a:t>
            </a:r>
          </a:p>
        </p:txBody>
      </p:sp>
      <p:sp>
        <p:nvSpPr>
          <p:cNvPr id="5" name="TextBox 4"/>
          <p:cNvSpPr txBox="1"/>
          <p:nvPr/>
        </p:nvSpPr>
        <p:spPr>
          <a:xfrm>
            <a:off x="457200" y="5029200"/>
            <a:ext cx="8229600" cy="548640"/>
          </a:xfrm>
          <a:prstGeom prst="rect">
            <a:avLst/>
          </a:prstGeom>
          <a:noFill/>
        </p:spPr>
        <p:txBody>
          <a:bodyPr wrap="none">
            <a:spAutoFit/>
          </a:bodyPr>
          <a:lstStyle/>
          <a:p>
            <a:pPr algn="ctr"/>
            <a:r>
              <a:rPr sz="1300">
                <a:solidFill>
                  <a:srgbClr val="CADCFC"/>
                </a:solidFill>
                <a:latin typeface="Calibri"/>
              </a:rPr>
              <a:t>Department of Electronics and Communication Engineering, Ramaiah Institute of Technology, Bangalore</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2021-03-17T09:28:26Z</dcterms:created>
  <dc:creator>admin</dc:creator>
</cp:coreProperties>
</file>